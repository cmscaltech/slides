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7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8D4F20-9B33-4C30-822C-547626779D6C}" type="datetimeFigureOut">
              <a:rPr lang="en-GB" smtClean="0"/>
              <a:t>12/10/2016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63D88-A0D6-4F25-A035-890F1FAE56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19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441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057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225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571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899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828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315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311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49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785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544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262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475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3347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0921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740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3161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23F6C4-6BD9-4BC1-A96E-5F5B12088C6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891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F4796-6FBB-458E-886F-FEB5B2D75106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AD38-6104-405B-8BD4-B9CB71A34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46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F4796-6FBB-458E-886F-FEB5B2D75106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AD38-6104-405B-8BD4-B9CB71A34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058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F4796-6FBB-458E-886F-FEB5B2D75106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AD38-6104-405B-8BD4-B9CB71A34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880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F4796-6FBB-458E-886F-FEB5B2D75106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AD38-6104-405B-8BD4-B9CB71A34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2746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F4796-6FBB-458E-886F-FEB5B2D75106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AD38-6104-405B-8BD4-B9CB71A34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2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F4796-6FBB-458E-886F-FEB5B2D75106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AD38-6104-405B-8BD4-B9CB71A34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7441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F4796-6FBB-458E-886F-FEB5B2D75106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AD38-6104-405B-8BD4-B9CB71A34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550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F4796-6FBB-458E-886F-FEB5B2D75106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AD38-6104-405B-8BD4-B9CB71A34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23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F4796-6FBB-458E-886F-FEB5B2D75106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AD38-6104-405B-8BD4-B9CB71A34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7907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F4796-6FBB-458E-886F-FEB5B2D75106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AD38-6104-405B-8BD4-B9CB71A34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721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F4796-6FBB-458E-886F-FEB5B2D75106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9AD38-6104-405B-8BD4-B9CB71A34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26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F4796-6FBB-458E-886F-FEB5B2D75106}" type="datetimeFigureOut">
              <a:rPr lang="en-GB" smtClean="0"/>
              <a:t>11/10/2016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9AD38-6104-405B-8BD4-B9CB71A340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79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045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en-GB" sz="40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Any Data, Any Time, Anywhere</a:t>
            </a:r>
            <a:endParaRPr lang="en-GB" sz="40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6" name="Straight Connector 5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0421" y="6442908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90" y="872292"/>
            <a:ext cx="7555329" cy="34662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0420" y="4174294"/>
            <a:ext cx="751329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AAA data </a:t>
            </a:r>
            <a:r>
              <a:rPr lang="en-GB" b="1" dirty="0" smtClean="0"/>
              <a:t>federation</a:t>
            </a:r>
            <a:r>
              <a:rPr lang="en-GB" dirty="0" smtClean="0"/>
              <a:t> based </a:t>
            </a:r>
            <a:r>
              <a:rPr lang="en-GB" dirty="0"/>
              <a:t>on </a:t>
            </a:r>
            <a:r>
              <a:rPr lang="en-GB" dirty="0" err="1" smtClean="0"/>
              <a:t>XRootD</a:t>
            </a:r>
            <a:r>
              <a:rPr lang="en-GB" dirty="0" smtClean="0"/>
              <a:t>, </a:t>
            </a:r>
            <a:r>
              <a:rPr lang="en-GB" dirty="0"/>
              <a:t>this system provides uniform remote data access to all of CMS’s on-disk </a:t>
            </a:r>
            <a:r>
              <a:rPr lang="en-GB" dirty="0" smtClean="0"/>
              <a:t>data.</a:t>
            </a:r>
          </a:p>
          <a:p>
            <a:r>
              <a:rPr lang="en-GB" b="1" dirty="0" smtClean="0"/>
              <a:t>Workflow </a:t>
            </a:r>
            <a:r>
              <a:rPr lang="en-GB" b="1" dirty="0"/>
              <a:t>management software: </a:t>
            </a:r>
            <a:r>
              <a:rPr lang="en-GB" dirty="0" err="1" smtClean="0"/>
              <a:t>HTCondor</a:t>
            </a:r>
            <a:r>
              <a:rPr lang="en-GB" dirty="0" smtClean="0"/>
              <a:t> and </a:t>
            </a:r>
            <a:r>
              <a:rPr lang="en-GB" dirty="0" err="1"/>
              <a:t>glideinWMS</a:t>
            </a:r>
            <a:r>
              <a:rPr lang="en-GB" dirty="0"/>
              <a:t> provides computing resource </a:t>
            </a:r>
            <a:r>
              <a:rPr lang="en-GB" dirty="0" smtClean="0"/>
              <a:t>provisioning.</a:t>
            </a:r>
          </a:p>
          <a:p>
            <a:r>
              <a:rPr lang="en-GB" b="1" dirty="0" smtClean="0"/>
              <a:t>Global </a:t>
            </a:r>
            <a:r>
              <a:rPr lang="en-GB" b="1" dirty="0"/>
              <a:t>file systems: </a:t>
            </a:r>
            <a:r>
              <a:rPr lang="en-GB" dirty="0"/>
              <a:t>To distribute CMS software, we utilize </a:t>
            </a:r>
            <a:r>
              <a:rPr lang="en-GB" dirty="0" err="1"/>
              <a:t>CernVM</a:t>
            </a:r>
            <a:r>
              <a:rPr lang="en-GB" dirty="0"/>
              <a:t> File System (CVMFS</a:t>
            </a:r>
            <a:r>
              <a:rPr lang="en-GB" dirty="0" smtClean="0"/>
              <a:t>) </a:t>
            </a:r>
            <a:r>
              <a:rPr lang="en-GB" dirty="0"/>
              <a:t>and have integrated it with </a:t>
            </a:r>
            <a:r>
              <a:rPr lang="en-GB" dirty="0" smtClean="0"/>
              <a:t>Parrot to </a:t>
            </a:r>
            <a:r>
              <a:rPr lang="en-GB" dirty="0"/>
              <a:t>emulate it on hosts where it is otherwise unavailable.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050" y="872292"/>
            <a:ext cx="4588949" cy="28506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050" y="3652244"/>
            <a:ext cx="4588949" cy="2785650"/>
          </a:xfrm>
          <a:prstGeom prst="rect">
            <a:avLst/>
          </a:prstGeom>
        </p:spPr>
      </p:pic>
      <p:pic>
        <p:nvPicPr>
          <p:cNvPr id="1026" name="Picture 2" descr="Image result for cms log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36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en-GB" sz="40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Distributed Data Analysis in CMS (CRAB2)</a:t>
            </a:r>
            <a:endParaRPr lang="en-GB" sz="40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6" name="Straight Connector 5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0421" y="6442908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2272" y="888875"/>
            <a:ext cx="5543475" cy="55554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0420" y="862264"/>
            <a:ext cx="639185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Use Case: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+1000 individual user/month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+100 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+20k concurrent jobs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Typically 1 output/job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Files vary in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+200k completed jobs/day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Chaotic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Minimal latencies</a:t>
            </a:r>
          </a:p>
          <a:p>
            <a:endParaRPr lang="en-GB" sz="1400" dirty="0" smtClean="0"/>
          </a:p>
          <a:p>
            <a:r>
              <a:rPr lang="en-GB" sz="1400" dirty="0" smtClean="0"/>
              <a:t>Problems of CRAB2: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25-30% the jobs fail and about 30-50% </a:t>
            </a:r>
            <a:r>
              <a:rPr lang="en-GB" sz="1400" dirty="0" smtClean="0"/>
              <a:t>of the </a:t>
            </a:r>
            <a:r>
              <a:rPr lang="en-GB" sz="1400" dirty="0"/>
              <a:t>failures are due to the remote </a:t>
            </a:r>
            <a:r>
              <a:rPr lang="en-GB" sz="1400" dirty="0" smtClean="0"/>
              <a:t>stage-out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Between </a:t>
            </a:r>
            <a:r>
              <a:rPr lang="en-GB" sz="1400" dirty="0"/>
              <a:t>10-15% of analysis jobs fail in </a:t>
            </a:r>
            <a:r>
              <a:rPr lang="en-GB" sz="1400" dirty="0" smtClean="0"/>
              <a:t>the remote </a:t>
            </a:r>
            <a:r>
              <a:rPr lang="en-GB" sz="1400" dirty="0"/>
              <a:t>copy of </a:t>
            </a:r>
            <a:r>
              <a:rPr lang="en-GB" sz="1400" dirty="0" smtClean="0"/>
              <a:t>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 </a:t>
            </a:r>
            <a:r>
              <a:rPr lang="en-GB" sz="1400" dirty="0"/>
              <a:t>the overall CPU loss is even higher than 10-15</a:t>
            </a:r>
            <a:r>
              <a:rPr lang="en-GB" sz="1400" dirty="0" smtClean="0"/>
              <a:t>% since </a:t>
            </a:r>
            <a:r>
              <a:rPr lang="en-GB" sz="1400" dirty="0"/>
              <a:t>those jobs fail at the end </a:t>
            </a:r>
            <a:r>
              <a:rPr lang="en-GB" sz="1400" dirty="0" smtClean="0"/>
              <a:t>of the processing after </a:t>
            </a:r>
            <a:r>
              <a:rPr lang="en-GB" sz="1400" dirty="0"/>
              <a:t>multiple </a:t>
            </a:r>
            <a:r>
              <a:rPr lang="en-GB" sz="1400" dirty="0" smtClean="0"/>
              <a:t>retries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 smtClean="0"/>
              <a:t>often </a:t>
            </a:r>
            <a:r>
              <a:rPr lang="en-GB" sz="1400" dirty="0"/>
              <a:t>it results in DDoS to CMS Tier-2 </a:t>
            </a:r>
            <a:r>
              <a:rPr lang="en-GB" sz="1400" dirty="0" smtClean="0"/>
              <a:t>storage systems</a:t>
            </a:r>
            <a:endParaRPr lang="en-GB" sz="1400" dirty="0"/>
          </a:p>
          <a:p>
            <a:endParaRPr lang="en-GB" sz="1400" b="1" i="1" dirty="0" smtClean="0"/>
          </a:p>
          <a:p>
            <a:endParaRPr lang="en-GB" sz="1400" b="1" i="1" dirty="0"/>
          </a:p>
          <a:p>
            <a:r>
              <a:rPr lang="en-GB" sz="1400" b="1" i="1" dirty="0" smtClean="0"/>
              <a:t>This Summer (2016) CRAB2 was fully turned off. CRAB3 &amp; ASO overtook all work.</a:t>
            </a:r>
          </a:p>
          <a:p>
            <a:endParaRPr lang="en-GB" sz="1400" dirty="0" smtClean="0"/>
          </a:p>
        </p:txBody>
      </p:sp>
    </p:spTree>
    <p:extLst>
      <p:ext uri="{BB962C8B-B14F-4D97-AF65-F5344CB8AC3E}">
        <p14:creationId xmlns:p14="http://schemas.microsoft.com/office/powerpoint/2010/main" val="317733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en-GB" sz="40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Distributed Data Analysis in CMS (CRAB3)</a:t>
            </a:r>
            <a:endParaRPr lang="en-GB" sz="40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6" name="Straight Connector 5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0421" y="6442908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38" y="1208132"/>
            <a:ext cx="4234052" cy="24183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738" y="3998454"/>
            <a:ext cx="4184821" cy="24243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24500" y="838800"/>
            <a:ext cx="2098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/>
              <a:t>Overall Architecture</a:t>
            </a:r>
            <a:endParaRPr lang="en-GB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224500" y="3693985"/>
            <a:ext cx="2526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/>
              <a:t>Detailed communication</a:t>
            </a:r>
            <a:endParaRPr lang="en-GB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6402" y="1734389"/>
            <a:ext cx="7229345" cy="46224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70476" y="1072508"/>
            <a:ext cx="3482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ASO Components Schema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2357746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en-GB" sz="40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Distributed Data Analysis in CMS (CRAB3)</a:t>
            </a:r>
            <a:endParaRPr lang="en-GB" sz="40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6" name="Straight Connector 5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0421" y="6442908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40" y="872292"/>
            <a:ext cx="5704072" cy="26555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140" y="3510496"/>
            <a:ext cx="11671507" cy="29424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1893" y="862264"/>
            <a:ext cx="5793854" cy="270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50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en-GB" sz="4000" dirty="0" smtClean="0"/>
              <a:t>Physics Experiment Data Export (PhEDEx)</a:t>
            </a:r>
            <a:endParaRPr lang="en-GB" sz="4000" dirty="0" smtClean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6" name="Straight Connector 5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0421" y="6442908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6011" y="790264"/>
            <a:ext cx="1146133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Central component of CMS Data Management System, responsible for data location and placement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created in 2004, undergone significant evolution over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uses grid tools (FDT, FTS, SRM, GRIDFTP, etc.) to transfer files according to the CMS data placement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manages CMS data at CMS grid sites: currently 149 nodes are registered in CMS production instance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uses debug instance for load test transfers between the sites to ensure “links”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provides tools for verifying data consistency, statistics and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uses clever routing algorithm, adjustable workload, and more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76011" y="3764514"/>
            <a:ext cx="1137692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Transfer Management Database at CERN (oracle)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Site agents – set of </a:t>
            </a:r>
            <a:r>
              <a:rPr lang="en-GB" dirty="0" err="1" smtClean="0"/>
              <a:t>perl</a:t>
            </a:r>
            <a:r>
              <a:rPr lang="en-GB" dirty="0" smtClean="0"/>
              <a:t> daemons running at every site, each performing a particular local data management task: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/>
              <a:t>file download, delete, stage from MSS, export for outbound transfer, verify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Central agents managing PhEDEx workflows and infrastructure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/>
              <a:t>transfer requests, data routing, bookkeeping, monitoring and other central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PhEDEx web site – set of interactive web applications to control and monitor the PhEDEx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/>
              <a:t>new implementation uses combination of </a:t>
            </a:r>
            <a:r>
              <a:rPr lang="en-GB" dirty="0" err="1" smtClean="0"/>
              <a:t>perl</a:t>
            </a:r>
            <a:r>
              <a:rPr lang="en-GB" dirty="0" smtClean="0"/>
              <a:t> + </a:t>
            </a:r>
            <a:r>
              <a:rPr lang="en-GB" dirty="0" err="1" smtClean="0"/>
              <a:t>javascript</a:t>
            </a:r>
            <a:r>
              <a:rPr lang="en-GB" dirty="0" smtClean="0"/>
              <a:t> for more interactive features</a:t>
            </a:r>
            <a:endParaRPr lang="en-GB" dirty="0"/>
          </a:p>
        </p:txBody>
      </p:sp>
      <p:sp>
        <p:nvSpPr>
          <p:cNvPr id="12" name="Title 2"/>
          <p:cNvSpPr txBox="1">
            <a:spLocks/>
          </p:cNvSpPr>
          <p:nvPr/>
        </p:nvSpPr>
        <p:spPr>
          <a:xfrm>
            <a:off x="0" y="2883561"/>
            <a:ext cx="9010739" cy="862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 smtClean="0"/>
              <a:t>PhEDEx components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55321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en-GB" sz="4000" dirty="0" smtClean="0"/>
              <a:t>Physics Experiment Data Export (PhEDEx)</a:t>
            </a:r>
            <a:endParaRPr lang="en-GB" sz="4000" dirty="0" smtClean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6" name="Straight Connector 5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0421" y="6442908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921" y="888875"/>
            <a:ext cx="6672325" cy="533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007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en-GB" sz="4000" dirty="0" smtClean="0"/>
              <a:t>PhEDEx workflow (Step By Step)</a:t>
            </a:r>
            <a:endParaRPr lang="en-GB" sz="4000" dirty="0" smtClean="0"/>
          </a:p>
        </p:txBody>
      </p:sp>
      <p:pic>
        <p:nvPicPr>
          <p:cNvPr id="30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31" name="Straight Connector 30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333955" y="104162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Request dataset or block transfer.</a:t>
            </a:r>
            <a:endParaRPr lang="en-GB" sz="1200" dirty="0"/>
          </a:p>
        </p:txBody>
      </p:sp>
      <p:sp>
        <p:nvSpPr>
          <p:cNvPr id="34" name="Rounded Rectangle 33"/>
          <p:cNvSpPr/>
          <p:nvPr/>
        </p:nvSpPr>
        <p:spPr>
          <a:xfrm>
            <a:off x="3419061" y="1106055"/>
            <a:ext cx="1568720" cy="3816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Web Pages / API</a:t>
            </a:r>
            <a:endParaRPr lang="en-GB" sz="1400" dirty="0"/>
          </a:p>
        </p:txBody>
      </p:sp>
      <p:sp>
        <p:nvSpPr>
          <p:cNvPr id="35" name="Rounded Rectangle 34"/>
          <p:cNvSpPr/>
          <p:nvPr/>
        </p:nvSpPr>
        <p:spPr>
          <a:xfrm>
            <a:off x="6092554" y="916048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6" name="Rectangle 35"/>
          <p:cNvSpPr/>
          <p:nvPr/>
        </p:nvSpPr>
        <p:spPr>
          <a:xfrm>
            <a:off x="6252465" y="1019566"/>
            <a:ext cx="1085840" cy="2288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T_req_xfer</a:t>
            </a:r>
            <a:endParaRPr lang="en-GB" sz="1400" dirty="0"/>
          </a:p>
        </p:txBody>
      </p:sp>
      <p:sp>
        <p:nvSpPr>
          <p:cNvPr id="37" name="Rectangle 36"/>
          <p:cNvSpPr/>
          <p:nvPr/>
        </p:nvSpPr>
        <p:spPr>
          <a:xfrm>
            <a:off x="7484917" y="1023954"/>
            <a:ext cx="1331446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T_req_dataset</a:t>
            </a:r>
            <a:endParaRPr lang="en-GB" sz="1400" dirty="0"/>
          </a:p>
        </p:txBody>
      </p:sp>
      <p:sp>
        <p:nvSpPr>
          <p:cNvPr id="38" name="Rectangle 37"/>
          <p:cNvSpPr/>
          <p:nvPr/>
        </p:nvSpPr>
        <p:spPr>
          <a:xfrm>
            <a:off x="6252465" y="1324042"/>
            <a:ext cx="1085840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T_req_node</a:t>
            </a:r>
            <a:endParaRPr lang="en-GB" sz="1400" dirty="0"/>
          </a:p>
        </p:txBody>
      </p:sp>
      <p:sp>
        <p:nvSpPr>
          <p:cNvPr id="39" name="Rectangle 38"/>
          <p:cNvSpPr/>
          <p:nvPr/>
        </p:nvSpPr>
        <p:spPr>
          <a:xfrm>
            <a:off x="7484917" y="1317741"/>
            <a:ext cx="1331446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T_req_decision</a:t>
            </a:r>
            <a:endParaRPr lang="en-GB" sz="1400" dirty="0"/>
          </a:p>
        </p:txBody>
      </p:sp>
      <p:cxnSp>
        <p:nvCxnSpPr>
          <p:cNvPr id="40" name="Straight Connector 39"/>
          <p:cNvCxnSpPr>
            <a:stCxn id="33" idx="3"/>
            <a:endCxn id="34" idx="1"/>
          </p:cNvCxnSpPr>
          <p:nvPr/>
        </p:nvCxnSpPr>
        <p:spPr>
          <a:xfrm>
            <a:off x="2743200" y="1284136"/>
            <a:ext cx="675861" cy="127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4" idx="3"/>
            <a:endCxn id="35" idx="1"/>
          </p:cNvCxnSpPr>
          <p:nvPr/>
        </p:nvCxnSpPr>
        <p:spPr>
          <a:xfrm flipV="1">
            <a:off x="4987781" y="1252404"/>
            <a:ext cx="1104773" cy="444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272188" y="960531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0s</a:t>
            </a:r>
            <a:endParaRPr lang="en-GB" dirty="0"/>
          </a:p>
        </p:txBody>
      </p:sp>
      <p:sp>
        <p:nvSpPr>
          <p:cNvPr id="119" name="Rectangle 118"/>
          <p:cNvSpPr/>
          <p:nvPr/>
        </p:nvSpPr>
        <p:spPr>
          <a:xfrm>
            <a:off x="9197250" y="1011811"/>
            <a:ext cx="208186" cy="22174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20" name="Rectangle 119"/>
          <p:cNvSpPr/>
          <p:nvPr/>
        </p:nvSpPr>
        <p:spPr>
          <a:xfrm>
            <a:off x="9197251" y="1337390"/>
            <a:ext cx="208186" cy="2301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21" name="Rectangle 120"/>
          <p:cNvSpPr/>
          <p:nvPr/>
        </p:nvSpPr>
        <p:spPr>
          <a:xfrm>
            <a:off x="9197251" y="1666753"/>
            <a:ext cx="20818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22" name="Rounded Rectangle 121"/>
          <p:cNvSpPr/>
          <p:nvPr/>
        </p:nvSpPr>
        <p:spPr>
          <a:xfrm>
            <a:off x="9179818" y="1978997"/>
            <a:ext cx="243050" cy="269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23" name="Rounded Rectangle 122"/>
          <p:cNvSpPr/>
          <p:nvPr/>
        </p:nvSpPr>
        <p:spPr>
          <a:xfrm>
            <a:off x="9179818" y="2333869"/>
            <a:ext cx="243050" cy="25643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24" name="TextBox 123"/>
          <p:cNvSpPr txBox="1"/>
          <p:nvPr/>
        </p:nvSpPr>
        <p:spPr>
          <a:xfrm>
            <a:off x="9346917" y="941072"/>
            <a:ext cx="2110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Dataset/Block tables</a:t>
            </a:r>
            <a:endParaRPr lang="en-GB" dirty="0"/>
          </a:p>
        </p:txBody>
      </p:sp>
      <p:sp>
        <p:nvSpPr>
          <p:cNvPr id="125" name="TextBox 124"/>
          <p:cNvSpPr txBox="1"/>
          <p:nvPr/>
        </p:nvSpPr>
        <p:spPr>
          <a:xfrm>
            <a:off x="9348652" y="1244993"/>
            <a:ext cx="1800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Node level tables</a:t>
            </a:r>
            <a:endParaRPr lang="en-GB" dirty="0"/>
          </a:p>
        </p:txBody>
      </p:sp>
      <p:sp>
        <p:nvSpPr>
          <p:cNvPr id="126" name="TextBox 125"/>
          <p:cNvSpPr txBox="1"/>
          <p:nvPr/>
        </p:nvSpPr>
        <p:spPr>
          <a:xfrm>
            <a:off x="9346917" y="1594477"/>
            <a:ext cx="161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File level tables</a:t>
            </a:r>
            <a:endParaRPr lang="en-GB" dirty="0"/>
          </a:p>
        </p:txBody>
      </p:sp>
      <p:sp>
        <p:nvSpPr>
          <p:cNvPr id="127" name="TextBox 126"/>
          <p:cNvSpPr txBox="1"/>
          <p:nvPr/>
        </p:nvSpPr>
        <p:spPr>
          <a:xfrm>
            <a:off x="9346518" y="1928861"/>
            <a:ext cx="146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Central Agent</a:t>
            </a:r>
            <a:endParaRPr lang="en-GB" dirty="0"/>
          </a:p>
        </p:txBody>
      </p:sp>
      <p:sp>
        <p:nvSpPr>
          <p:cNvPr id="128" name="TextBox 127"/>
          <p:cNvSpPr txBox="1"/>
          <p:nvPr/>
        </p:nvSpPr>
        <p:spPr>
          <a:xfrm>
            <a:off x="9346518" y="2278345"/>
            <a:ext cx="113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Site Agent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1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en-GB" sz="4000" dirty="0" smtClean="0"/>
              <a:t>PhEDEx workflow (Step By Step)</a:t>
            </a:r>
            <a:endParaRPr lang="en-GB" sz="4000" dirty="0" smtClean="0"/>
          </a:p>
        </p:txBody>
      </p:sp>
      <p:pic>
        <p:nvPicPr>
          <p:cNvPr id="30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31" name="Straight Connector 30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333955" y="104162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Request dataset or block transfer.</a:t>
            </a:r>
            <a:endParaRPr lang="en-GB" sz="1200" dirty="0"/>
          </a:p>
        </p:txBody>
      </p:sp>
      <p:sp>
        <p:nvSpPr>
          <p:cNvPr id="34" name="Rounded Rectangle 33"/>
          <p:cNvSpPr/>
          <p:nvPr/>
        </p:nvSpPr>
        <p:spPr>
          <a:xfrm>
            <a:off x="3419061" y="1106055"/>
            <a:ext cx="1568720" cy="3816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Web Pages / API</a:t>
            </a:r>
            <a:endParaRPr lang="en-GB" sz="1400" dirty="0"/>
          </a:p>
        </p:txBody>
      </p:sp>
      <p:sp>
        <p:nvSpPr>
          <p:cNvPr id="35" name="Rounded Rectangle 34"/>
          <p:cNvSpPr/>
          <p:nvPr/>
        </p:nvSpPr>
        <p:spPr>
          <a:xfrm>
            <a:off x="6092554" y="916048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6" name="Rectangle 35"/>
          <p:cNvSpPr/>
          <p:nvPr/>
        </p:nvSpPr>
        <p:spPr>
          <a:xfrm>
            <a:off x="6252465" y="1019566"/>
            <a:ext cx="1085840" cy="2288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T_req_xfer</a:t>
            </a:r>
            <a:endParaRPr lang="en-GB" sz="1400" dirty="0"/>
          </a:p>
        </p:txBody>
      </p:sp>
      <p:sp>
        <p:nvSpPr>
          <p:cNvPr id="37" name="Rectangle 36"/>
          <p:cNvSpPr/>
          <p:nvPr/>
        </p:nvSpPr>
        <p:spPr>
          <a:xfrm>
            <a:off x="7484917" y="1023954"/>
            <a:ext cx="1331446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T_req_dataset</a:t>
            </a:r>
            <a:endParaRPr lang="en-GB" sz="1400" dirty="0"/>
          </a:p>
        </p:txBody>
      </p:sp>
      <p:sp>
        <p:nvSpPr>
          <p:cNvPr id="38" name="Rectangle 37"/>
          <p:cNvSpPr/>
          <p:nvPr/>
        </p:nvSpPr>
        <p:spPr>
          <a:xfrm>
            <a:off x="6252465" y="1324042"/>
            <a:ext cx="1085840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T_req_node</a:t>
            </a:r>
            <a:endParaRPr lang="en-GB" sz="1400" dirty="0"/>
          </a:p>
        </p:txBody>
      </p:sp>
      <p:sp>
        <p:nvSpPr>
          <p:cNvPr id="39" name="Rectangle 38"/>
          <p:cNvSpPr/>
          <p:nvPr/>
        </p:nvSpPr>
        <p:spPr>
          <a:xfrm>
            <a:off x="7484917" y="1317741"/>
            <a:ext cx="1331446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T_req_decision</a:t>
            </a:r>
            <a:endParaRPr lang="en-GB" sz="1400" dirty="0"/>
          </a:p>
        </p:txBody>
      </p:sp>
      <p:cxnSp>
        <p:nvCxnSpPr>
          <p:cNvPr id="40" name="Straight Connector 39"/>
          <p:cNvCxnSpPr>
            <a:stCxn id="33" idx="3"/>
            <a:endCxn id="34" idx="1"/>
          </p:cNvCxnSpPr>
          <p:nvPr/>
        </p:nvCxnSpPr>
        <p:spPr>
          <a:xfrm>
            <a:off x="2743200" y="1284136"/>
            <a:ext cx="675861" cy="127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4" idx="3"/>
            <a:endCxn id="35" idx="1"/>
          </p:cNvCxnSpPr>
          <p:nvPr/>
        </p:nvCxnSpPr>
        <p:spPr>
          <a:xfrm flipV="1">
            <a:off x="4987781" y="1252404"/>
            <a:ext cx="1104773" cy="444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272188" y="960531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0s</a:t>
            </a:r>
            <a:endParaRPr lang="en-GB" dirty="0"/>
          </a:p>
        </p:txBody>
      </p:sp>
      <p:sp>
        <p:nvSpPr>
          <p:cNvPr id="43" name="Rectangle 42"/>
          <p:cNvSpPr/>
          <p:nvPr/>
        </p:nvSpPr>
        <p:spPr>
          <a:xfrm>
            <a:off x="333954" y="156749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approved requests into subscriptions.</a:t>
            </a:r>
            <a:endParaRPr lang="en-GB" sz="1200" dirty="0"/>
          </a:p>
        </p:txBody>
      </p:sp>
      <p:sp>
        <p:nvSpPr>
          <p:cNvPr id="44" name="Rounded Rectangle 43"/>
          <p:cNvSpPr/>
          <p:nvPr/>
        </p:nvSpPr>
        <p:spPr>
          <a:xfrm>
            <a:off x="3421138" y="1624221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RequestAllocator</a:t>
            </a:r>
            <a:endParaRPr lang="en-GB" sz="1400" dirty="0"/>
          </a:p>
        </p:txBody>
      </p:sp>
      <p:sp>
        <p:nvSpPr>
          <p:cNvPr id="45" name="Rounded Rectangle 44"/>
          <p:cNvSpPr/>
          <p:nvPr/>
        </p:nvSpPr>
        <p:spPr>
          <a:xfrm>
            <a:off x="6092554" y="162164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6" name="Rectangle 45"/>
          <p:cNvSpPr/>
          <p:nvPr/>
        </p:nvSpPr>
        <p:spPr>
          <a:xfrm>
            <a:off x="6679649" y="1746910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T_dps_subscription</a:t>
            </a:r>
            <a:endParaRPr lang="en-GB" sz="1400" dirty="0"/>
          </a:p>
        </p:txBody>
      </p:sp>
      <p:cxnSp>
        <p:nvCxnSpPr>
          <p:cNvPr id="47" name="Straight Connector 46"/>
          <p:cNvCxnSpPr>
            <a:stCxn id="43" idx="3"/>
            <a:endCxn id="44" idx="1"/>
          </p:cNvCxnSpPr>
          <p:nvPr/>
        </p:nvCxnSpPr>
        <p:spPr>
          <a:xfrm>
            <a:off x="2743199" y="1810006"/>
            <a:ext cx="677939" cy="5047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5" idx="1"/>
            <a:endCxn id="44" idx="3"/>
          </p:cNvCxnSpPr>
          <p:nvPr/>
        </p:nvCxnSpPr>
        <p:spPr>
          <a:xfrm flipH="1">
            <a:off x="4989858" y="1252404"/>
            <a:ext cx="1102696" cy="5626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 rot="19866235">
            <a:off x="4860430" y="131714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cxnSp>
        <p:nvCxnSpPr>
          <p:cNvPr id="50" name="Straight Arrow Connector 49"/>
          <p:cNvCxnSpPr>
            <a:stCxn id="44" idx="3"/>
            <a:endCxn id="45" idx="1"/>
          </p:cNvCxnSpPr>
          <p:nvPr/>
        </p:nvCxnSpPr>
        <p:spPr>
          <a:xfrm>
            <a:off x="4989858" y="1815053"/>
            <a:ext cx="1102696" cy="383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197250" y="1011811"/>
            <a:ext cx="208186" cy="22174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5" name="Rectangle 24"/>
          <p:cNvSpPr/>
          <p:nvPr/>
        </p:nvSpPr>
        <p:spPr>
          <a:xfrm>
            <a:off x="9197251" y="1337390"/>
            <a:ext cx="208186" cy="2301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6" name="Rectangle 25"/>
          <p:cNvSpPr/>
          <p:nvPr/>
        </p:nvSpPr>
        <p:spPr>
          <a:xfrm>
            <a:off x="9197251" y="1666753"/>
            <a:ext cx="20818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7" name="Rounded Rectangle 26"/>
          <p:cNvSpPr/>
          <p:nvPr/>
        </p:nvSpPr>
        <p:spPr>
          <a:xfrm>
            <a:off x="9179818" y="1978997"/>
            <a:ext cx="243050" cy="269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8" name="Rounded Rectangle 27"/>
          <p:cNvSpPr/>
          <p:nvPr/>
        </p:nvSpPr>
        <p:spPr>
          <a:xfrm>
            <a:off x="9179818" y="2333869"/>
            <a:ext cx="243050" cy="25643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51" name="TextBox 50"/>
          <p:cNvSpPr txBox="1"/>
          <p:nvPr/>
        </p:nvSpPr>
        <p:spPr>
          <a:xfrm>
            <a:off x="9346917" y="941072"/>
            <a:ext cx="2110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Dataset/Block tables</a:t>
            </a:r>
            <a:endParaRPr lang="en-GB" dirty="0"/>
          </a:p>
        </p:txBody>
      </p:sp>
      <p:sp>
        <p:nvSpPr>
          <p:cNvPr id="52" name="TextBox 51"/>
          <p:cNvSpPr txBox="1"/>
          <p:nvPr/>
        </p:nvSpPr>
        <p:spPr>
          <a:xfrm>
            <a:off x="9348652" y="1244993"/>
            <a:ext cx="1800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Node level tables</a:t>
            </a:r>
            <a:endParaRPr lang="en-GB" dirty="0"/>
          </a:p>
        </p:txBody>
      </p:sp>
      <p:sp>
        <p:nvSpPr>
          <p:cNvPr id="53" name="TextBox 52"/>
          <p:cNvSpPr txBox="1"/>
          <p:nvPr/>
        </p:nvSpPr>
        <p:spPr>
          <a:xfrm>
            <a:off x="9346917" y="1594477"/>
            <a:ext cx="161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File level tables</a:t>
            </a:r>
            <a:endParaRPr lang="en-GB" dirty="0"/>
          </a:p>
        </p:txBody>
      </p:sp>
      <p:sp>
        <p:nvSpPr>
          <p:cNvPr id="54" name="TextBox 53"/>
          <p:cNvSpPr txBox="1"/>
          <p:nvPr/>
        </p:nvSpPr>
        <p:spPr>
          <a:xfrm>
            <a:off x="9346518" y="1928861"/>
            <a:ext cx="146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Central Agent</a:t>
            </a:r>
            <a:endParaRPr lang="en-GB" dirty="0"/>
          </a:p>
        </p:txBody>
      </p:sp>
      <p:sp>
        <p:nvSpPr>
          <p:cNvPr id="55" name="TextBox 54"/>
          <p:cNvSpPr txBox="1"/>
          <p:nvPr/>
        </p:nvSpPr>
        <p:spPr>
          <a:xfrm>
            <a:off x="9346518" y="2278345"/>
            <a:ext cx="113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Site Agent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39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en-GB" sz="4000" dirty="0" smtClean="0"/>
              <a:t>PhEDEx workflow (Step By Step)</a:t>
            </a:r>
            <a:endParaRPr lang="en-GB" sz="4000" dirty="0" smtClean="0"/>
          </a:p>
        </p:txBody>
      </p:sp>
      <p:pic>
        <p:nvPicPr>
          <p:cNvPr id="40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41" name="Straight Connector 40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42"/>
          <p:cNvSpPr/>
          <p:nvPr/>
        </p:nvSpPr>
        <p:spPr>
          <a:xfrm>
            <a:off x="333955" y="104162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Request dataset or block transfer.</a:t>
            </a:r>
            <a:endParaRPr lang="en-GB" sz="1200" dirty="0"/>
          </a:p>
        </p:txBody>
      </p:sp>
      <p:sp>
        <p:nvSpPr>
          <p:cNvPr id="44" name="Rounded Rectangle 43"/>
          <p:cNvSpPr/>
          <p:nvPr/>
        </p:nvSpPr>
        <p:spPr>
          <a:xfrm>
            <a:off x="3419061" y="1106055"/>
            <a:ext cx="1568720" cy="3816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Web Pages / API</a:t>
            </a:r>
            <a:endParaRPr lang="en-GB" sz="1400" dirty="0"/>
          </a:p>
        </p:txBody>
      </p:sp>
      <p:sp>
        <p:nvSpPr>
          <p:cNvPr id="45" name="Rounded Rectangle 44"/>
          <p:cNvSpPr/>
          <p:nvPr/>
        </p:nvSpPr>
        <p:spPr>
          <a:xfrm>
            <a:off x="6092554" y="916048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6" name="Rectangle 45"/>
          <p:cNvSpPr/>
          <p:nvPr/>
        </p:nvSpPr>
        <p:spPr>
          <a:xfrm>
            <a:off x="6252465" y="1019566"/>
            <a:ext cx="1085840" cy="2288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T_req_xfer</a:t>
            </a:r>
            <a:endParaRPr lang="en-GB" sz="1400" dirty="0"/>
          </a:p>
        </p:txBody>
      </p:sp>
      <p:sp>
        <p:nvSpPr>
          <p:cNvPr id="47" name="Rectangle 46"/>
          <p:cNvSpPr/>
          <p:nvPr/>
        </p:nvSpPr>
        <p:spPr>
          <a:xfrm>
            <a:off x="7484917" y="1023954"/>
            <a:ext cx="1331446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T_req_dataset</a:t>
            </a:r>
            <a:endParaRPr lang="en-GB" sz="1400" dirty="0"/>
          </a:p>
        </p:txBody>
      </p:sp>
      <p:sp>
        <p:nvSpPr>
          <p:cNvPr id="48" name="Rectangle 47"/>
          <p:cNvSpPr/>
          <p:nvPr/>
        </p:nvSpPr>
        <p:spPr>
          <a:xfrm>
            <a:off x="6252465" y="1324042"/>
            <a:ext cx="1085840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T_req_node</a:t>
            </a:r>
            <a:endParaRPr lang="en-GB" sz="1400" dirty="0"/>
          </a:p>
        </p:txBody>
      </p:sp>
      <p:sp>
        <p:nvSpPr>
          <p:cNvPr id="49" name="Rectangle 48"/>
          <p:cNvSpPr/>
          <p:nvPr/>
        </p:nvSpPr>
        <p:spPr>
          <a:xfrm>
            <a:off x="7484917" y="1317741"/>
            <a:ext cx="1331446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T_req_decision</a:t>
            </a:r>
            <a:endParaRPr lang="en-GB" sz="1400" dirty="0"/>
          </a:p>
        </p:txBody>
      </p:sp>
      <p:cxnSp>
        <p:nvCxnSpPr>
          <p:cNvPr id="50" name="Straight Connector 49"/>
          <p:cNvCxnSpPr>
            <a:stCxn id="43" idx="3"/>
            <a:endCxn id="44" idx="1"/>
          </p:cNvCxnSpPr>
          <p:nvPr/>
        </p:nvCxnSpPr>
        <p:spPr>
          <a:xfrm>
            <a:off x="2743200" y="1284136"/>
            <a:ext cx="675861" cy="127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4" idx="3"/>
            <a:endCxn id="45" idx="1"/>
          </p:cNvCxnSpPr>
          <p:nvPr/>
        </p:nvCxnSpPr>
        <p:spPr>
          <a:xfrm flipV="1">
            <a:off x="4987781" y="1252404"/>
            <a:ext cx="1104773" cy="444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272188" y="960531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0s</a:t>
            </a:r>
            <a:endParaRPr lang="en-GB" dirty="0"/>
          </a:p>
        </p:txBody>
      </p:sp>
      <p:sp>
        <p:nvSpPr>
          <p:cNvPr id="53" name="Rectangle 52"/>
          <p:cNvSpPr/>
          <p:nvPr/>
        </p:nvSpPr>
        <p:spPr>
          <a:xfrm>
            <a:off x="333954" y="156749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approved requests into subscriptions.</a:t>
            </a:r>
            <a:endParaRPr lang="en-GB" sz="1200" dirty="0"/>
          </a:p>
        </p:txBody>
      </p:sp>
      <p:sp>
        <p:nvSpPr>
          <p:cNvPr id="54" name="Rounded Rectangle 53"/>
          <p:cNvSpPr/>
          <p:nvPr/>
        </p:nvSpPr>
        <p:spPr>
          <a:xfrm>
            <a:off x="3421138" y="1624221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RequestAllocator</a:t>
            </a:r>
            <a:endParaRPr lang="en-GB" sz="1400" dirty="0"/>
          </a:p>
        </p:txBody>
      </p:sp>
      <p:sp>
        <p:nvSpPr>
          <p:cNvPr id="55" name="Rounded Rectangle 54"/>
          <p:cNvSpPr/>
          <p:nvPr/>
        </p:nvSpPr>
        <p:spPr>
          <a:xfrm>
            <a:off x="6092554" y="162164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56" name="Rectangle 55"/>
          <p:cNvSpPr/>
          <p:nvPr/>
        </p:nvSpPr>
        <p:spPr>
          <a:xfrm>
            <a:off x="6679649" y="1746910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T_dps_subscription</a:t>
            </a:r>
            <a:endParaRPr lang="en-GB" sz="1400" dirty="0"/>
          </a:p>
        </p:txBody>
      </p:sp>
      <p:cxnSp>
        <p:nvCxnSpPr>
          <p:cNvPr id="57" name="Straight Connector 56"/>
          <p:cNvCxnSpPr>
            <a:stCxn id="53" idx="3"/>
            <a:endCxn id="54" idx="1"/>
          </p:cNvCxnSpPr>
          <p:nvPr/>
        </p:nvCxnSpPr>
        <p:spPr>
          <a:xfrm>
            <a:off x="2743199" y="1810006"/>
            <a:ext cx="677939" cy="5047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5" idx="1"/>
            <a:endCxn id="54" idx="3"/>
          </p:cNvCxnSpPr>
          <p:nvPr/>
        </p:nvCxnSpPr>
        <p:spPr>
          <a:xfrm flipH="1">
            <a:off x="4989858" y="1252404"/>
            <a:ext cx="1102696" cy="56264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 rot="19866235">
            <a:off x="4860430" y="131714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cxnSp>
        <p:nvCxnSpPr>
          <p:cNvPr id="60" name="Straight Arrow Connector 59"/>
          <p:cNvCxnSpPr>
            <a:stCxn id="54" idx="3"/>
            <a:endCxn id="55" idx="1"/>
          </p:cNvCxnSpPr>
          <p:nvPr/>
        </p:nvCxnSpPr>
        <p:spPr>
          <a:xfrm>
            <a:off x="4989858" y="1815053"/>
            <a:ext cx="1102696" cy="383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333953" y="2108645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subscriptions into block destinations.</a:t>
            </a:r>
            <a:endParaRPr lang="en-GB" sz="1200" dirty="0"/>
          </a:p>
        </p:txBody>
      </p:sp>
      <p:sp>
        <p:nvSpPr>
          <p:cNvPr id="62" name="Rounded Rectangle 61"/>
          <p:cNvSpPr/>
          <p:nvPr/>
        </p:nvSpPr>
        <p:spPr>
          <a:xfrm>
            <a:off x="3404398" y="2135177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BlockAllocator</a:t>
            </a:r>
            <a:endParaRPr lang="en-GB" sz="1400" dirty="0"/>
          </a:p>
        </p:txBody>
      </p:sp>
      <p:sp>
        <p:nvSpPr>
          <p:cNvPr id="63" name="Rounded Rectangle 62"/>
          <p:cNvSpPr/>
          <p:nvPr/>
        </p:nvSpPr>
        <p:spPr>
          <a:xfrm>
            <a:off x="6092554" y="214793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4" name="Rectangle 63"/>
          <p:cNvSpPr/>
          <p:nvPr/>
        </p:nvSpPr>
        <p:spPr>
          <a:xfrm>
            <a:off x="6679649" y="2265252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T_dps_block_dest</a:t>
            </a:r>
            <a:endParaRPr lang="en-GB" sz="1400" dirty="0"/>
          </a:p>
        </p:txBody>
      </p:sp>
      <p:cxnSp>
        <p:nvCxnSpPr>
          <p:cNvPr id="65" name="Straight Connector 64"/>
          <p:cNvCxnSpPr>
            <a:stCxn id="61" idx="3"/>
            <a:endCxn id="62" idx="1"/>
          </p:cNvCxnSpPr>
          <p:nvPr/>
        </p:nvCxnSpPr>
        <p:spPr>
          <a:xfrm flipV="1">
            <a:off x="2743198" y="2326009"/>
            <a:ext cx="661200" cy="251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62" idx="3"/>
            <a:endCxn id="63" idx="1"/>
          </p:cNvCxnSpPr>
          <p:nvPr/>
        </p:nvCxnSpPr>
        <p:spPr>
          <a:xfrm>
            <a:off x="4973118" y="2326009"/>
            <a:ext cx="1119436" cy="536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5" idx="1"/>
          </p:cNvCxnSpPr>
          <p:nvPr/>
        </p:nvCxnSpPr>
        <p:spPr>
          <a:xfrm flipH="1">
            <a:off x="4955649" y="1853394"/>
            <a:ext cx="1136905" cy="46635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 rot="20117480">
            <a:off x="4941178" y="186164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300s</a:t>
            </a:r>
            <a:endParaRPr lang="en-GB" dirty="0"/>
          </a:p>
        </p:txBody>
      </p:sp>
      <p:sp>
        <p:nvSpPr>
          <p:cNvPr id="129" name="Rectangle 128"/>
          <p:cNvSpPr/>
          <p:nvPr/>
        </p:nvSpPr>
        <p:spPr>
          <a:xfrm>
            <a:off x="9197250" y="1011811"/>
            <a:ext cx="208186" cy="22174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30" name="Rectangle 129"/>
          <p:cNvSpPr/>
          <p:nvPr/>
        </p:nvSpPr>
        <p:spPr>
          <a:xfrm>
            <a:off x="9197251" y="1337390"/>
            <a:ext cx="208186" cy="2301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31" name="Rectangle 130"/>
          <p:cNvSpPr/>
          <p:nvPr/>
        </p:nvSpPr>
        <p:spPr>
          <a:xfrm>
            <a:off x="9197251" y="1666753"/>
            <a:ext cx="20818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32" name="Rounded Rectangle 131"/>
          <p:cNvSpPr/>
          <p:nvPr/>
        </p:nvSpPr>
        <p:spPr>
          <a:xfrm>
            <a:off x="9179818" y="1978997"/>
            <a:ext cx="243050" cy="269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33" name="Rounded Rectangle 132"/>
          <p:cNvSpPr/>
          <p:nvPr/>
        </p:nvSpPr>
        <p:spPr>
          <a:xfrm>
            <a:off x="9179818" y="2333869"/>
            <a:ext cx="243050" cy="25643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34" name="TextBox 133"/>
          <p:cNvSpPr txBox="1"/>
          <p:nvPr/>
        </p:nvSpPr>
        <p:spPr>
          <a:xfrm>
            <a:off x="9346917" y="941072"/>
            <a:ext cx="2110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Dataset/Block tables</a:t>
            </a:r>
            <a:endParaRPr lang="en-GB" dirty="0"/>
          </a:p>
        </p:txBody>
      </p:sp>
      <p:sp>
        <p:nvSpPr>
          <p:cNvPr id="135" name="TextBox 134"/>
          <p:cNvSpPr txBox="1"/>
          <p:nvPr/>
        </p:nvSpPr>
        <p:spPr>
          <a:xfrm>
            <a:off x="9348652" y="1244993"/>
            <a:ext cx="1800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Node level tables</a:t>
            </a:r>
            <a:endParaRPr lang="en-GB" dirty="0"/>
          </a:p>
        </p:txBody>
      </p:sp>
      <p:sp>
        <p:nvSpPr>
          <p:cNvPr id="136" name="TextBox 135"/>
          <p:cNvSpPr txBox="1"/>
          <p:nvPr/>
        </p:nvSpPr>
        <p:spPr>
          <a:xfrm>
            <a:off x="9346917" y="1594477"/>
            <a:ext cx="161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File level tables</a:t>
            </a:r>
            <a:endParaRPr lang="en-GB" dirty="0"/>
          </a:p>
        </p:txBody>
      </p:sp>
      <p:sp>
        <p:nvSpPr>
          <p:cNvPr id="137" name="TextBox 136"/>
          <p:cNvSpPr txBox="1"/>
          <p:nvPr/>
        </p:nvSpPr>
        <p:spPr>
          <a:xfrm>
            <a:off x="9346518" y="1928861"/>
            <a:ext cx="146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Central Agent</a:t>
            </a:r>
            <a:endParaRPr lang="en-GB" dirty="0"/>
          </a:p>
        </p:txBody>
      </p:sp>
      <p:sp>
        <p:nvSpPr>
          <p:cNvPr id="138" name="TextBox 137"/>
          <p:cNvSpPr txBox="1"/>
          <p:nvPr/>
        </p:nvSpPr>
        <p:spPr>
          <a:xfrm>
            <a:off x="9346518" y="2278345"/>
            <a:ext cx="113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Site Agent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709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en-GB" sz="4000" dirty="0" smtClean="0"/>
              <a:t>PhEDEx workflow (Step By Step)</a:t>
            </a:r>
            <a:endParaRPr lang="en-GB" sz="4000" dirty="0" smtClean="0"/>
          </a:p>
        </p:txBody>
      </p:sp>
      <p:pic>
        <p:nvPicPr>
          <p:cNvPr id="39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40" name="Straight Connector 39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/>
          <p:cNvSpPr/>
          <p:nvPr/>
        </p:nvSpPr>
        <p:spPr>
          <a:xfrm>
            <a:off x="333955" y="104162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Request dataset or block transfer.</a:t>
            </a:r>
            <a:endParaRPr lang="en-GB" sz="1200" dirty="0"/>
          </a:p>
        </p:txBody>
      </p:sp>
      <p:sp>
        <p:nvSpPr>
          <p:cNvPr id="43" name="Rounded Rectangle 42"/>
          <p:cNvSpPr/>
          <p:nvPr/>
        </p:nvSpPr>
        <p:spPr>
          <a:xfrm>
            <a:off x="3419061" y="1106055"/>
            <a:ext cx="1568720" cy="3816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Web Pages / API</a:t>
            </a:r>
            <a:endParaRPr lang="en-GB" sz="1400" dirty="0"/>
          </a:p>
        </p:txBody>
      </p:sp>
      <p:sp>
        <p:nvSpPr>
          <p:cNvPr id="44" name="Rounded Rectangle 43"/>
          <p:cNvSpPr/>
          <p:nvPr/>
        </p:nvSpPr>
        <p:spPr>
          <a:xfrm>
            <a:off x="6092554" y="916048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5" name="Rectangle 44"/>
          <p:cNvSpPr/>
          <p:nvPr/>
        </p:nvSpPr>
        <p:spPr>
          <a:xfrm>
            <a:off x="6252465" y="1019566"/>
            <a:ext cx="1085840" cy="2288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T_req_xfer</a:t>
            </a:r>
            <a:endParaRPr lang="en-GB" sz="1400" dirty="0"/>
          </a:p>
        </p:txBody>
      </p:sp>
      <p:sp>
        <p:nvSpPr>
          <p:cNvPr id="46" name="Rectangle 45"/>
          <p:cNvSpPr/>
          <p:nvPr/>
        </p:nvSpPr>
        <p:spPr>
          <a:xfrm>
            <a:off x="7484917" y="1023954"/>
            <a:ext cx="1331446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T_req_dataset</a:t>
            </a:r>
            <a:endParaRPr lang="en-GB" sz="1400" dirty="0"/>
          </a:p>
        </p:txBody>
      </p:sp>
      <p:sp>
        <p:nvSpPr>
          <p:cNvPr id="47" name="Rectangle 46"/>
          <p:cNvSpPr/>
          <p:nvPr/>
        </p:nvSpPr>
        <p:spPr>
          <a:xfrm>
            <a:off x="6252465" y="1324042"/>
            <a:ext cx="1085840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T_req_node</a:t>
            </a:r>
            <a:endParaRPr lang="en-GB" sz="1400" dirty="0"/>
          </a:p>
        </p:txBody>
      </p:sp>
      <p:sp>
        <p:nvSpPr>
          <p:cNvPr id="48" name="Rectangle 47"/>
          <p:cNvSpPr/>
          <p:nvPr/>
        </p:nvSpPr>
        <p:spPr>
          <a:xfrm>
            <a:off x="7484917" y="1317741"/>
            <a:ext cx="1331446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T_req_decision</a:t>
            </a:r>
            <a:endParaRPr lang="en-GB" sz="1400" dirty="0"/>
          </a:p>
        </p:txBody>
      </p:sp>
      <p:cxnSp>
        <p:nvCxnSpPr>
          <p:cNvPr id="49" name="Straight Connector 48"/>
          <p:cNvCxnSpPr>
            <a:stCxn id="42" idx="3"/>
            <a:endCxn id="43" idx="1"/>
          </p:cNvCxnSpPr>
          <p:nvPr/>
        </p:nvCxnSpPr>
        <p:spPr>
          <a:xfrm>
            <a:off x="2743200" y="1284136"/>
            <a:ext cx="675861" cy="127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3" idx="3"/>
            <a:endCxn id="44" idx="1"/>
          </p:cNvCxnSpPr>
          <p:nvPr/>
        </p:nvCxnSpPr>
        <p:spPr>
          <a:xfrm flipV="1">
            <a:off x="4987781" y="1252404"/>
            <a:ext cx="1104773" cy="444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272188" y="960531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0s</a:t>
            </a:r>
            <a:endParaRPr lang="en-GB" dirty="0"/>
          </a:p>
        </p:txBody>
      </p:sp>
      <p:sp>
        <p:nvSpPr>
          <p:cNvPr id="52" name="Rectangle 51"/>
          <p:cNvSpPr/>
          <p:nvPr/>
        </p:nvSpPr>
        <p:spPr>
          <a:xfrm>
            <a:off x="333954" y="156749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approved requests into subscriptions.</a:t>
            </a:r>
            <a:endParaRPr lang="en-GB" sz="1200" dirty="0"/>
          </a:p>
        </p:txBody>
      </p:sp>
      <p:sp>
        <p:nvSpPr>
          <p:cNvPr id="53" name="Rounded Rectangle 52"/>
          <p:cNvSpPr/>
          <p:nvPr/>
        </p:nvSpPr>
        <p:spPr>
          <a:xfrm>
            <a:off x="3421138" y="1624221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RequestAllocator</a:t>
            </a:r>
            <a:endParaRPr lang="en-GB" sz="1400" dirty="0"/>
          </a:p>
        </p:txBody>
      </p:sp>
      <p:sp>
        <p:nvSpPr>
          <p:cNvPr id="54" name="Rounded Rectangle 53"/>
          <p:cNvSpPr/>
          <p:nvPr/>
        </p:nvSpPr>
        <p:spPr>
          <a:xfrm>
            <a:off x="6092554" y="162164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55" name="Rectangle 54"/>
          <p:cNvSpPr/>
          <p:nvPr/>
        </p:nvSpPr>
        <p:spPr>
          <a:xfrm>
            <a:off x="6679649" y="1746910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T_dps_subscription</a:t>
            </a:r>
            <a:endParaRPr lang="en-GB" sz="1400" dirty="0"/>
          </a:p>
        </p:txBody>
      </p:sp>
      <p:cxnSp>
        <p:nvCxnSpPr>
          <p:cNvPr id="56" name="Straight Connector 55"/>
          <p:cNvCxnSpPr>
            <a:stCxn id="52" idx="3"/>
            <a:endCxn id="53" idx="1"/>
          </p:cNvCxnSpPr>
          <p:nvPr/>
        </p:nvCxnSpPr>
        <p:spPr>
          <a:xfrm>
            <a:off x="2743199" y="1810006"/>
            <a:ext cx="677939" cy="5047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4" idx="1"/>
            <a:endCxn id="53" idx="3"/>
          </p:cNvCxnSpPr>
          <p:nvPr/>
        </p:nvCxnSpPr>
        <p:spPr>
          <a:xfrm flipH="1">
            <a:off x="4989858" y="1252404"/>
            <a:ext cx="1102696" cy="56264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 rot="19866235">
            <a:off x="4860430" y="131714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cxnSp>
        <p:nvCxnSpPr>
          <p:cNvPr id="59" name="Straight Arrow Connector 58"/>
          <p:cNvCxnSpPr>
            <a:stCxn id="53" idx="3"/>
            <a:endCxn id="54" idx="1"/>
          </p:cNvCxnSpPr>
          <p:nvPr/>
        </p:nvCxnSpPr>
        <p:spPr>
          <a:xfrm>
            <a:off x="4989858" y="1815053"/>
            <a:ext cx="1102696" cy="383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333953" y="2108645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subscriptions into block destinations.</a:t>
            </a:r>
            <a:endParaRPr lang="en-GB" sz="1200" dirty="0"/>
          </a:p>
        </p:txBody>
      </p:sp>
      <p:sp>
        <p:nvSpPr>
          <p:cNvPr id="61" name="Rounded Rectangle 60"/>
          <p:cNvSpPr/>
          <p:nvPr/>
        </p:nvSpPr>
        <p:spPr>
          <a:xfrm>
            <a:off x="3404398" y="2135177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BlockAllocator</a:t>
            </a:r>
            <a:endParaRPr lang="en-GB" sz="1400" dirty="0"/>
          </a:p>
        </p:txBody>
      </p:sp>
      <p:sp>
        <p:nvSpPr>
          <p:cNvPr id="62" name="Rounded Rectangle 61"/>
          <p:cNvSpPr/>
          <p:nvPr/>
        </p:nvSpPr>
        <p:spPr>
          <a:xfrm>
            <a:off x="6092554" y="214793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3" name="Rectangle 62"/>
          <p:cNvSpPr/>
          <p:nvPr/>
        </p:nvSpPr>
        <p:spPr>
          <a:xfrm>
            <a:off x="6679649" y="2265252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T_dps_block_dest</a:t>
            </a:r>
            <a:endParaRPr lang="en-GB" sz="1400" dirty="0"/>
          </a:p>
        </p:txBody>
      </p:sp>
      <p:cxnSp>
        <p:nvCxnSpPr>
          <p:cNvPr id="64" name="Straight Connector 63"/>
          <p:cNvCxnSpPr>
            <a:stCxn id="60" idx="3"/>
            <a:endCxn id="61" idx="1"/>
          </p:cNvCxnSpPr>
          <p:nvPr/>
        </p:nvCxnSpPr>
        <p:spPr>
          <a:xfrm flipV="1">
            <a:off x="2743198" y="2326009"/>
            <a:ext cx="661200" cy="251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61" idx="3"/>
            <a:endCxn id="62" idx="1"/>
          </p:cNvCxnSpPr>
          <p:nvPr/>
        </p:nvCxnSpPr>
        <p:spPr>
          <a:xfrm>
            <a:off x="4973118" y="2326009"/>
            <a:ext cx="1119436" cy="536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4" idx="1"/>
          </p:cNvCxnSpPr>
          <p:nvPr/>
        </p:nvCxnSpPr>
        <p:spPr>
          <a:xfrm flipH="1">
            <a:off x="4955649" y="1853394"/>
            <a:ext cx="1136905" cy="4663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 rot="20117480">
            <a:off x="4941178" y="186164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300s</a:t>
            </a:r>
            <a:endParaRPr lang="en-GB" dirty="0"/>
          </a:p>
        </p:txBody>
      </p:sp>
      <p:sp>
        <p:nvSpPr>
          <p:cNvPr id="68" name="Rectangle 67"/>
          <p:cNvSpPr/>
          <p:nvPr/>
        </p:nvSpPr>
        <p:spPr>
          <a:xfrm>
            <a:off x="333953" y="2657520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block destinations into file requests. Compute the path of least cost from available replicas.</a:t>
            </a:r>
            <a:endParaRPr lang="en-GB" sz="1200" dirty="0"/>
          </a:p>
        </p:txBody>
      </p:sp>
      <p:sp>
        <p:nvSpPr>
          <p:cNvPr id="69" name="Rounded Rectangle 68"/>
          <p:cNvSpPr/>
          <p:nvPr/>
        </p:nvSpPr>
        <p:spPr>
          <a:xfrm>
            <a:off x="3392430" y="2747782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FileRouter</a:t>
            </a:r>
            <a:endParaRPr lang="en-GB" sz="1400" dirty="0"/>
          </a:p>
        </p:txBody>
      </p:sp>
      <p:sp>
        <p:nvSpPr>
          <p:cNvPr id="70" name="Rounded Rectangle 69"/>
          <p:cNvSpPr/>
          <p:nvPr/>
        </p:nvSpPr>
        <p:spPr>
          <a:xfrm>
            <a:off x="6092554" y="2706427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71" name="Straight Connector 70"/>
          <p:cNvCxnSpPr>
            <a:stCxn id="68" idx="3"/>
            <a:endCxn id="69" idx="1"/>
          </p:cNvCxnSpPr>
          <p:nvPr/>
        </p:nvCxnSpPr>
        <p:spPr>
          <a:xfrm>
            <a:off x="2743198" y="2938179"/>
            <a:ext cx="649232" cy="435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9" idx="3"/>
            <a:endCxn id="70" idx="1"/>
          </p:cNvCxnSpPr>
          <p:nvPr/>
        </p:nvCxnSpPr>
        <p:spPr>
          <a:xfrm flipV="1">
            <a:off x="4961150" y="2938179"/>
            <a:ext cx="1131404" cy="4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endCxn id="69" idx="3"/>
          </p:cNvCxnSpPr>
          <p:nvPr/>
        </p:nvCxnSpPr>
        <p:spPr>
          <a:xfrm flipH="1">
            <a:off x="4961150" y="2511989"/>
            <a:ext cx="1131405" cy="4266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 rot="20419618">
            <a:off x="4871460" y="2418927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60s+r(10)</a:t>
            </a:r>
            <a:endParaRPr lang="en-GB" dirty="0"/>
          </a:p>
        </p:txBody>
      </p:sp>
      <p:sp>
        <p:nvSpPr>
          <p:cNvPr id="75" name="Rectangle 74"/>
          <p:cNvSpPr/>
          <p:nvPr/>
        </p:nvSpPr>
        <p:spPr>
          <a:xfrm>
            <a:off x="6249252" y="2860029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t_xfer_request</a:t>
            </a:r>
            <a:endParaRPr lang="en-GB" sz="1400" dirty="0"/>
          </a:p>
        </p:txBody>
      </p:sp>
      <p:sp>
        <p:nvSpPr>
          <p:cNvPr id="76" name="Rectangle 75"/>
          <p:cNvSpPr/>
          <p:nvPr/>
        </p:nvSpPr>
        <p:spPr>
          <a:xfrm>
            <a:off x="7794276" y="2860030"/>
            <a:ext cx="1089329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T_xfer_path</a:t>
            </a:r>
            <a:endParaRPr lang="en-GB" sz="1400" dirty="0"/>
          </a:p>
        </p:txBody>
      </p:sp>
      <p:sp>
        <p:nvSpPr>
          <p:cNvPr id="128" name="Rectangle 127"/>
          <p:cNvSpPr/>
          <p:nvPr/>
        </p:nvSpPr>
        <p:spPr>
          <a:xfrm>
            <a:off x="9197250" y="1011811"/>
            <a:ext cx="208186" cy="22174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29" name="Rectangle 128"/>
          <p:cNvSpPr/>
          <p:nvPr/>
        </p:nvSpPr>
        <p:spPr>
          <a:xfrm>
            <a:off x="9197251" y="1337390"/>
            <a:ext cx="208186" cy="2301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30" name="Rectangle 129"/>
          <p:cNvSpPr/>
          <p:nvPr/>
        </p:nvSpPr>
        <p:spPr>
          <a:xfrm>
            <a:off x="9197251" y="1666753"/>
            <a:ext cx="20818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31" name="Rounded Rectangle 130"/>
          <p:cNvSpPr/>
          <p:nvPr/>
        </p:nvSpPr>
        <p:spPr>
          <a:xfrm>
            <a:off x="9179818" y="1978997"/>
            <a:ext cx="243050" cy="269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32" name="Rounded Rectangle 131"/>
          <p:cNvSpPr/>
          <p:nvPr/>
        </p:nvSpPr>
        <p:spPr>
          <a:xfrm>
            <a:off x="9179818" y="2333869"/>
            <a:ext cx="243050" cy="25643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33" name="TextBox 132"/>
          <p:cNvSpPr txBox="1"/>
          <p:nvPr/>
        </p:nvSpPr>
        <p:spPr>
          <a:xfrm>
            <a:off x="9346917" y="941072"/>
            <a:ext cx="2110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Dataset/Block tables</a:t>
            </a:r>
            <a:endParaRPr lang="en-GB" dirty="0"/>
          </a:p>
        </p:txBody>
      </p:sp>
      <p:sp>
        <p:nvSpPr>
          <p:cNvPr id="134" name="TextBox 133"/>
          <p:cNvSpPr txBox="1"/>
          <p:nvPr/>
        </p:nvSpPr>
        <p:spPr>
          <a:xfrm>
            <a:off x="9348652" y="1244993"/>
            <a:ext cx="1800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Node level tables</a:t>
            </a:r>
            <a:endParaRPr lang="en-GB" dirty="0"/>
          </a:p>
        </p:txBody>
      </p:sp>
      <p:sp>
        <p:nvSpPr>
          <p:cNvPr id="135" name="TextBox 134"/>
          <p:cNvSpPr txBox="1"/>
          <p:nvPr/>
        </p:nvSpPr>
        <p:spPr>
          <a:xfrm>
            <a:off x="9346917" y="1594477"/>
            <a:ext cx="161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File level tables</a:t>
            </a:r>
            <a:endParaRPr lang="en-GB" dirty="0"/>
          </a:p>
        </p:txBody>
      </p:sp>
      <p:sp>
        <p:nvSpPr>
          <p:cNvPr id="136" name="TextBox 135"/>
          <p:cNvSpPr txBox="1"/>
          <p:nvPr/>
        </p:nvSpPr>
        <p:spPr>
          <a:xfrm>
            <a:off x="9346518" y="1928861"/>
            <a:ext cx="146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Central Agent</a:t>
            </a:r>
            <a:endParaRPr lang="en-GB" dirty="0"/>
          </a:p>
        </p:txBody>
      </p:sp>
      <p:sp>
        <p:nvSpPr>
          <p:cNvPr id="137" name="TextBox 136"/>
          <p:cNvSpPr txBox="1"/>
          <p:nvPr/>
        </p:nvSpPr>
        <p:spPr>
          <a:xfrm>
            <a:off x="9346518" y="2278345"/>
            <a:ext cx="113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Site Agent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382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en-GB" sz="4000" dirty="0" smtClean="0"/>
              <a:t>PhEDEx workflow (Step By Step)</a:t>
            </a:r>
            <a:endParaRPr lang="en-GB" sz="4000" dirty="0" smtClean="0"/>
          </a:p>
        </p:txBody>
      </p:sp>
      <p:pic>
        <p:nvPicPr>
          <p:cNvPr id="49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50" name="Straight Connector 49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Rectangle 51"/>
          <p:cNvSpPr/>
          <p:nvPr/>
        </p:nvSpPr>
        <p:spPr>
          <a:xfrm>
            <a:off x="333955" y="104162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Request dataset or block transfer.</a:t>
            </a:r>
            <a:endParaRPr lang="en-GB" sz="1200" dirty="0"/>
          </a:p>
        </p:txBody>
      </p:sp>
      <p:sp>
        <p:nvSpPr>
          <p:cNvPr id="53" name="Rounded Rectangle 52"/>
          <p:cNvSpPr/>
          <p:nvPr/>
        </p:nvSpPr>
        <p:spPr>
          <a:xfrm>
            <a:off x="3419061" y="1106055"/>
            <a:ext cx="1568720" cy="3816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Web Pages / API</a:t>
            </a:r>
            <a:endParaRPr lang="en-GB" sz="1400" dirty="0"/>
          </a:p>
        </p:txBody>
      </p:sp>
      <p:sp>
        <p:nvSpPr>
          <p:cNvPr id="54" name="Rounded Rectangle 53"/>
          <p:cNvSpPr/>
          <p:nvPr/>
        </p:nvSpPr>
        <p:spPr>
          <a:xfrm>
            <a:off x="6092554" y="916048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55" name="Rectangle 54"/>
          <p:cNvSpPr/>
          <p:nvPr/>
        </p:nvSpPr>
        <p:spPr>
          <a:xfrm>
            <a:off x="6252465" y="1019566"/>
            <a:ext cx="1085840" cy="2288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T_req_xfer</a:t>
            </a:r>
            <a:endParaRPr lang="en-GB" sz="1400" dirty="0"/>
          </a:p>
        </p:txBody>
      </p:sp>
      <p:sp>
        <p:nvSpPr>
          <p:cNvPr id="56" name="Rectangle 55"/>
          <p:cNvSpPr/>
          <p:nvPr/>
        </p:nvSpPr>
        <p:spPr>
          <a:xfrm>
            <a:off x="7484917" y="1023954"/>
            <a:ext cx="1331446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T_req_dataset</a:t>
            </a:r>
            <a:endParaRPr lang="en-GB" sz="1400" dirty="0"/>
          </a:p>
        </p:txBody>
      </p:sp>
      <p:sp>
        <p:nvSpPr>
          <p:cNvPr id="57" name="Rectangle 56"/>
          <p:cNvSpPr/>
          <p:nvPr/>
        </p:nvSpPr>
        <p:spPr>
          <a:xfrm>
            <a:off x="6252465" y="1324042"/>
            <a:ext cx="1085840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T_req_node</a:t>
            </a:r>
            <a:endParaRPr lang="en-GB" sz="1400" dirty="0"/>
          </a:p>
        </p:txBody>
      </p:sp>
      <p:sp>
        <p:nvSpPr>
          <p:cNvPr id="58" name="Rectangle 57"/>
          <p:cNvSpPr/>
          <p:nvPr/>
        </p:nvSpPr>
        <p:spPr>
          <a:xfrm>
            <a:off x="7484917" y="1317741"/>
            <a:ext cx="1331446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T_req_decision</a:t>
            </a:r>
            <a:endParaRPr lang="en-GB" sz="1400" dirty="0"/>
          </a:p>
        </p:txBody>
      </p:sp>
      <p:cxnSp>
        <p:nvCxnSpPr>
          <p:cNvPr id="59" name="Straight Connector 58"/>
          <p:cNvCxnSpPr>
            <a:stCxn id="52" idx="3"/>
            <a:endCxn id="53" idx="1"/>
          </p:cNvCxnSpPr>
          <p:nvPr/>
        </p:nvCxnSpPr>
        <p:spPr>
          <a:xfrm>
            <a:off x="2743200" y="1284136"/>
            <a:ext cx="675861" cy="127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3" idx="3"/>
            <a:endCxn id="54" idx="1"/>
          </p:cNvCxnSpPr>
          <p:nvPr/>
        </p:nvCxnSpPr>
        <p:spPr>
          <a:xfrm flipV="1">
            <a:off x="4987781" y="1252404"/>
            <a:ext cx="1104773" cy="444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272188" y="960531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0s</a:t>
            </a:r>
            <a:endParaRPr lang="en-GB" dirty="0"/>
          </a:p>
        </p:txBody>
      </p:sp>
      <p:sp>
        <p:nvSpPr>
          <p:cNvPr id="62" name="Rectangle 61"/>
          <p:cNvSpPr/>
          <p:nvPr/>
        </p:nvSpPr>
        <p:spPr>
          <a:xfrm>
            <a:off x="333954" y="156749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approved requests into subscriptions.</a:t>
            </a:r>
            <a:endParaRPr lang="en-GB" sz="1200" dirty="0"/>
          </a:p>
        </p:txBody>
      </p:sp>
      <p:sp>
        <p:nvSpPr>
          <p:cNvPr id="63" name="Rounded Rectangle 62"/>
          <p:cNvSpPr/>
          <p:nvPr/>
        </p:nvSpPr>
        <p:spPr>
          <a:xfrm>
            <a:off x="3421138" y="1624221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RequestAllocator</a:t>
            </a:r>
            <a:endParaRPr lang="en-GB" sz="1400" dirty="0"/>
          </a:p>
        </p:txBody>
      </p:sp>
      <p:sp>
        <p:nvSpPr>
          <p:cNvPr id="64" name="Rounded Rectangle 63"/>
          <p:cNvSpPr/>
          <p:nvPr/>
        </p:nvSpPr>
        <p:spPr>
          <a:xfrm>
            <a:off x="6092554" y="162164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5" name="Rectangle 64"/>
          <p:cNvSpPr/>
          <p:nvPr/>
        </p:nvSpPr>
        <p:spPr>
          <a:xfrm>
            <a:off x="6679649" y="1746910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T_dps_subscription</a:t>
            </a:r>
            <a:endParaRPr lang="en-GB" sz="1400" dirty="0"/>
          </a:p>
        </p:txBody>
      </p:sp>
      <p:cxnSp>
        <p:nvCxnSpPr>
          <p:cNvPr id="66" name="Straight Connector 65"/>
          <p:cNvCxnSpPr>
            <a:stCxn id="62" idx="3"/>
            <a:endCxn id="63" idx="1"/>
          </p:cNvCxnSpPr>
          <p:nvPr/>
        </p:nvCxnSpPr>
        <p:spPr>
          <a:xfrm>
            <a:off x="2743199" y="1810006"/>
            <a:ext cx="677939" cy="5047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4" idx="1"/>
            <a:endCxn id="63" idx="3"/>
          </p:cNvCxnSpPr>
          <p:nvPr/>
        </p:nvCxnSpPr>
        <p:spPr>
          <a:xfrm flipH="1">
            <a:off x="4989858" y="1252404"/>
            <a:ext cx="1102696" cy="56264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 rot="19866235">
            <a:off x="4860430" y="131714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cxnSp>
        <p:nvCxnSpPr>
          <p:cNvPr id="69" name="Straight Arrow Connector 68"/>
          <p:cNvCxnSpPr>
            <a:stCxn id="63" idx="3"/>
            <a:endCxn id="64" idx="1"/>
          </p:cNvCxnSpPr>
          <p:nvPr/>
        </p:nvCxnSpPr>
        <p:spPr>
          <a:xfrm>
            <a:off x="4989858" y="1815053"/>
            <a:ext cx="1102696" cy="383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333953" y="2108645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subscriptions into block destinations.</a:t>
            </a:r>
            <a:endParaRPr lang="en-GB" sz="1200" dirty="0"/>
          </a:p>
        </p:txBody>
      </p:sp>
      <p:sp>
        <p:nvSpPr>
          <p:cNvPr id="71" name="Rounded Rectangle 70"/>
          <p:cNvSpPr/>
          <p:nvPr/>
        </p:nvSpPr>
        <p:spPr>
          <a:xfrm>
            <a:off x="3404398" y="2135177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BlockAllocator</a:t>
            </a:r>
            <a:endParaRPr lang="en-GB" sz="1400" dirty="0"/>
          </a:p>
        </p:txBody>
      </p:sp>
      <p:sp>
        <p:nvSpPr>
          <p:cNvPr id="72" name="Rounded Rectangle 71"/>
          <p:cNvSpPr/>
          <p:nvPr/>
        </p:nvSpPr>
        <p:spPr>
          <a:xfrm>
            <a:off x="6092554" y="214793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73" name="Rectangle 72"/>
          <p:cNvSpPr/>
          <p:nvPr/>
        </p:nvSpPr>
        <p:spPr>
          <a:xfrm>
            <a:off x="6679649" y="2265252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T_dps_block_dest</a:t>
            </a:r>
            <a:endParaRPr lang="en-GB" sz="1400" dirty="0"/>
          </a:p>
        </p:txBody>
      </p:sp>
      <p:cxnSp>
        <p:nvCxnSpPr>
          <p:cNvPr id="74" name="Straight Connector 73"/>
          <p:cNvCxnSpPr>
            <a:stCxn id="70" idx="3"/>
            <a:endCxn id="71" idx="1"/>
          </p:cNvCxnSpPr>
          <p:nvPr/>
        </p:nvCxnSpPr>
        <p:spPr>
          <a:xfrm flipV="1">
            <a:off x="2743198" y="2326009"/>
            <a:ext cx="661200" cy="251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71" idx="3"/>
            <a:endCxn id="72" idx="1"/>
          </p:cNvCxnSpPr>
          <p:nvPr/>
        </p:nvCxnSpPr>
        <p:spPr>
          <a:xfrm>
            <a:off x="4973118" y="2326009"/>
            <a:ext cx="1119436" cy="536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64" idx="1"/>
          </p:cNvCxnSpPr>
          <p:nvPr/>
        </p:nvCxnSpPr>
        <p:spPr>
          <a:xfrm flipH="1">
            <a:off x="4955649" y="1853394"/>
            <a:ext cx="1136905" cy="4663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 rot="20117480">
            <a:off x="4941178" y="186164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300s</a:t>
            </a:r>
            <a:endParaRPr lang="en-GB" dirty="0"/>
          </a:p>
        </p:txBody>
      </p:sp>
      <p:sp>
        <p:nvSpPr>
          <p:cNvPr id="78" name="Rectangle 77"/>
          <p:cNvSpPr/>
          <p:nvPr/>
        </p:nvSpPr>
        <p:spPr>
          <a:xfrm>
            <a:off x="333953" y="2657520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block destinations into file requests. Compute the path of least cost from available replicas.</a:t>
            </a:r>
            <a:endParaRPr lang="en-GB" sz="1200" dirty="0"/>
          </a:p>
        </p:txBody>
      </p:sp>
      <p:sp>
        <p:nvSpPr>
          <p:cNvPr id="79" name="Rounded Rectangle 78"/>
          <p:cNvSpPr/>
          <p:nvPr/>
        </p:nvSpPr>
        <p:spPr>
          <a:xfrm>
            <a:off x="3392430" y="2747782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FileRouter</a:t>
            </a:r>
            <a:endParaRPr lang="en-GB" sz="1400" dirty="0"/>
          </a:p>
        </p:txBody>
      </p:sp>
      <p:sp>
        <p:nvSpPr>
          <p:cNvPr id="80" name="Rounded Rectangle 79"/>
          <p:cNvSpPr/>
          <p:nvPr/>
        </p:nvSpPr>
        <p:spPr>
          <a:xfrm>
            <a:off x="6092554" y="2706427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81" name="Straight Connector 80"/>
          <p:cNvCxnSpPr>
            <a:stCxn id="78" idx="3"/>
            <a:endCxn id="79" idx="1"/>
          </p:cNvCxnSpPr>
          <p:nvPr/>
        </p:nvCxnSpPr>
        <p:spPr>
          <a:xfrm>
            <a:off x="2743198" y="2938179"/>
            <a:ext cx="649232" cy="435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79" idx="3"/>
            <a:endCxn id="80" idx="1"/>
          </p:cNvCxnSpPr>
          <p:nvPr/>
        </p:nvCxnSpPr>
        <p:spPr>
          <a:xfrm flipV="1">
            <a:off x="4961150" y="2938179"/>
            <a:ext cx="1131404" cy="4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endCxn id="79" idx="3"/>
          </p:cNvCxnSpPr>
          <p:nvPr/>
        </p:nvCxnSpPr>
        <p:spPr>
          <a:xfrm flipH="1">
            <a:off x="4961150" y="2511989"/>
            <a:ext cx="1131405" cy="4266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 rot="20419618">
            <a:off x="4871460" y="2418927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60s+r(10)</a:t>
            </a:r>
            <a:endParaRPr lang="en-GB" dirty="0"/>
          </a:p>
        </p:txBody>
      </p:sp>
      <p:sp>
        <p:nvSpPr>
          <p:cNvPr id="85" name="Rectangle 84"/>
          <p:cNvSpPr/>
          <p:nvPr/>
        </p:nvSpPr>
        <p:spPr>
          <a:xfrm>
            <a:off x="6249252" y="2860029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t_xfer_request</a:t>
            </a:r>
            <a:endParaRPr lang="en-GB" sz="1400" dirty="0"/>
          </a:p>
        </p:txBody>
      </p:sp>
      <p:sp>
        <p:nvSpPr>
          <p:cNvPr id="86" name="Rectangle 85"/>
          <p:cNvSpPr/>
          <p:nvPr/>
        </p:nvSpPr>
        <p:spPr>
          <a:xfrm>
            <a:off x="7794276" y="2860030"/>
            <a:ext cx="1089329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T_xfer_path</a:t>
            </a:r>
            <a:endParaRPr lang="en-GB" sz="1400" dirty="0"/>
          </a:p>
        </p:txBody>
      </p:sp>
      <p:sp>
        <p:nvSpPr>
          <p:cNvPr id="87" name="Rectangle 86"/>
          <p:cNvSpPr/>
          <p:nvPr/>
        </p:nvSpPr>
        <p:spPr>
          <a:xfrm>
            <a:off x="328818" y="3296467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Create transfer tasks from path segments.</a:t>
            </a:r>
            <a:endParaRPr lang="en-GB" sz="1200" dirty="0"/>
          </a:p>
        </p:txBody>
      </p:sp>
      <p:sp>
        <p:nvSpPr>
          <p:cNvPr id="88" name="Rounded Rectangle 87"/>
          <p:cNvSpPr/>
          <p:nvPr/>
        </p:nvSpPr>
        <p:spPr>
          <a:xfrm>
            <a:off x="3395362" y="3424475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FileIssue</a:t>
            </a:r>
            <a:endParaRPr lang="en-GB" sz="1400" dirty="0"/>
          </a:p>
        </p:txBody>
      </p:sp>
      <p:sp>
        <p:nvSpPr>
          <p:cNvPr id="89" name="Rounded Rectangle 88"/>
          <p:cNvSpPr/>
          <p:nvPr/>
        </p:nvSpPr>
        <p:spPr>
          <a:xfrm>
            <a:off x="6080829" y="3371856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90" name="Straight Connector 89"/>
          <p:cNvCxnSpPr>
            <a:stCxn id="87" idx="3"/>
            <a:endCxn id="88" idx="1"/>
          </p:cNvCxnSpPr>
          <p:nvPr/>
        </p:nvCxnSpPr>
        <p:spPr>
          <a:xfrm>
            <a:off x="2738063" y="3577126"/>
            <a:ext cx="657299" cy="3818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88" idx="3"/>
            <a:endCxn id="89" idx="1"/>
          </p:cNvCxnSpPr>
          <p:nvPr/>
        </p:nvCxnSpPr>
        <p:spPr>
          <a:xfrm flipV="1">
            <a:off x="4964082" y="3603608"/>
            <a:ext cx="1116747" cy="116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6213161" y="3477813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t_xfer_task</a:t>
            </a:r>
            <a:endParaRPr lang="en-GB" sz="1400" dirty="0"/>
          </a:p>
        </p:txBody>
      </p:sp>
      <p:cxnSp>
        <p:nvCxnSpPr>
          <p:cNvPr id="93" name="Straight Arrow Connector 92"/>
          <p:cNvCxnSpPr>
            <a:stCxn id="80" idx="1"/>
            <a:endCxn id="88" idx="3"/>
          </p:cNvCxnSpPr>
          <p:nvPr/>
        </p:nvCxnSpPr>
        <p:spPr>
          <a:xfrm flipH="1">
            <a:off x="4964082" y="2938179"/>
            <a:ext cx="1128472" cy="6771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 rot="19582402">
            <a:off x="4836577" y="3041164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60s+r(10)</a:t>
            </a:r>
            <a:endParaRPr lang="en-GB" dirty="0"/>
          </a:p>
        </p:txBody>
      </p:sp>
      <p:sp>
        <p:nvSpPr>
          <p:cNvPr id="138" name="Rectangle 137"/>
          <p:cNvSpPr/>
          <p:nvPr/>
        </p:nvSpPr>
        <p:spPr>
          <a:xfrm>
            <a:off x="9197250" y="1011811"/>
            <a:ext cx="208186" cy="22174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39" name="Rectangle 138"/>
          <p:cNvSpPr/>
          <p:nvPr/>
        </p:nvSpPr>
        <p:spPr>
          <a:xfrm>
            <a:off x="9197251" y="1337390"/>
            <a:ext cx="208186" cy="2301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40" name="Rectangle 139"/>
          <p:cNvSpPr/>
          <p:nvPr/>
        </p:nvSpPr>
        <p:spPr>
          <a:xfrm>
            <a:off x="9197251" y="1666753"/>
            <a:ext cx="20818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41" name="Rounded Rectangle 140"/>
          <p:cNvSpPr/>
          <p:nvPr/>
        </p:nvSpPr>
        <p:spPr>
          <a:xfrm>
            <a:off x="9179818" y="1978997"/>
            <a:ext cx="243050" cy="269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42" name="Rounded Rectangle 141"/>
          <p:cNvSpPr/>
          <p:nvPr/>
        </p:nvSpPr>
        <p:spPr>
          <a:xfrm>
            <a:off x="9179818" y="2333869"/>
            <a:ext cx="243050" cy="25643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43" name="TextBox 142"/>
          <p:cNvSpPr txBox="1"/>
          <p:nvPr/>
        </p:nvSpPr>
        <p:spPr>
          <a:xfrm>
            <a:off x="9346917" y="941072"/>
            <a:ext cx="2110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Dataset/Block tables</a:t>
            </a:r>
            <a:endParaRPr lang="en-GB" dirty="0"/>
          </a:p>
        </p:txBody>
      </p:sp>
      <p:sp>
        <p:nvSpPr>
          <p:cNvPr id="144" name="TextBox 143"/>
          <p:cNvSpPr txBox="1"/>
          <p:nvPr/>
        </p:nvSpPr>
        <p:spPr>
          <a:xfrm>
            <a:off x="9348652" y="1244993"/>
            <a:ext cx="1800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Node level tables</a:t>
            </a:r>
            <a:endParaRPr lang="en-GB" dirty="0"/>
          </a:p>
        </p:txBody>
      </p:sp>
      <p:sp>
        <p:nvSpPr>
          <p:cNvPr id="145" name="TextBox 144"/>
          <p:cNvSpPr txBox="1"/>
          <p:nvPr/>
        </p:nvSpPr>
        <p:spPr>
          <a:xfrm>
            <a:off x="9346917" y="1594477"/>
            <a:ext cx="161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File level tables</a:t>
            </a:r>
            <a:endParaRPr lang="en-GB" dirty="0"/>
          </a:p>
        </p:txBody>
      </p:sp>
      <p:sp>
        <p:nvSpPr>
          <p:cNvPr id="146" name="TextBox 145"/>
          <p:cNvSpPr txBox="1"/>
          <p:nvPr/>
        </p:nvSpPr>
        <p:spPr>
          <a:xfrm>
            <a:off x="9346518" y="1928861"/>
            <a:ext cx="146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Central Agent</a:t>
            </a:r>
            <a:endParaRPr lang="en-GB" dirty="0"/>
          </a:p>
        </p:txBody>
      </p:sp>
      <p:sp>
        <p:nvSpPr>
          <p:cNvPr id="147" name="TextBox 146"/>
          <p:cNvSpPr txBox="1"/>
          <p:nvPr/>
        </p:nvSpPr>
        <p:spPr>
          <a:xfrm>
            <a:off x="9346518" y="2278345"/>
            <a:ext cx="113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Site Agent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960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en-GB" sz="4000" dirty="0" smtClean="0"/>
              <a:t>PhEDEx workflow (Step By Step)</a:t>
            </a:r>
            <a:endParaRPr lang="en-GB" sz="4000" dirty="0" smtClean="0"/>
          </a:p>
        </p:txBody>
      </p:sp>
      <p:pic>
        <p:nvPicPr>
          <p:cNvPr id="59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60" name="Straight Connector 59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Rectangle 61"/>
          <p:cNvSpPr/>
          <p:nvPr/>
        </p:nvSpPr>
        <p:spPr>
          <a:xfrm>
            <a:off x="333955" y="104162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Request dataset or block transfer.</a:t>
            </a:r>
            <a:endParaRPr lang="en-GB" sz="1200" dirty="0"/>
          </a:p>
        </p:txBody>
      </p:sp>
      <p:sp>
        <p:nvSpPr>
          <p:cNvPr id="63" name="Rounded Rectangle 62"/>
          <p:cNvSpPr/>
          <p:nvPr/>
        </p:nvSpPr>
        <p:spPr>
          <a:xfrm>
            <a:off x="3419061" y="1106055"/>
            <a:ext cx="1568720" cy="3816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Web Pages / API</a:t>
            </a:r>
            <a:endParaRPr lang="en-GB" sz="1400" dirty="0"/>
          </a:p>
        </p:txBody>
      </p:sp>
      <p:sp>
        <p:nvSpPr>
          <p:cNvPr id="64" name="Rounded Rectangle 63"/>
          <p:cNvSpPr/>
          <p:nvPr/>
        </p:nvSpPr>
        <p:spPr>
          <a:xfrm>
            <a:off x="6092554" y="916048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5" name="Rectangle 64"/>
          <p:cNvSpPr/>
          <p:nvPr/>
        </p:nvSpPr>
        <p:spPr>
          <a:xfrm>
            <a:off x="6252465" y="1019566"/>
            <a:ext cx="1085840" cy="2288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T_req_xfer</a:t>
            </a:r>
            <a:endParaRPr lang="en-GB" sz="1400" dirty="0"/>
          </a:p>
        </p:txBody>
      </p:sp>
      <p:sp>
        <p:nvSpPr>
          <p:cNvPr id="66" name="Rectangle 65"/>
          <p:cNvSpPr/>
          <p:nvPr/>
        </p:nvSpPr>
        <p:spPr>
          <a:xfrm>
            <a:off x="7484917" y="1023954"/>
            <a:ext cx="1331446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T_req_dataset</a:t>
            </a:r>
            <a:endParaRPr lang="en-GB" sz="1400" dirty="0"/>
          </a:p>
        </p:txBody>
      </p:sp>
      <p:sp>
        <p:nvSpPr>
          <p:cNvPr id="67" name="Rectangle 66"/>
          <p:cNvSpPr/>
          <p:nvPr/>
        </p:nvSpPr>
        <p:spPr>
          <a:xfrm>
            <a:off x="6252465" y="1324042"/>
            <a:ext cx="1085840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T_req_node</a:t>
            </a:r>
            <a:endParaRPr lang="en-GB" sz="1400" dirty="0"/>
          </a:p>
        </p:txBody>
      </p:sp>
      <p:sp>
        <p:nvSpPr>
          <p:cNvPr id="68" name="Rectangle 67"/>
          <p:cNvSpPr/>
          <p:nvPr/>
        </p:nvSpPr>
        <p:spPr>
          <a:xfrm>
            <a:off x="7484917" y="1317741"/>
            <a:ext cx="1331446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T_req_decision</a:t>
            </a:r>
            <a:endParaRPr lang="en-GB" sz="1400" dirty="0"/>
          </a:p>
        </p:txBody>
      </p:sp>
      <p:cxnSp>
        <p:nvCxnSpPr>
          <p:cNvPr id="69" name="Straight Connector 68"/>
          <p:cNvCxnSpPr>
            <a:stCxn id="62" idx="3"/>
            <a:endCxn id="63" idx="1"/>
          </p:cNvCxnSpPr>
          <p:nvPr/>
        </p:nvCxnSpPr>
        <p:spPr>
          <a:xfrm>
            <a:off x="2743200" y="1284136"/>
            <a:ext cx="675861" cy="127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3" idx="3"/>
            <a:endCxn id="64" idx="1"/>
          </p:cNvCxnSpPr>
          <p:nvPr/>
        </p:nvCxnSpPr>
        <p:spPr>
          <a:xfrm flipV="1">
            <a:off x="4987781" y="1252404"/>
            <a:ext cx="1104773" cy="444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272188" y="960531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0s</a:t>
            </a:r>
            <a:endParaRPr lang="en-GB" dirty="0"/>
          </a:p>
        </p:txBody>
      </p:sp>
      <p:sp>
        <p:nvSpPr>
          <p:cNvPr id="72" name="Rectangle 71"/>
          <p:cNvSpPr/>
          <p:nvPr/>
        </p:nvSpPr>
        <p:spPr>
          <a:xfrm>
            <a:off x="333954" y="156749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approved requests into subscriptions.</a:t>
            </a:r>
            <a:endParaRPr lang="en-GB" sz="1200" dirty="0"/>
          </a:p>
        </p:txBody>
      </p:sp>
      <p:sp>
        <p:nvSpPr>
          <p:cNvPr id="73" name="Rounded Rectangle 72"/>
          <p:cNvSpPr/>
          <p:nvPr/>
        </p:nvSpPr>
        <p:spPr>
          <a:xfrm>
            <a:off x="3421138" y="1624221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RequestAllocator</a:t>
            </a:r>
            <a:endParaRPr lang="en-GB" sz="1400" dirty="0"/>
          </a:p>
        </p:txBody>
      </p:sp>
      <p:sp>
        <p:nvSpPr>
          <p:cNvPr id="74" name="Rounded Rectangle 73"/>
          <p:cNvSpPr/>
          <p:nvPr/>
        </p:nvSpPr>
        <p:spPr>
          <a:xfrm>
            <a:off x="6092554" y="162164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75" name="Rectangle 74"/>
          <p:cNvSpPr/>
          <p:nvPr/>
        </p:nvSpPr>
        <p:spPr>
          <a:xfrm>
            <a:off x="6679649" y="1746910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T_dps_subscription</a:t>
            </a:r>
            <a:endParaRPr lang="en-GB" sz="1400" dirty="0"/>
          </a:p>
        </p:txBody>
      </p:sp>
      <p:cxnSp>
        <p:nvCxnSpPr>
          <p:cNvPr id="76" name="Straight Connector 75"/>
          <p:cNvCxnSpPr>
            <a:stCxn id="72" idx="3"/>
            <a:endCxn id="73" idx="1"/>
          </p:cNvCxnSpPr>
          <p:nvPr/>
        </p:nvCxnSpPr>
        <p:spPr>
          <a:xfrm>
            <a:off x="2743199" y="1810006"/>
            <a:ext cx="677939" cy="5047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4" idx="1"/>
            <a:endCxn id="73" idx="3"/>
          </p:cNvCxnSpPr>
          <p:nvPr/>
        </p:nvCxnSpPr>
        <p:spPr>
          <a:xfrm flipH="1">
            <a:off x="4989858" y="1252404"/>
            <a:ext cx="1102696" cy="56264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 rot="19866235">
            <a:off x="4860430" y="131714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cxnSp>
        <p:nvCxnSpPr>
          <p:cNvPr id="79" name="Straight Arrow Connector 78"/>
          <p:cNvCxnSpPr>
            <a:stCxn id="73" idx="3"/>
            <a:endCxn id="74" idx="1"/>
          </p:cNvCxnSpPr>
          <p:nvPr/>
        </p:nvCxnSpPr>
        <p:spPr>
          <a:xfrm>
            <a:off x="4989858" y="1815053"/>
            <a:ext cx="1102696" cy="383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333953" y="2108645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subscriptions into block destinations.</a:t>
            </a:r>
            <a:endParaRPr lang="en-GB" sz="1200" dirty="0"/>
          </a:p>
        </p:txBody>
      </p:sp>
      <p:sp>
        <p:nvSpPr>
          <p:cNvPr id="81" name="Rounded Rectangle 80"/>
          <p:cNvSpPr/>
          <p:nvPr/>
        </p:nvSpPr>
        <p:spPr>
          <a:xfrm>
            <a:off x="3404398" y="2135177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BlockAllocator</a:t>
            </a:r>
            <a:endParaRPr lang="en-GB" sz="1400" dirty="0"/>
          </a:p>
        </p:txBody>
      </p:sp>
      <p:sp>
        <p:nvSpPr>
          <p:cNvPr id="82" name="Rounded Rectangle 81"/>
          <p:cNvSpPr/>
          <p:nvPr/>
        </p:nvSpPr>
        <p:spPr>
          <a:xfrm>
            <a:off x="6092554" y="214793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3" name="Rectangle 82"/>
          <p:cNvSpPr/>
          <p:nvPr/>
        </p:nvSpPr>
        <p:spPr>
          <a:xfrm>
            <a:off x="6679649" y="2265252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T_dps_block_dest</a:t>
            </a:r>
            <a:endParaRPr lang="en-GB" sz="1400" dirty="0"/>
          </a:p>
        </p:txBody>
      </p:sp>
      <p:cxnSp>
        <p:nvCxnSpPr>
          <p:cNvPr id="84" name="Straight Connector 83"/>
          <p:cNvCxnSpPr>
            <a:stCxn id="80" idx="3"/>
            <a:endCxn id="81" idx="1"/>
          </p:cNvCxnSpPr>
          <p:nvPr/>
        </p:nvCxnSpPr>
        <p:spPr>
          <a:xfrm flipV="1">
            <a:off x="2743198" y="2326009"/>
            <a:ext cx="661200" cy="251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81" idx="3"/>
            <a:endCxn id="82" idx="1"/>
          </p:cNvCxnSpPr>
          <p:nvPr/>
        </p:nvCxnSpPr>
        <p:spPr>
          <a:xfrm>
            <a:off x="4973118" y="2326009"/>
            <a:ext cx="1119436" cy="536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74" idx="1"/>
          </p:cNvCxnSpPr>
          <p:nvPr/>
        </p:nvCxnSpPr>
        <p:spPr>
          <a:xfrm flipH="1">
            <a:off x="4955649" y="1853394"/>
            <a:ext cx="1136905" cy="4663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 rot="20117480">
            <a:off x="4941178" y="186164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300s</a:t>
            </a:r>
            <a:endParaRPr lang="en-GB" dirty="0"/>
          </a:p>
        </p:txBody>
      </p:sp>
      <p:sp>
        <p:nvSpPr>
          <p:cNvPr id="88" name="Rectangle 87"/>
          <p:cNvSpPr/>
          <p:nvPr/>
        </p:nvSpPr>
        <p:spPr>
          <a:xfrm>
            <a:off x="333953" y="2657520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block destinations into file requests. Compute the path of least cost from available replicas.</a:t>
            </a:r>
            <a:endParaRPr lang="en-GB" sz="1200" dirty="0"/>
          </a:p>
        </p:txBody>
      </p:sp>
      <p:sp>
        <p:nvSpPr>
          <p:cNvPr id="89" name="Rounded Rectangle 88"/>
          <p:cNvSpPr/>
          <p:nvPr/>
        </p:nvSpPr>
        <p:spPr>
          <a:xfrm>
            <a:off x="3392430" y="2747782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FileRouter</a:t>
            </a:r>
            <a:endParaRPr lang="en-GB" sz="1400" dirty="0"/>
          </a:p>
        </p:txBody>
      </p:sp>
      <p:sp>
        <p:nvSpPr>
          <p:cNvPr id="90" name="Rounded Rectangle 89"/>
          <p:cNvSpPr/>
          <p:nvPr/>
        </p:nvSpPr>
        <p:spPr>
          <a:xfrm>
            <a:off x="6092554" y="2706427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91" name="Straight Connector 90"/>
          <p:cNvCxnSpPr>
            <a:stCxn id="88" idx="3"/>
            <a:endCxn id="89" idx="1"/>
          </p:cNvCxnSpPr>
          <p:nvPr/>
        </p:nvCxnSpPr>
        <p:spPr>
          <a:xfrm>
            <a:off x="2743198" y="2938179"/>
            <a:ext cx="649232" cy="435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89" idx="3"/>
            <a:endCxn id="90" idx="1"/>
          </p:cNvCxnSpPr>
          <p:nvPr/>
        </p:nvCxnSpPr>
        <p:spPr>
          <a:xfrm flipV="1">
            <a:off x="4961150" y="2938179"/>
            <a:ext cx="1131404" cy="4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endCxn id="89" idx="3"/>
          </p:cNvCxnSpPr>
          <p:nvPr/>
        </p:nvCxnSpPr>
        <p:spPr>
          <a:xfrm flipH="1">
            <a:off x="4961150" y="2511989"/>
            <a:ext cx="1131405" cy="4266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 rot="20419618">
            <a:off x="4871460" y="2418927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60s+r(10)</a:t>
            </a:r>
            <a:endParaRPr lang="en-GB" dirty="0"/>
          </a:p>
        </p:txBody>
      </p:sp>
      <p:sp>
        <p:nvSpPr>
          <p:cNvPr id="95" name="Rectangle 94"/>
          <p:cNvSpPr/>
          <p:nvPr/>
        </p:nvSpPr>
        <p:spPr>
          <a:xfrm>
            <a:off x="6249252" y="2860029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t_xfer_request</a:t>
            </a:r>
            <a:endParaRPr lang="en-GB" sz="1400" dirty="0"/>
          </a:p>
        </p:txBody>
      </p:sp>
      <p:sp>
        <p:nvSpPr>
          <p:cNvPr id="96" name="Rectangle 95"/>
          <p:cNvSpPr/>
          <p:nvPr/>
        </p:nvSpPr>
        <p:spPr>
          <a:xfrm>
            <a:off x="7794276" y="2860030"/>
            <a:ext cx="1089329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T_xfer_path</a:t>
            </a:r>
            <a:endParaRPr lang="en-GB" sz="1400" dirty="0"/>
          </a:p>
        </p:txBody>
      </p:sp>
      <p:sp>
        <p:nvSpPr>
          <p:cNvPr id="97" name="Rectangle 96"/>
          <p:cNvSpPr/>
          <p:nvPr/>
        </p:nvSpPr>
        <p:spPr>
          <a:xfrm>
            <a:off x="328818" y="3296467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Create transfer tasks from path segments.</a:t>
            </a:r>
            <a:endParaRPr lang="en-GB" sz="1200" dirty="0"/>
          </a:p>
        </p:txBody>
      </p:sp>
      <p:sp>
        <p:nvSpPr>
          <p:cNvPr id="98" name="Rounded Rectangle 97"/>
          <p:cNvSpPr/>
          <p:nvPr/>
        </p:nvSpPr>
        <p:spPr>
          <a:xfrm>
            <a:off x="3395362" y="3424475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FileIssue</a:t>
            </a:r>
            <a:endParaRPr lang="en-GB" sz="1400" dirty="0"/>
          </a:p>
        </p:txBody>
      </p:sp>
      <p:sp>
        <p:nvSpPr>
          <p:cNvPr id="99" name="Rounded Rectangle 98"/>
          <p:cNvSpPr/>
          <p:nvPr/>
        </p:nvSpPr>
        <p:spPr>
          <a:xfrm>
            <a:off x="6080829" y="3371856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100" name="Straight Connector 99"/>
          <p:cNvCxnSpPr>
            <a:stCxn id="97" idx="3"/>
            <a:endCxn id="98" idx="1"/>
          </p:cNvCxnSpPr>
          <p:nvPr/>
        </p:nvCxnSpPr>
        <p:spPr>
          <a:xfrm>
            <a:off x="2738063" y="3577126"/>
            <a:ext cx="657299" cy="3818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98" idx="3"/>
            <a:endCxn id="99" idx="1"/>
          </p:cNvCxnSpPr>
          <p:nvPr/>
        </p:nvCxnSpPr>
        <p:spPr>
          <a:xfrm flipV="1">
            <a:off x="4964082" y="3603608"/>
            <a:ext cx="1116747" cy="116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6213161" y="3477813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t_xfer_task</a:t>
            </a:r>
            <a:endParaRPr lang="en-GB" sz="1400" dirty="0"/>
          </a:p>
        </p:txBody>
      </p:sp>
      <p:cxnSp>
        <p:nvCxnSpPr>
          <p:cNvPr id="103" name="Straight Arrow Connector 102"/>
          <p:cNvCxnSpPr>
            <a:stCxn id="90" idx="1"/>
            <a:endCxn id="98" idx="3"/>
          </p:cNvCxnSpPr>
          <p:nvPr/>
        </p:nvCxnSpPr>
        <p:spPr>
          <a:xfrm flipH="1">
            <a:off x="4964082" y="2938179"/>
            <a:ext cx="1128472" cy="6771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 rot="19582402">
            <a:off x="4836577" y="3041164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60s+r(10)</a:t>
            </a:r>
            <a:endParaRPr lang="en-GB" dirty="0"/>
          </a:p>
        </p:txBody>
      </p:sp>
      <p:sp>
        <p:nvSpPr>
          <p:cNvPr id="105" name="Rectangle 104"/>
          <p:cNvSpPr/>
          <p:nvPr/>
        </p:nvSpPr>
        <p:spPr>
          <a:xfrm>
            <a:off x="328817" y="3943419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Execute staging, transfer, migrations.</a:t>
            </a:r>
            <a:endParaRPr lang="en-GB" sz="1200" dirty="0"/>
          </a:p>
        </p:txBody>
      </p:sp>
      <p:sp>
        <p:nvSpPr>
          <p:cNvPr id="106" name="Rounded Rectangle 105"/>
          <p:cNvSpPr/>
          <p:nvPr/>
        </p:nvSpPr>
        <p:spPr>
          <a:xfrm>
            <a:off x="3372840" y="3889990"/>
            <a:ext cx="1568720" cy="6798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FileDownload</a:t>
            </a:r>
          </a:p>
          <a:p>
            <a:pPr algn="ctr"/>
            <a:r>
              <a:rPr lang="en-GB" sz="1400" dirty="0" smtClean="0"/>
              <a:t>File Stager</a:t>
            </a:r>
          </a:p>
          <a:p>
            <a:pPr algn="ctr"/>
            <a:r>
              <a:rPr lang="en-GB" sz="1400" dirty="0" smtClean="0"/>
              <a:t>File Migrate</a:t>
            </a:r>
            <a:endParaRPr lang="en-GB" sz="1400" dirty="0"/>
          </a:p>
        </p:txBody>
      </p:sp>
      <p:cxnSp>
        <p:nvCxnSpPr>
          <p:cNvPr id="107" name="Straight Connector 106"/>
          <p:cNvCxnSpPr>
            <a:stCxn id="105" idx="3"/>
            <a:endCxn id="106" idx="1"/>
          </p:cNvCxnSpPr>
          <p:nvPr/>
        </p:nvCxnSpPr>
        <p:spPr>
          <a:xfrm>
            <a:off x="2738062" y="4224078"/>
            <a:ext cx="634778" cy="585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106" idx="3"/>
            <a:endCxn id="111" idx="1"/>
          </p:cNvCxnSpPr>
          <p:nvPr/>
        </p:nvCxnSpPr>
        <p:spPr>
          <a:xfrm>
            <a:off x="4941560" y="4229928"/>
            <a:ext cx="1139269" cy="146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99" idx="1"/>
            <a:endCxn id="106" idx="3"/>
          </p:cNvCxnSpPr>
          <p:nvPr/>
        </p:nvCxnSpPr>
        <p:spPr>
          <a:xfrm flipH="1">
            <a:off x="4941560" y="3603608"/>
            <a:ext cx="1139269" cy="6263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 rot="19582402">
            <a:off x="4885931" y="3717467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sp>
        <p:nvSpPr>
          <p:cNvPr id="111" name="Rounded Rectangle 110"/>
          <p:cNvSpPr/>
          <p:nvPr/>
        </p:nvSpPr>
        <p:spPr>
          <a:xfrm>
            <a:off x="6080829" y="3908212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12" name="Rectangle 111"/>
          <p:cNvSpPr/>
          <p:nvPr/>
        </p:nvSpPr>
        <p:spPr>
          <a:xfrm>
            <a:off x="6240740" y="4011730"/>
            <a:ext cx="1085840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Task_export</a:t>
            </a:r>
            <a:endParaRPr lang="en-GB" sz="1400" dirty="0"/>
          </a:p>
        </p:txBody>
      </p:sp>
      <p:sp>
        <p:nvSpPr>
          <p:cNvPr id="113" name="Rectangle 112"/>
          <p:cNvSpPr/>
          <p:nvPr/>
        </p:nvSpPr>
        <p:spPr>
          <a:xfrm>
            <a:off x="7473192" y="4016118"/>
            <a:ext cx="1331446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Task_inxfer</a:t>
            </a:r>
            <a:endParaRPr lang="en-GB" sz="1400" dirty="0"/>
          </a:p>
        </p:txBody>
      </p:sp>
      <p:sp>
        <p:nvSpPr>
          <p:cNvPr id="114" name="Rectangle 113"/>
          <p:cNvSpPr/>
          <p:nvPr/>
        </p:nvSpPr>
        <p:spPr>
          <a:xfrm>
            <a:off x="6240740" y="4316206"/>
            <a:ext cx="1085840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Task_done</a:t>
            </a:r>
            <a:endParaRPr lang="en-GB" sz="1400" dirty="0"/>
          </a:p>
        </p:txBody>
      </p:sp>
      <p:sp>
        <p:nvSpPr>
          <p:cNvPr id="115" name="Rectangle 114"/>
          <p:cNvSpPr/>
          <p:nvPr/>
        </p:nvSpPr>
        <p:spPr>
          <a:xfrm>
            <a:off x="7473192" y="4309905"/>
            <a:ext cx="1331446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Task_error</a:t>
            </a:r>
            <a:endParaRPr lang="en-GB" sz="1400" dirty="0"/>
          </a:p>
        </p:txBody>
      </p:sp>
      <p:sp>
        <p:nvSpPr>
          <p:cNvPr id="148" name="Rectangle 147"/>
          <p:cNvSpPr/>
          <p:nvPr/>
        </p:nvSpPr>
        <p:spPr>
          <a:xfrm>
            <a:off x="9197250" y="1011811"/>
            <a:ext cx="208186" cy="22174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49" name="Rectangle 148"/>
          <p:cNvSpPr/>
          <p:nvPr/>
        </p:nvSpPr>
        <p:spPr>
          <a:xfrm>
            <a:off x="9197251" y="1337390"/>
            <a:ext cx="208186" cy="2301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50" name="Rectangle 149"/>
          <p:cNvSpPr/>
          <p:nvPr/>
        </p:nvSpPr>
        <p:spPr>
          <a:xfrm>
            <a:off x="9197251" y="1666753"/>
            <a:ext cx="20818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51" name="Rounded Rectangle 150"/>
          <p:cNvSpPr/>
          <p:nvPr/>
        </p:nvSpPr>
        <p:spPr>
          <a:xfrm>
            <a:off x="9179818" y="1978997"/>
            <a:ext cx="243050" cy="269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52" name="Rounded Rectangle 151"/>
          <p:cNvSpPr/>
          <p:nvPr/>
        </p:nvSpPr>
        <p:spPr>
          <a:xfrm>
            <a:off x="9179818" y="2333869"/>
            <a:ext cx="243050" cy="25643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53" name="TextBox 152"/>
          <p:cNvSpPr txBox="1"/>
          <p:nvPr/>
        </p:nvSpPr>
        <p:spPr>
          <a:xfrm>
            <a:off x="9346917" y="941072"/>
            <a:ext cx="2110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Dataset/Block tables</a:t>
            </a:r>
            <a:endParaRPr lang="en-GB" dirty="0"/>
          </a:p>
        </p:txBody>
      </p:sp>
      <p:sp>
        <p:nvSpPr>
          <p:cNvPr id="154" name="TextBox 153"/>
          <p:cNvSpPr txBox="1"/>
          <p:nvPr/>
        </p:nvSpPr>
        <p:spPr>
          <a:xfrm>
            <a:off x="9348652" y="1244993"/>
            <a:ext cx="1800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Node level tables</a:t>
            </a:r>
            <a:endParaRPr lang="en-GB" dirty="0"/>
          </a:p>
        </p:txBody>
      </p:sp>
      <p:sp>
        <p:nvSpPr>
          <p:cNvPr id="155" name="TextBox 154"/>
          <p:cNvSpPr txBox="1"/>
          <p:nvPr/>
        </p:nvSpPr>
        <p:spPr>
          <a:xfrm>
            <a:off x="9346917" y="1594477"/>
            <a:ext cx="161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File level tables</a:t>
            </a:r>
            <a:endParaRPr lang="en-GB" dirty="0"/>
          </a:p>
        </p:txBody>
      </p:sp>
      <p:sp>
        <p:nvSpPr>
          <p:cNvPr id="156" name="TextBox 155"/>
          <p:cNvSpPr txBox="1"/>
          <p:nvPr/>
        </p:nvSpPr>
        <p:spPr>
          <a:xfrm>
            <a:off x="9346518" y="1928861"/>
            <a:ext cx="146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Central Agent</a:t>
            </a:r>
            <a:endParaRPr lang="en-GB" dirty="0"/>
          </a:p>
        </p:txBody>
      </p:sp>
      <p:sp>
        <p:nvSpPr>
          <p:cNvPr id="157" name="TextBox 156"/>
          <p:cNvSpPr txBox="1"/>
          <p:nvPr/>
        </p:nvSpPr>
        <p:spPr>
          <a:xfrm>
            <a:off x="9346518" y="2278345"/>
            <a:ext cx="113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Site Agent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220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2"/>
          <p:cNvSpPr txBox="1">
            <a:spLocks/>
          </p:cNvSpPr>
          <p:nvPr/>
        </p:nvSpPr>
        <p:spPr>
          <a:xfrm>
            <a:off x="160421" y="-9860"/>
            <a:ext cx="9010739" cy="862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smtClean="0"/>
              <a:t>PhEDEx workflow (Step By Step)</a:t>
            </a:r>
            <a:endParaRPr lang="en-GB" sz="4000" dirty="0"/>
          </a:p>
        </p:txBody>
      </p:sp>
      <p:pic>
        <p:nvPicPr>
          <p:cNvPr id="70" name="Content Placeholder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  <a:prstGeom prst="rect">
            <a:avLst/>
          </a:prstGeom>
        </p:spPr>
      </p:pic>
      <p:cxnSp>
        <p:nvCxnSpPr>
          <p:cNvPr id="71" name="Straight Connector 70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2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/>
          <p:cNvSpPr/>
          <p:nvPr/>
        </p:nvSpPr>
        <p:spPr>
          <a:xfrm>
            <a:off x="333955" y="104162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Request dataset or block transfer.</a:t>
            </a:r>
            <a:endParaRPr lang="en-GB" sz="1200" dirty="0"/>
          </a:p>
        </p:txBody>
      </p:sp>
      <p:sp>
        <p:nvSpPr>
          <p:cNvPr id="74" name="Rounded Rectangle 73"/>
          <p:cNvSpPr/>
          <p:nvPr/>
        </p:nvSpPr>
        <p:spPr>
          <a:xfrm>
            <a:off x="3419061" y="1106055"/>
            <a:ext cx="1568720" cy="3816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Web Pages / API</a:t>
            </a:r>
            <a:endParaRPr lang="en-GB" sz="1400" dirty="0"/>
          </a:p>
        </p:txBody>
      </p:sp>
      <p:sp>
        <p:nvSpPr>
          <p:cNvPr id="75" name="Rounded Rectangle 74"/>
          <p:cNvSpPr/>
          <p:nvPr/>
        </p:nvSpPr>
        <p:spPr>
          <a:xfrm>
            <a:off x="6092554" y="916048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76" name="Rectangle 75"/>
          <p:cNvSpPr/>
          <p:nvPr/>
        </p:nvSpPr>
        <p:spPr>
          <a:xfrm>
            <a:off x="6252465" y="1019566"/>
            <a:ext cx="1085840" cy="2288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T_req_xfer</a:t>
            </a:r>
            <a:endParaRPr lang="en-GB" sz="1400" dirty="0"/>
          </a:p>
        </p:txBody>
      </p:sp>
      <p:sp>
        <p:nvSpPr>
          <p:cNvPr id="77" name="Rectangle 76"/>
          <p:cNvSpPr/>
          <p:nvPr/>
        </p:nvSpPr>
        <p:spPr>
          <a:xfrm>
            <a:off x="7484917" y="1023954"/>
            <a:ext cx="1331446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T_req_dataset</a:t>
            </a:r>
            <a:endParaRPr lang="en-GB" sz="1400" dirty="0"/>
          </a:p>
        </p:txBody>
      </p:sp>
      <p:sp>
        <p:nvSpPr>
          <p:cNvPr id="78" name="Rectangle 77"/>
          <p:cNvSpPr/>
          <p:nvPr/>
        </p:nvSpPr>
        <p:spPr>
          <a:xfrm>
            <a:off x="6252465" y="1324042"/>
            <a:ext cx="1085840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T_req_node</a:t>
            </a:r>
            <a:endParaRPr lang="en-GB" sz="1400" dirty="0"/>
          </a:p>
        </p:txBody>
      </p:sp>
      <p:sp>
        <p:nvSpPr>
          <p:cNvPr id="79" name="Rectangle 78"/>
          <p:cNvSpPr/>
          <p:nvPr/>
        </p:nvSpPr>
        <p:spPr>
          <a:xfrm>
            <a:off x="7484917" y="1317741"/>
            <a:ext cx="1331446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T_req_decision</a:t>
            </a:r>
            <a:endParaRPr lang="en-GB" sz="1400" dirty="0"/>
          </a:p>
        </p:txBody>
      </p:sp>
      <p:cxnSp>
        <p:nvCxnSpPr>
          <p:cNvPr id="80" name="Straight Connector 79"/>
          <p:cNvCxnSpPr>
            <a:stCxn id="73" idx="3"/>
            <a:endCxn id="74" idx="1"/>
          </p:cNvCxnSpPr>
          <p:nvPr/>
        </p:nvCxnSpPr>
        <p:spPr>
          <a:xfrm>
            <a:off x="2743200" y="1284136"/>
            <a:ext cx="675861" cy="127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74" idx="3"/>
            <a:endCxn id="75" idx="1"/>
          </p:cNvCxnSpPr>
          <p:nvPr/>
        </p:nvCxnSpPr>
        <p:spPr>
          <a:xfrm flipV="1">
            <a:off x="4987781" y="1252404"/>
            <a:ext cx="1104773" cy="444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272188" y="960531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0s</a:t>
            </a:r>
            <a:endParaRPr lang="en-GB" dirty="0"/>
          </a:p>
        </p:txBody>
      </p:sp>
      <p:sp>
        <p:nvSpPr>
          <p:cNvPr id="83" name="Rectangle 82"/>
          <p:cNvSpPr/>
          <p:nvPr/>
        </p:nvSpPr>
        <p:spPr>
          <a:xfrm>
            <a:off x="333954" y="156749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approved requests into subscriptions.</a:t>
            </a:r>
            <a:endParaRPr lang="en-GB" sz="1200" dirty="0"/>
          </a:p>
        </p:txBody>
      </p:sp>
      <p:sp>
        <p:nvSpPr>
          <p:cNvPr id="84" name="Rounded Rectangle 83"/>
          <p:cNvSpPr/>
          <p:nvPr/>
        </p:nvSpPr>
        <p:spPr>
          <a:xfrm>
            <a:off x="3421138" y="1624221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RequestAllocator</a:t>
            </a:r>
            <a:endParaRPr lang="en-GB" sz="1400" dirty="0"/>
          </a:p>
        </p:txBody>
      </p:sp>
      <p:sp>
        <p:nvSpPr>
          <p:cNvPr id="85" name="Rounded Rectangle 84"/>
          <p:cNvSpPr/>
          <p:nvPr/>
        </p:nvSpPr>
        <p:spPr>
          <a:xfrm>
            <a:off x="6092554" y="162164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6" name="Rectangle 85"/>
          <p:cNvSpPr/>
          <p:nvPr/>
        </p:nvSpPr>
        <p:spPr>
          <a:xfrm>
            <a:off x="6679649" y="1746910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T_dps_subscription</a:t>
            </a:r>
            <a:endParaRPr lang="en-GB" sz="1400" dirty="0"/>
          </a:p>
        </p:txBody>
      </p:sp>
      <p:cxnSp>
        <p:nvCxnSpPr>
          <p:cNvPr id="87" name="Straight Connector 86"/>
          <p:cNvCxnSpPr>
            <a:stCxn id="83" idx="3"/>
            <a:endCxn id="84" idx="1"/>
          </p:cNvCxnSpPr>
          <p:nvPr/>
        </p:nvCxnSpPr>
        <p:spPr>
          <a:xfrm>
            <a:off x="2743199" y="1810006"/>
            <a:ext cx="677939" cy="5047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75" idx="1"/>
            <a:endCxn id="84" idx="3"/>
          </p:cNvCxnSpPr>
          <p:nvPr/>
        </p:nvCxnSpPr>
        <p:spPr>
          <a:xfrm flipH="1">
            <a:off x="4989858" y="1252404"/>
            <a:ext cx="1102696" cy="56264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 rot="19866235">
            <a:off x="4860430" y="131714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cxnSp>
        <p:nvCxnSpPr>
          <p:cNvPr id="90" name="Straight Arrow Connector 89"/>
          <p:cNvCxnSpPr>
            <a:stCxn id="84" idx="3"/>
            <a:endCxn id="85" idx="1"/>
          </p:cNvCxnSpPr>
          <p:nvPr/>
        </p:nvCxnSpPr>
        <p:spPr>
          <a:xfrm>
            <a:off x="4989858" y="1815053"/>
            <a:ext cx="1102696" cy="383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333953" y="2108645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subscriptions into block destinations.</a:t>
            </a:r>
            <a:endParaRPr lang="en-GB" sz="1200" dirty="0"/>
          </a:p>
        </p:txBody>
      </p:sp>
      <p:sp>
        <p:nvSpPr>
          <p:cNvPr id="92" name="Rounded Rectangle 91"/>
          <p:cNvSpPr/>
          <p:nvPr/>
        </p:nvSpPr>
        <p:spPr>
          <a:xfrm>
            <a:off x="3404398" y="2135177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BlockAllocator</a:t>
            </a:r>
            <a:endParaRPr lang="en-GB" sz="1400" dirty="0"/>
          </a:p>
        </p:txBody>
      </p:sp>
      <p:sp>
        <p:nvSpPr>
          <p:cNvPr id="93" name="Rounded Rectangle 92"/>
          <p:cNvSpPr/>
          <p:nvPr/>
        </p:nvSpPr>
        <p:spPr>
          <a:xfrm>
            <a:off x="6092554" y="214793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4" name="Rectangle 93"/>
          <p:cNvSpPr/>
          <p:nvPr/>
        </p:nvSpPr>
        <p:spPr>
          <a:xfrm>
            <a:off x="6679649" y="2265252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T_dps_block_dest</a:t>
            </a:r>
            <a:endParaRPr lang="en-GB" sz="1400" dirty="0"/>
          </a:p>
        </p:txBody>
      </p:sp>
      <p:cxnSp>
        <p:nvCxnSpPr>
          <p:cNvPr id="95" name="Straight Connector 94"/>
          <p:cNvCxnSpPr>
            <a:stCxn id="91" idx="3"/>
            <a:endCxn id="92" idx="1"/>
          </p:cNvCxnSpPr>
          <p:nvPr/>
        </p:nvCxnSpPr>
        <p:spPr>
          <a:xfrm flipV="1">
            <a:off x="2743198" y="2326009"/>
            <a:ext cx="661200" cy="251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92" idx="3"/>
            <a:endCxn id="93" idx="1"/>
          </p:cNvCxnSpPr>
          <p:nvPr/>
        </p:nvCxnSpPr>
        <p:spPr>
          <a:xfrm>
            <a:off x="4973118" y="2326009"/>
            <a:ext cx="1119436" cy="536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85" idx="1"/>
          </p:cNvCxnSpPr>
          <p:nvPr/>
        </p:nvCxnSpPr>
        <p:spPr>
          <a:xfrm flipH="1">
            <a:off x="4955649" y="1853394"/>
            <a:ext cx="1136905" cy="4663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 rot="20117480">
            <a:off x="4941178" y="186164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300s</a:t>
            </a:r>
            <a:endParaRPr lang="en-GB" dirty="0"/>
          </a:p>
        </p:txBody>
      </p:sp>
      <p:sp>
        <p:nvSpPr>
          <p:cNvPr id="99" name="Rectangle 98"/>
          <p:cNvSpPr/>
          <p:nvPr/>
        </p:nvSpPr>
        <p:spPr>
          <a:xfrm>
            <a:off x="333953" y="2657520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block destinations into file requests. Compute the path of least cost from available replicas.</a:t>
            </a:r>
            <a:endParaRPr lang="en-GB" sz="1200" dirty="0"/>
          </a:p>
        </p:txBody>
      </p:sp>
      <p:sp>
        <p:nvSpPr>
          <p:cNvPr id="100" name="Rounded Rectangle 99"/>
          <p:cNvSpPr/>
          <p:nvPr/>
        </p:nvSpPr>
        <p:spPr>
          <a:xfrm>
            <a:off x="3392430" y="2747782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FileRouter</a:t>
            </a:r>
            <a:endParaRPr lang="en-GB" sz="1400" dirty="0"/>
          </a:p>
        </p:txBody>
      </p:sp>
      <p:sp>
        <p:nvSpPr>
          <p:cNvPr id="101" name="Rounded Rectangle 100"/>
          <p:cNvSpPr/>
          <p:nvPr/>
        </p:nvSpPr>
        <p:spPr>
          <a:xfrm>
            <a:off x="6092554" y="2706427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102" name="Straight Connector 101"/>
          <p:cNvCxnSpPr>
            <a:stCxn id="99" idx="3"/>
            <a:endCxn id="100" idx="1"/>
          </p:cNvCxnSpPr>
          <p:nvPr/>
        </p:nvCxnSpPr>
        <p:spPr>
          <a:xfrm>
            <a:off x="2743198" y="2938179"/>
            <a:ext cx="649232" cy="435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100" idx="3"/>
            <a:endCxn id="101" idx="1"/>
          </p:cNvCxnSpPr>
          <p:nvPr/>
        </p:nvCxnSpPr>
        <p:spPr>
          <a:xfrm flipV="1">
            <a:off x="4961150" y="2938179"/>
            <a:ext cx="1131404" cy="4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endCxn id="100" idx="3"/>
          </p:cNvCxnSpPr>
          <p:nvPr/>
        </p:nvCxnSpPr>
        <p:spPr>
          <a:xfrm flipH="1">
            <a:off x="4961150" y="2511989"/>
            <a:ext cx="1131405" cy="4266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 rot="20419618">
            <a:off x="4871460" y="2418927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60s+r(10)</a:t>
            </a:r>
            <a:endParaRPr lang="en-GB" dirty="0"/>
          </a:p>
        </p:txBody>
      </p:sp>
      <p:sp>
        <p:nvSpPr>
          <p:cNvPr id="106" name="Rectangle 105"/>
          <p:cNvSpPr/>
          <p:nvPr/>
        </p:nvSpPr>
        <p:spPr>
          <a:xfrm>
            <a:off x="6249252" y="2860029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t_xfer_request</a:t>
            </a:r>
            <a:endParaRPr lang="en-GB" sz="1400" dirty="0"/>
          </a:p>
        </p:txBody>
      </p:sp>
      <p:sp>
        <p:nvSpPr>
          <p:cNvPr id="107" name="Rectangle 106"/>
          <p:cNvSpPr/>
          <p:nvPr/>
        </p:nvSpPr>
        <p:spPr>
          <a:xfrm>
            <a:off x="7794276" y="2860030"/>
            <a:ext cx="1089329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T_xfer_path</a:t>
            </a:r>
            <a:endParaRPr lang="en-GB" sz="1400" dirty="0"/>
          </a:p>
        </p:txBody>
      </p:sp>
      <p:sp>
        <p:nvSpPr>
          <p:cNvPr id="108" name="Rectangle 107"/>
          <p:cNvSpPr/>
          <p:nvPr/>
        </p:nvSpPr>
        <p:spPr>
          <a:xfrm>
            <a:off x="328818" y="3296467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Create transfer tasks from path segments.</a:t>
            </a:r>
            <a:endParaRPr lang="en-GB" sz="1200" dirty="0"/>
          </a:p>
        </p:txBody>
      </p:sp>
      <p:sp>
        <p:nvSpPr>
          <p:cNvPr id="109" name="Rounded Rectangle 108"/>
          <p:cNvSpPr/>
          <p:nvPr/>
        </p:nvSpPr>
        <p:spPr>
          <a:xfrm>
            <a:off x="3395362" y="3424475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FileIssue</a:t>
            </a:r>
            <a:endParaRPr lang="en-GB" sz="1400" dirty="0"/>
          </a:p>
        </p:txBody>
      </p:sp>
      <p:sp>
        <p:nvSpPr>
          <p:cNvPr id="110" name="Rounded Rectangle 109"/>
          <p:cNvSpPr/>
          <p:nvPr/>
        </p:nvSpPr>
        <p:spPr>
          <a:xfrm>
            <a:off x="6080829" y="3371856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111" name="Straight Connector 110"/>
          <p:cNvCxnSpPr>
            <a:stCxn id="108" idx="3"/>
            <a:endCxn id="109" idx="1"/>
          </p:cNvCxnSpPr>
          <p:nvPr/>
        </p:nvCxnSpPr>
        <p:spPr>
          <a:xfrm>
            <a:off x="2738063" y="3577126"/>
            <a:ext cx="657299" cy="3818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stCxn id="109" idx="3"/>
            <a:endCxn id="110" idx="1"/>
          </p:cNvCxnSpPr>
          <p:nvPr/>
        </p:nvCxnSpPr>
        <p:spPr>
          <a:xfrm flipV="1">
            <a:off x="4964082" y="3603608"/>
            <a:ext cx="1116747" cy="116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6213161" y="3477813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t_xfer_task</a:t>
            </a:r>
            <a:endParaRPr lang="en-GB" sz="1400" dirty="0"/>
          </a:p>
        </p:txBody>
      </p:sp>
      <p:cxnSp>
        <p:nvCxnSpPr>
          <p:cNvPr id="114" name="Straight Arrow Connector 113"/>
          <p:cNvCxnSpPr>
            <a:stCxn id="101" idx="1"/>
            <a:endCxn id="109" idx="3"/>
          </p:cNvCxnSpPr>
          <p:nvPr/>
        </p:nvCxnSpPr>
        <p:spPr>
          <a:xfrm flipH="1">
            <a:off x="4964082" y="2938179"/>
            <a:ext cx="1128472" cy="6771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 rot="19582402">
            <a:off x="4836577" y="3041164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60s+r(10)</a:t>
            </a:r>
            <a:endParaRPr lang="en-GB" dirty="0"/>
          </a:p>
        </p:txBody>
      </p:sp>
      <p:sp>
        <p:nvSpPr>
          <p:cNvPr id="116" name="Rectangle 115"/>
          <p:cNvSpPr/>
          <p:nvPr/>
        </p:nvSpPr>
        <p:spPr>
          <a:xfrm>
            <a:off x="328817" y="3943419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Execute staging, transfer, migrations.</a:t>
            </a:r>
            <a:endParaRPr lang="en-GB" sz="1200" dirty="0"/>
          </a:p>
        </p:txBody>
      </p:sp>
      <p:sp>
        <p:nvSpPr>
          <p:cNvPr id="117" name="Rounded Rectangle 116"/>
          <p:cNvSpPr/>
          <p:nvPr/>
        </p:nvSpPr>
        <p:spPr>
          <a:xfrm>
            <a:off x="3372840" y="3889990"/>
            <a:ext cx="1568720" cy="6798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FileDownload</a:t>
            </a:r>
          </a:p>
          <a:p>
            <a:pPr algn="ctr"/>
            <a:r>
              <a:rPr lang="en-GB" sz="1400" dirty="0" smtClean="0"/>
              <a:t>File Stager</a:t>
            </a:r>
          </a:p>
          <a:p>
            <a:pPr algn="ctr"/>
            <a:r>
              <a:rPr lang="en-GB" sz="1400" dirty="0" smtClean="0"/>
              <a:t>File Migrate</a:t>
            </a:r>
            <a:endParaRPr lang="en-GB" sz="1400" dirty="0"/>
          </a:p>
        </p:txBody>
      </p:sp>
      <p:cxnSp>
        <p:nvCxnSpPr>
          <p:cNvPr id="118" name="Straight Connector 117"/>
          <p:cNvCxnSpPr>
            <a:stCxn id="116" idx="3"/>
            <a:endCxn id="117" idx="1"/>
          </p:cNvCxnSpPr>
          <p:nvPr/>
        </p:nvCxnSpPr>
        <p:spPr>
          <a:xfrm>
            <a:off x="2738062" y="4224078"/>
            <a:ext cx="634778" cy="585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>
            <a:stCxn id="117" idx="3"/>
            <a:endCxn id="122" idx="1"/>
          </p:cNvCxnSpPr>
          <p:nvPr/>
        </p:nvCxnSpPr>
        <p:spPr>
          <a:xfrm>
            <a:off x="4941560" y="4229928"/>
            <a:ext cx="1139269" cy="146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>
            <a:stCxn id="110" idx="1"/>
            <a:endCxn id="117" idx="3"/>
          </p:cNvCxnSpPr>
          <p:nvPr/>
        </p:nvCxnSpPr>
        <p:spPr>
          <a:xfrm flipH="1">
            <a:off x="4941560" y="3603608"/>
            <a:ext cx="1139269" cy="626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 rot="19582402">
            <a:off x="4885931" y="3717467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sp>
        <p:nvSpPr>
          <p:cNvPr id="122" name="Rounded Rectangle 121"/>
          <p:cNvSpPr/>
          <p:nvPr/>
        </p:nvSpPr>
        <p:spPr>
          <a:xfrm>
            <a:off x="6080829" y="3908212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23" name="Rectangle 122"/>
          <p:cNvSpPr/>
          <p:nvPr/>
        </p:nvSpPr>
        <p:spPr>
          <a:xfrm>
            <a:off x="6240740" y="4011730"/>
            <a:ext cx="1085840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Task_export</a:t>
            </a:r>
            <a:endParaRPr lang="en-GB" sz="1400" dirty="0"/>
          </a:p>
        </p:txBody>
      </p:sp>
      <p:sp>
        <p:nvSpPr>
          <p:cNvPr id="124" name="Rectangle 123"/>
          <p:cNvSpPr/>
          <p:nvPr/>
        </p:nvSpPr>
        <p:spPr>
          <a:xfrm>
            <a:off x="7473192" y="4016118"/>
            <a:ext cx="1331446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Task_inxfer</a:t>
            </a:r>
            <a:endParaRPr lang="en-GB" sz="1400" dirty="0"/>
          </a:p>
        </p:txBody>
      </p:sp>
      <p:sp>
        <p:nvSpPr>
          <p:cNvPr id="125" name="Rectangle 124"/>
          <p:cNvSpPr/>
          <p:nvPr/>
        </p:nvSpPr>
        <p:spPr>
          <a:xfrm>
            <a:off x="6240740" y="4316206"/>
            <a:ext cx="1085840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Task_done</a:t>
            </a:r>
            <a:endParaRPr lang="en-GB" sz="1400" dirty="0"/>
          </a:p>
        </p:txBody>
      </p:sp>
      <p:sp>
        <p:nvSpPr>
          <p:cNvPr id="126" name="Rectangle 125"/>
          <p:cNvSpPr/>
          <p:nvPr/>
        </p:nvSpPr>
        <p:spPr>
          <a:xfrm>
            <a:off x="7473192" y="4309905"/>
            <a:ext cx="1331446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Task_error</a:t>
            </a:r>
            <a:endParaRPr lang="en-GB" sz="1400" dirty="0"/>
          </a:p>
        </p:txBody>
      </p:sp>
      <p:sp>
        <p:nvSpPr>
          <p:cNvPr id="127" name="Rectangle 126"/>
          <p:cNvSpPr/>
          <p:nvPr/>
        </p:nvSpPr>
        <p:spPr>
          <a:xfrm>
            <a:off x="333952" y="4587686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Collect completed tasks. Create replica if success.</a:t>
            </a:r>
            <a:endParaRPr lang="en-GB" sz="1200" dirty="0"/>
          </a:p>
        </p:txBody>
      </p:sp>
      <p:sp>
        <p:nvSpPr>
          <p:cNvPr id="128" name="Rounded Rectangle 127"/>
          <p:cNvSpPr/>
          <p:nvPr/>
        </p:nvSpPr>
        <p:spPr>
          <a:xfrm>
            <a:off x="3399095" y="4685521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FilePump</a:t>
            </a:r>
            <a:endParaRPr lang="en-GB" sz="1400" dirty="0"/>
          </a:p>
        </p:txBody>
      </p:sp>
      <p:cxnSp>
        <p:nvCxnSpPr>
          <p:cNvPr id="129" name="Straight Connector 128"/>
          <p:cNvCxnSpPr>
            <a:stCxn id="127" idx="3"/>
            <a:endCxn id="128" idx="1"/>
          </p:cNvCxnSpPr>
          <p:nvPr/>
        </p:nvCxnSpPr>
        <p:spPr>
          <a:xfrm>
            <a:off x="2743197" y="4868345"/>
            <a:ext cx="655898" cy="8008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>
            <a:stCxn id="128" idx="3"/>
            <a:endCxn id="131" idx="1"/>
          </p:cNvCxnSpPr>
          <p:nvPr/>
        </p:nvCxnSpPr>
        <p:spPr>
          <a:xfrm>
            <a:off x="4967815" y="4876353"/>
            <a:ext cx="1124739" cy="491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6092554" y="4693737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32" name="Rectangle 131"/>
          <p:cNvSpPr/>
          <p:nvPr/>
        </p:nvSpPr>
        <p:spPr>
          <a:xfrm>
            <a:off x="6224886" y="4799694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Task_harvest</a:t>
            </a:r>
            <a:endParaRPr lang="en-GB" sz="1400" dirty="0"/>
          </a:p>
        </p:txBody>
      </p:sp>
      <p:sp>
        <p:nvSpPr>
          <p:cNvPr id="133" name="Rectangle 132"/>
          <p:cNvSpPr/>
          <p:nvPr/>
        </p:nvSpPr>
        <p:spPr>
          <a:xfrm>
            <a:off x="7769910" y="4799695"/>
            <a:ext cx="1089329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Xfer_replica</a:t>
            </a:r>
            <a:endParaRPr lang="en-GB" sz="1400" dirty="0"/>
          </a:p>
        </p:txBody>
      </p:sp>
      <p:cxnSp>
        <p:nvCxnSpPr>
          <p:cNvPr id="134" name="Straight Arrow Connector 133"/>
          <p:cNvCxnSpPr>
            <a:stCxn id="122" idx="1"/>
            <a:endCxn id="128" idx="3"/>
          </p:cNvCxnSpPr>
          <p:nvPr/>
        </p:nvCxnSpPr>
        <p:spPr>
          <a:xfrm flipH="1">
            <a:off x="4967815" y="4244568"/>
            <a:ext cx="1113014" cy="6317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 rot="19582402">
            <a:off x="4979285" y="439625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</a:t>
            </a:r>
            <a:endParaRPr lang="en-GB" dirty="0"/>
          </a:p>
        </p:txBody>
      </p:sp>
      <p:sp>
        <p:nvSpPr>
          <p:cNvPr id="159" name="Rectangle 158"/>
          <p:cNvSpPr/>
          <p:nvPr/>
        </p:nvSpPr>
        <p:spPr>
          <a:xfrm>
            <a:off x="9197250" y="1011811"/>
            <a:ext cx="208186" cy="22174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60" name="Rectangle 159"/>
          <p:cNvSpPr/>
          <p:nvPr/>
        </p:nvSpPr>
        <p:spPr>
          <a:xfrm>
            <a:off x="9197251" y="1337390"/>
            <a:ext cx="208186" cy="2301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61" name="Rectangle 160"/>
          <p:cNvSpPr/>
          <p:nvPr/>
        </p:nvSpPr>
        <p:spPr>
          <a:xfrm>
            <a:off x="9197251" y="1666753"/>
            <a:ext cx="20818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62" name="Rounded Rectangle 161"/>
          <p:cNvSpPr/>
          <p:nvPr/>
        </p:nvSpPr>
        <p:spPr>
          <a:xfrm>
            <a:off x="9179818" y="1978997"/>
            <a:ext cx="243050" cy="269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63" name="Rounded Rectangle 162"/>
          <p:cNvSpPr/>
          <p:nvPr/>
        </p:nvSpPr>
        <p:spPr>
          <a:xfrm>
            <a:off x="9179818" y="2333869"/>
            <a:ext cx="243050" cy="25643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64" name="TextBox 163"/>
          <p:cNvSpPr txBox="1"/>
          <p:nvPr/>
        </p:nvSpPr>
        <p:spPr>
          <a:xfrm>
            <a:off x="9346917" y="941072"/>
            <a:ext cx="2110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Dataset/Block tables</a:t>
            </a:r>
            <a:endParaRPr lang="en-GB" dirty="0"/>
          </a:p>
        </p:txBody>
      </p:sp>
      <p:sp>
        <p:nvSpPr>
          <p:cNvPr id="165" name="TextBox 164"/>
          <p:cNvSpPr txBox="1"/>
          <p:nvPr/>
        </p:nvSpPr>
        <p:spPr>
          <a:xfrm>
            <a:off x="9348652" y="1244993"/>
            <a:ext cx="1800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Node level tables</a:t>
            </a:r>
            <a:endParaRPr lang="en-GB" dirty="0"/>
          </a:p>
        </p:txBody>
      </p:sp>
      <p:sp>
        <p:nvSpPr>
          <p:cNvPr id="166" name="TextBox 165"/>
          <p:cNvSpPr txBox="1"/>
          <p:nvPr/>
        </p:nvSpPr>
        <p:spPr>
          <a:xfrm>
            <a:off x="9346917" y="1594477"/>
            <a:ext cx="161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File level tables</a:t>
            </a:r>
            <a:endParaRPr lang="en-GB" dirty="0"/>
          </a:p>
        </p:txBody>
      </p:sp>
      <p:sp>
        <p:nvSpPr>
          <p:cNvPr id="167" name="TextBox 166"/>
          <p:cNvSpPr txBox="1"/>
          <p:nvPr/>
        </p:nvSpPr>
        <p:spPr>
          <a:xfrm>
            <a:off x="9346518" y="1928861"/>
            <a:ext cx="146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Central Agent</a:t>
            </a:r>
            <a:endParaRPr lang="en-GB" dirty="0"/>
          </a:p>
        </p:txBody>
      </p:sp>
      <p:sp>
        <p:nvSpPr>
          <p:cNvPr id="168" name="TextBox 167"/>
          <p:cNvSpPr txBox="1"/>
          <p:nvPr/>
        </p:nvSpPr>
        <p:spPr>
          <a:xfrm>
            <a:off x="9346518" y="2278345"/>
            <a:ext cx="113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Site Agent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553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2"/>
          <p:cNvSpPr txBox="1">
            <a:spLocks/>
          </p:cNvSpPr>
          <p:nvPr/>
        </p:nvSpPr>
        <p:spPr>
          <a:xfrm>
            <a:off x="160421" y="-9860"/>
            <a:ext cx="9010739" cy="862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smtClean="0"/>
              <a:t>PhEDEx workflow (Step By Step)</a:t>
            </a:r>
            <a:endParaRPr lang="en-GB" sz="4000" dirty="0"/>
          </a:p>
        </p:txBody>
      </p:sp>
      <p:pic>
        <p:nvPicPr>
          <p:cNvPr id="83" name="Content Placeholder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  <a:prstGeom prst="rect">
            <a:avLst/>
          </a:prstGeom>
        </p:spPr>
      </p:pic>
      <p:cxnSp>
        <p:nvCxnSpPr>
          <p:cNvPr id="84" name="Straight Connector 83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5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angle 85"/>
          <p:cNvSpPr/>
          <p:nvPr/>
        </p:nvSpPr>
        <p:spPr>
          <a:xfrm>
            <a:off x="333955" y="104162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Request dataset or block transfer.</a:t>
            </a:r>
            <a:endParaRPr lang="en-GB" sz="1200" dirty="0"/>
          </a:p>
        </p:txBody>
      </p:sp>
      <p:sp>
        <p:nvSpPr>
          <p:cNvPr id="87" name="Rounded Rectangle 86"/>
          <p:cNvSpPr/>
          <p:nvPr/>
        </p:nvSpPr>
        <p:spPr>
          <a:xfrm>
            <a:off x="3419061" y="1106055"/>
            <a:ext cx="1568720" cy="3816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Web Pages / API</a:t>
            </a:r>
            <a:endParaRPr lang="en-GB" sz="1400" dirty="0"/>
          </a:p>
        </p:txBody>
      </p:sp>
      <p:sp>
        <p:nvSpPr>
          <p:cNvPr id="88" name="Rounded Rectangle 87"/>
          <p:cNvSpPr/>
          <p:nvPr/>
        </p:nvSpPr>
        <p:spPr>
          <a:xfrm>
            <a:off x="6092554" y="916048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9" name="Rectangle 88"/>
          <p:cNvSpPr/>
          <p:nvPr/>
        </p:nvSpPr>
        <p:spPr>
          <a:xfrm>
            <a:off x="6252465" y="1019566"/>
            <a:ext cx="1085840" cy="2288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T_req_xfer</a:t>
            </a:r>
            <a:endParaRPr lang="en-GB" sz="1400" dirty="0"/>
          </a:p>
        </p:txBody>
      </p:sp>
      <p:sp>
        <p:nvSpPr>
          <p:cNvPr id="90" name="Rectangle 89"/>
          <p:cNvSpPr/>
          <p:nvPr/>
        </p:nvSpPr>
        <p:spPr>
          <a:xfrm>
            <a:off x="7484917" y="1023954"/>
            <a:ext cx="1331446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T_req_dataset</a:t>
            </a:r>
            <a:endParaRPr lang="en-GB" sz="1400" dirty="0"/>
          </a:p>
        </p:txBody>
      </p:sp>
      <p:sp>
        <p:nvSpPr>
          <p:cNvPr id="91" name="Rectangle 90"/>
          <p:cNvSpPr/>
          <p:nvPr/>
        </p:nvSpPr>
        <p:spPr>
          <a:xfrm>
            <a:off x="6252465" y="1324042"/>
            <a:ext cx="1085840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T_req_node</a:t>
            </a:r>
            <a:endParaRPr lang="en-GB" sz="1400" dirty="0"/>
          </a:p>
        </p:txBody>
      </p:sp>
      <p:sp>
        <p:nvSpPr>
          <p:cNvPr id="92" name="Rectangle 91"/>
          <p:cNvSpPr/>
          <p:nvPr/>
        </p:nvSpPr>
        <p:spPr>
          <a:xfrm>
            <a:off x="7484917" y="1317741"/>
            <a:ext cx="1331446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T_req_decision</a:t>
            </a:r>
            <a:endParaRPr lang="en-GB" sz="1400" dirty="0"/>
          </a:p>
        </p:txBody>
      </p:sp>
      <p:cxnSp>
        <p:nvCxnSpPr>
          <p:cNvPr id="93" name="Straight Connector 92"/>
          <p:cNvCxnSpPr>
            <a:stCxn id="86" idx="3"/>
            <a:endCxn id="87" idx="1"/>
          </p:cNvCxnSpPr>
          <p:nvPr/>
        </p:nvCxnSpPr>
        <p:spPr>
          <a:xfrm>
            <a:off x="2743200" y="1284136"/>
            <a:ext cx="675861" cy="127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87" idx="3"/>
            <a:endCxn id="88" idx="1"/>
          </p:cNvCxnSpPr>
          <p:nvPr/>
        </p:nvCxnSpPr>
        <p:spPr>
          <a:xfrm flipV="1">
            <a:off x="4987781" y="1252404"/>
            <a:ext cx="1104773" cy="444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272188" y="960531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0s</a:t>
            </a:r>
            <a:endParaRPr lang="en-GB" dirty="0"/>
          </a:p>
        </p:txBody>
      </p:sp>
      <p:sp>
        <p:nvSpPr>
          <p:cNvPr id="96" name="Rectangle 95"/>
          <p:cNvSpPr/>
          <p:nvPr/>
        </p:nvSpPr>
        <p:spPr>
          <a:xfrm>
            <a:off x="333954" y="156749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approved requests into subscriptions.</a:t>
            </a:r>
            <a:endParaRPr lang="en-GB" sz="1200" dirty="0"/>
          </a:p>
        </p:txBody>
      </p:sp>
      <p:sp>
        <p:nvSpPr>
          <p:cNvPr id="97" name="Rounded Rectangle 96"/>
          <p:cNvSpPr/>
          <p:nvPr/>
        </p:nvSpPr>
        <p:spPr>
          <a:xfrm>
            <a:off x="3421138" y="1624221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RequestAllocator</a:t>
            </a:r>
            <a:endParaRPr lang="en-GB" sz="1400" dirty="0"/>
          </a:p>
        </p:txBody>
      </p:sp>
      <p:sp>
        <p:nvSpPr>
          <p:cNvPr id="98" name="Rounded Rectangle 97"/>
          <p:cNvSpPr/>
          <p:nvPr/>
        </p:nvSpPr>
        <p:spPr>
          <a:xfrm>
            <a:off x="6092554" y="162164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9" name="Rectangle 98"/>
          <p:cNvSpPr/>
          <p:nvPr/>
        </p:nvSpPr>
        <p:spPr>
          <a:xfrm>
            <a:off x="6679649" y="1746910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T_dps_subscription</a:t>
            </a:r>
            <a:endParaRPr lang="en-GB" sz="1400" dirty="0"/>
          </a:p>
        </p:txBody>
      </p:sp>
      <p:cxnSp>
        <p:nvCxnSpPr>
          <p:cNvPr id="100" name="Straight Connector 99"/>
          <p:cNvCxnSpPr>
            <a:stCxn id="96" idx="3"/>
            <a:endCxn id="97" idx="1"/>
          </p:cNvCxnSpPr>
          <p:nvPr/>
        </p:nvCxnSpPr>
        <p:spPr>
          <a:xfrm>
            <a:off x="2743199" y="1810006"/>
            <a:ext cx="677939" cy="5047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88" idx="1"/>
            <a:endCxn id="97" idx="3"/>
          </p:cNvCxnSpPr>
          <p:nvPr/>
        </p:nvCxnSpPr>
        <p:spPr>
          <a:xfrm flipH="1">
            <a:off x="4989858" y="1252404"/>
            <a:ext cx="1102696" cy="56264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 rot="19866235">
            <a:off x="4860430" y="131714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cxnSp>
        <p:nvCxnSpPr>
          <p:cNvPr id="103" name="Straight Arrow Connector 102"/>
          <p:cNvCxnSpPr>
            <a:stCxn id="97" idx="3"/>
            <a:endCxn id="98" idx="1"/>
          </p:cNvCxnSpPr>
          <p:nvPr/>
        </p:nvCxnSpPr>
        <p:spPr>
          <a:xfrm>
            <a:off x="4989858" y="1815053"/>
            <a:ext cx="1102696" cy="383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333953" y="2108645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subscriptions into block destinations.</a:t>
            </a:r>
            <a:endParaRPr lang="en-GB" sz="1200" dirty="0"/>
          </a:p>
        </p:txBody>
      </p:sp>
      <p:sp>
        <p:nvSpPr>
          <p:cNvPr id="105" name="Rounded Rectangle 104"/>
          <p:cNvSpPr/>
          <p:nvPr/>
        </p:nvSpPr>
        <p:spPr>
          <a:xfrm>
            <a:off x="3404398" y="2135177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BlockAllocator</a:t>
            </a:r>
            <a:endParaRPr lang="en-GB" sz="1400" dirty="0"/>
          </a:p>
        </p:txBody>
      </p:sp>
      <p:sp>
        <p:nvSpPr>
          <p:cNvPr id="106" name="Rounded Rectangle 105"/>
          <p:cNvSpPr/>
          <p:nvPr/>
        </p:nvSpPr>
        <p:spPr>
          <a:xfrm>
            <a:off x="6092554" y="214793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07" name="Rectangle 106"/>
          <p:cNvSpPr/>
          <p:nvPr/>
        </p:nvSpPr>
        <p:spPr>
          <a:xfrm>
            <a:off x="6679649" y="2265252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T_dps_block_dest</a:t>
            </a:r>
            <a:endParaRPr lang="en-GB" sz="1400" dirty="0"/>
          </a:p>
        </p:txBody>
      </p:sp>
      <p:cxnSp>
        <p:nvCxnSpPr>
          <p:cNvPr id="108" name="Straight Connector 107"/>
          <p:cNvCxnSpPr>
            <a:stCxn id="104" idx="3"/>
            <a:endCxn id="105" idx="1"/>
          </p:cNvCxnSpPr>
          <p:nvPr/>
        </p:nvCxnSpPr>
        <p:spPr>
          <a:xfrm flipV="1">
            <a:off x="2743198" y="2326009"/>
            <a:ext cx="661200" cy="251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105" idx="3"/>
            <a:endCxn id="106" idx="1"/>
          </p:cNvCxnSpPr>
          <p:nvPr/>
        </p:nvCxnSpPr>
        <p:spPr>
          <a:xfrm>
            <a:off x="4973118" y="2326009"/>
            <a:ext cx="1119436" cy="536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98" idx="1"/>
          </p:cNvCxnSpPr>
          <p:nvPr/>
        </p:nvCxnSpPr>
        <p:spPr>
          <a:xfrm flipH="1">
            <a:off x="4955649" y="1853394"/>
            <a:ext cx="1136905" cy="4663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 rot="20117480">
            <a:off x="4941178" y="186164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300s</a:t>
            </a:r>
            <a:endParaRPr lang="en-GB" dirty="0"/>
          </a:p>
        </p:txBody>
      </p:sp>
      <p:sp>
        <p:nvSpPr>
          <p:cNvPr id="112" name="Rectangle 111"/>
          <p:cNvSpPr/>
          <p:nvPr/>
        </p:nvSpPr>
        <p:spPr>
          <a:xfrm>
            <a:off x="333953" y="2657520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block destinations into file requests. Compute the path of least cost from available replicas.</a:t>
            </a:r>
            <a:endParaRPr lang="en-GB" sz="1200" dirty="0"/>
          </a:p>
        </p:txBody>
      </p:sp>
      <p:sp>
        <p:nvSpPr>
          <p:cNvPr id="113" name="Rounded Rectangle 112"/>
          <p:cNvSpPr/>
          <p:nvPr/>
        </p:nvSpPr>
        <p:spPr>
          <a:xfrm>
            <a:off x="3392430" y="2747782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FileRouter</a:t>
            </a:r>
            <a:endParaRPr lang="en-GB" sz="1400" dirty="0"/>
          </a:p>
        </p:txBody>
      </p:sp>
      <p:sp>
        <p:nvSpPr>
          <p:cNvPr id="114" name="Rounded Rectangle 113"/>
          <p:cNvSpPr/>
          <p:nvPr/>
        </p:nvSpPr>
        <p:spPr>
          <a:xfrm>
            <a:off x="6092554" y="2706427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115" name="Straight Connector 114"/>
          <p:cNvCxnSpPr>
            <a:stCxn id="112" idx="3"/>
            <a:endCxn id="113" idx="1"/>
          </p:cNvCxnSpPr>
          <p:nvPr/>
        </p:nvCxnSpPr>
        <p:spPr>
          <a:xfrm>
            <a:off x="2743198" y="2938179"/>
            <a:ext cx="649232" cy="435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stCxn id="113" idx="3"/>
            <a:endCxn id="114" idx="1"/>
          </p:cNvCxnSpPr>
          <p:nvPr/>
        </p:nvCxnSpPr>
        <p:spPr>
          <a:xfrm flipV="1">
            <a:off x="4961150" y="2938179"/>
            <a:ext cx="1131404" cy="4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endCxn id="113" idx="3"/>
          </p:cNvCxnSpPr>
          <p:nvPr/>
        </p:nvCxnSpPr>
        <p:spPr>
          <a:xfrm flipH="1">
            <a:off x="4961150" y="2511989"/>
            <a:ext cx="1131405" cy="4266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 rot="20419618">
            <a:off x="4871460" y="2418927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60s+r(10)</a:t>
            </a:r>
            <a:endParaRPr lang="en-GB" dirty="0"/>
          </a:p>
        </p:txBody>
      </p:sp>
      <p:sp>
        <p:nvSpPr>
          <p:cNvPr id="119" name="Rectangle 118"/>
          <p:cNvSpPr/>
          <p:nvPr/>
        </p:nvSpPr>
        <p:spPr>
          <a:xfrm>
            <a:off x="6249252" y="2860029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t_xfer_request</a:t>
            </a:r>
            <a:endParaRPr lang="en-GB" sz="1400" dirty="0"/>
          </a:p>
        </p:txBody>
      </p:sp>
      <p:sp>
        <p:nvSpPr>
          <p:cNvPr id="120" name="Rectangle 119"/>
          <p:cNvSpPr/>
          <p:nvPr/>
        </p:nvSpPr>
        <p:spPr>
          <a:xfrm>
            <a:off x="7794276" y="2860030"/>
            <a:ext cx="1089329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T_xfer_path</a:t>
            </a:r>
            <a:endParaRPr lang="en-GB" sz="1400" dirty="0"/>
          </a:p>
        </p:txBody>
      </p:sp>
      <p:sp>
        <p:nvSpPr>
          <p:cNvPr id="121" name="Rectangle 120"/>
          <p:cNvSpPr/>
          <p:nvPr/>
        </p:nvSpPr>
        <p:spPr>
          <a:xfrm>
            <a:off x="328818" y="3296467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Create transfer tasks from path segments.</a:t>
            </a:r>
            <a:endParaRPr lang="en-GB" sz="1200" dirty="0"/>
          </a:p>
        </p:txBody>
      </p:sp>
      <p:sp>
        <p:nvSpPr>
          <p:cNvPr id="122" name="Rounded Rectangle 121"/>
          <p:cNvSpPr/>
          <p:nvPr/>
        </p:nvSpPr>
        <p:spPr>
          <a:xfrm>
            <a:off x="3395362" y="3424475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FileIssue</a:t>
            </a:r>
            <a:endParaRPr lang="en-GB" sz="1400" dirty="0"/>
          </a:p>
        </p:txBody>
      </p:sp>
      <p:sp>
        <p:nvSpPr>
          <p:cNvPr id="123" name="Rounded Rectangle 122"/>
          <p:cNvSpPr/>
          <p:nvPr/>
        </p:nvSpPr>
        <p:spPr>
          <a:xfrm>
            <a:off x="6080829" y="3371856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124" name="Straight Connector 123"/>
          <p:cNvCxnSpPr>
            <a:stCxn id="121" idx="3"/>
            <a:endCxn id="122" idx="1"/>
          </p:cNvCxnSpPr>
          <p:nvPr/>
        </p:nvCxnSpPr>
        <p:spPr>
          <a:xfrm>
            <a:off x="2738063" y="3577126"/>
            <a:ext cx="657299" cy="3818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22" idx="3"/>
            <a:endCxn id="123" idx="1"/>
          </p:cNvCxnSpPr>
          <p:nvPr/>
        </p:nvCxnSpPr>
        <p:spPr>
          <a:xfrm flipV="1">
            <a:off x="4964082" y="3603608"/>
            <a:ext cx="1116747" cy="116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6213161" y="3477813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t_xfer_task</a:t>
            </a:r>
            <a:endParaRPr lang="en-GB" sz="1400" dirty="0"/>
          </a:p>
        </p:txBody>
      </p:sp>
      <p:cxnSp>
        <p:nvCxnSpPr>
          <p:cNvPr id="127" name="Straight Arrow Connector 126"/>
          <p:cNvCxnSpPr>
            <a:stCxn id="114" idx="1"/>
            <a:endCxn id="122" idx="3"/>
          </p:cNvCxnSpPr>
          <p:nvPr/>
        </p:nvCxnSpPr>
        <p:spPr>
          <a:xfrm flipH="1">
            <a:off x="4964082" y="2938179"/>
            <a:ext cx="1128472" cy="6771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 rot="19582402">
            <a:off x="4836577" y="3041164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60s+r(10)</a:t>
            </a:r>
            <a:endParaRPr lang="en-GB" dirty="0"/>
          </a:p>
        </p:txBody>
      </p:sp>
      <p:sp>
        <p:nvSpPr>
          <p:cNvPr id="129" name="Rectangle 128"/>
          <p:cNvSpPr/>
          <p:nvPr/>
        </p:nvSpPr>
        <p:spPr>
          <a:xfrm>
            <a:off x="328817" y="3943419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Execute staging, transfer, migrations.</a:t>
            </a:r>
            <a:endParaRPr lang="en-GB" sz="1200" dirty="0"/>
          </a:p>
        </p:txBody>
      </p:sp>
      <p:sp>
        <p:nvSpPr>
          <p:cNvPr id="130" name="Rounded Rectangle 129"/>
          <p:cNvSpPr/>
          <p:nvPr/>
        </p:nvSpPr>
        <p:spPr>
          <a:xfrm>
            <a:off x="3372840" y="3889990"/>
            <a:ext cx="1568720" cy="6798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FileDownload</a:t>
            </a:r>
          </a:p>
          <a:p>
            <a:pPr algn="ctr"/>
            <a:r>
              <a:rPr lang="en-GB" sz="1400" dirty="0" smtClean="0"/>
              <a:t>File Stager</a:t>
            </a:r>
          </a:p>
          <a:p>
            <a:pPr algn="ctr"/>
            <a:r>
              <a:rPr lang="en-GB" sz="1400" dirty="0" smtClean="0"/>
              <a:t>File Migrate</a:t>
            </a:r>
            <a:endParaRPr lang="en-GB" sz="1400" dirty="0"/>
          </a:p>
        </p:txBody>
      </p:sp>
      <p:cxnSp>
        <p:nvCxnSpPr>
          <p:cNvPr id="131" name="Straight Connector 130"/>
          <p:cNvCxnSpPr>
            <a:stCxn id="129" idx="3"/>
            <a:endCxn id="130" idx="1"/>
          </p:cNvCxnSpPr>
          <p:nvPr/>
        </p:nvCxnSpPr>
        <p:spPr>
          <a:xfrm>
            <a:off x="2738062" y="4224078"/>
            <a:ext cx="634778" cy="585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stCxn id="130" idx="3"/>
            <a:endCxn id="135" idx="1"/>
          </p:cNvCxnSpPr>
          <p:nvPr/>
        </p:nvCxnSpPr>
        <p:spPr>
          <a:xfrm>
            <a:off x="4941560" y="4229928"/>
            <a:ext cx="1139269" cy="146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123" idx="1"/>
            <a:endCxn id="130" idx="3"/>
          </p:cNvCxnSpPr>
          <p:nvPr/>
        </p:nvCxnSpPr>
        <p:spPr>
          <a:xfrm flipH="1">
            <a:off x="4941560" y="3603608"/>
            <a:ext cx="1139269" cy="626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 rot="19582402">
            <a:off x="4885931" y="3717467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sp>
        <p:nvSpPr>
          <p:cNvPr id="135" name="Rounded Rectangle 134"/>
          <p:cNvSpPr/>
          <p:nvPr/>
        </p:nvSpPr>
        <p:spPr>
          <a:xfrm>
            <a:off x="6080829" y="3908212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36" name="Rectangle 135"/>
          <p:cNvSpPr/>
          <p:nvPr/>
        </p:nvSpPr>
        <p:spPr>
          <a:xfrm>
            <a:off x="6240740" y="4011730"/>
            <a:ext cx="1085840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Task_export</a:t>
            </a:r>
            <a:endParaRPr lang="en-GB" sz="1400" dirty="0"/>
          </a:p>
        </p:txBody>
      </p:sp>
      <p:sp>
        <p:nvSpPr>
          <p:cNvPr id="137" name="Rectangle 136"/>
          <p:cNvSpPr/>
          <p:nvPr/>
        </p:nvSpPr>
        <p:spPr>
          <a:xfrm>
            <a:off x="7473192" y="4016118"/>
            <a:ext cx="1331446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Task_inxfer</a:t>
            </a:r>
            <a:endParaRPr lang="en-GB" sz="1400" dirty="0"/>
          </a:p>
        </p:txBody>
      </p:sp>
      <p:sp>
        <p:nvSpPr>
          <p:cNvPr id="138" name="Rectangle 137"/>
          <p:cNvSpPr/>
          <p:nvPr/>
        </p:nvSpPr>
        <p:spPr>
          <a:xfrm>
            <a:off x="6240740" y="4316206"/>
            <a:ext cx="1085840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Task_done</a:t>
            </a:r>
            <a:endParaRPr lang="en-GB" sz="1400" dirty="0"/>
          </a:p>
        </p:txBody>
      </p:sp>
      <p:sp>
        <p:nvSpPr>
          <p:cNvPr id="139" name="Rectangle 138"/>
          <p:cNvSpPr/>
          <p:nvPr/>
        </p:nvSpPr>
        <p:spPr>
          <a:xfrm>
            <a:off x="7473192" y="4309905"/>
            <a:ext cx="1331446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Task_error</a:t>
            </a:r>
            <a:endParaRPr lang="en-GB" sz="1400" dirty="0"/>
          </a:p>
        </p:txBody>
      </p:sp>
      <p:sp>
        <p:nvSpPr>
          <p:cNvPr id="140" name="Rectangle 139"/>
          <p:cNvSpPr/>
          <p:nvPr/>
        </p:nvSpPr>
        <p:spPr>
          <a:xfrm>
            <a:off x="333952" y="4587686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Collect completed tasks. Create replica if success.</a:t>
            </a:r>
            <a:endParaRPr lang="en-GB" sz="1200" dirty="0"/>
          </a:p>
        </p:txBody>
      </p:sp>
      <p:sp>
        <p:nvSpPr>
          <p:cNvPr id="141" name="Rounded Rectangle 140"/>
          <p:cNvSpPr/>
          <p:nvPr/>
        </p:nvSpPr>
        <p:spPr>
          <a:xfrm>
            <a:off x="3399095" y="4685521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FilePump</a:t>
            </a:r>
            <a:endParaRPr lang="en-GB" sz="1400" dirty="0"/>
          </a:p>
        </p:txBody>
      </p:sp>
      <p:cxnSp>
        <p:nvCxnSpPr>
          <p:cNvPr id="142" name="Straight Connector 141"/>
          <p:cNvCxnSpPr>
            <a:stCxn id="140" idx="3"/>
            <a:endCxn id="141" idx="1"/>
          </p:cNvCxnSpPr>
          <p:nvPr/>
        </p:nvCxnSpPr>
        <p:spPr>
          <a:xfrm>
            <a:off x="2743197" y="4868345"/>
            <a:ext cx="655898" cy="8008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141" idx="3"/>
            <a:endCxn id="144" idx="1"/>
          </p:cNvCxnSpPr>
          <p:nvPr/>
        </p:nvCxnSpPr>
        <p:spPr>
          <a:xfrm>
            <a:off x="4967815" y="4876353"/>
            <a:ext cx="1124739" cy="491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Rounded Rectangle 143"/>
          <p:cNvSpPr/>
          <p:nvPr/>
        </p:nvSpPr>
        <p:spPr>
          <a:xfrm>
            <a:off x="6092554" y="4693737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45" name="Rectangle 144"/>
          <p:cNvSpPr/>
          <p:nvPr/>
        </p:nvSpPr>
        <p:spPr>
          <a:xfrm>
            <a:off x="6224886" y="4799694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Task_harvest</a:t>
            </a:r>
            <a:endParaRPr lang="en-GB" sz="1400" dirty="0"/>
          </a:p>
        </p:txBody>
      </p:sp>
      <p:sp>
        <p:nvSpPr>
          <p:cNvPr id="146" name="Rectangle 145"/>
          <p:cNvSpPr/>
          <p:nvPr/>
        </p:nvSpPr>
        <p:spPr>
          <a:xfrm>
            <a:off x="7769910" y="4799695"/>
            <a:ext cx="1089329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Xfer_replica</a:t>
            </a:r>
            <a:endParaRPr lang="en-GB" sz="1400" dirty="0"/>
          </a:p>
        </p:txBody>
      </p:sp>
      <p:cxnSp>
        <p:nvCxnSpPr>
          <p:cNvPr id="147" name="Straight Arrow Connector 146"/>
          <p:cNvCxnSpPr>
            <a:stCxn id="135" idx="1"/>
            <a:endCxn id="141" idx="3"/>
          </p:cNvCxnSpPr>
          <p:nvPr/>
        </p:nvCxnSpPr>
        <p:spPr>
          <a:xfrm flipH="1">
            <a:off x="4967815" y="4244568"/>
            <a:ext cx="1113014" cy="6317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 rot="19582402">
            <a:off x="4979285" y="439625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</a:t>
            </a:r>
            <a:endParaRPr lang="en-GB" dirty="0"/>
          </a:p>
        </p:txBody>
      </p:sp>
      <p:sp>
        <p:nvSpPr>
          <p:cNvPr id="149" name="Rectangle 148"/>
          <p:cNvSpPr/>
          <p:nvPr/>
        </p:nvSpPr>
        <p:spPr>
          <a:xfrm>
            <a:off x="328817" y="5231387"/>
            <a:ext cx="2409245" cy="4558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Observe file replicas and update block replica statistics.</a:t>
            </a:r>
            <a:endParaRPr lang="en-GB" sz="1200" dirty="0"/>
          </a:p>
        </p:txBody>
      </p:sp>
      <p:sp>
        <p:nvSpPr>
          <p:cNvPr id="150" name="Rounded Rectangle 149"/>
          <p:cNvSpPr/>
          <p:nvPr/>
        </p:nvSpPr>
        <p:spPr>
          <a:xfrm>
            <a:off x="3404398" y="5320809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BlockMonitor</a:t>
            </a:r>
            <a:endParaRPr lang="en-GB" sz="1400" dirty="0"/>
          </a:p>
        </p:txBody>
      </p:sp>
      <p:cxnSp>
        <p:nvCxnSpPr>
          <p:cNvPr id="151" name="Straight Connector 150"/>
          <p:cNvCxnSpPr>
            <a:stCxn id="149" idx="3"/>
            <a:endCxn id="150" idx="1"/>
          </p:cNvCxnSpPr>
          <p:nvPr/>
        </p:nvCxnSpPr>
        <p:spPr>
          <a:xfrm>
            <a:off x="2738062" y="5459331"/>
            <a:ext cx="666336" cy="5231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stCxn id="150" idx="3"/>
            <a:endCxn id="153" idx="1"/>
          </p:cNvCxnSpPr>
          <p:nvPr/>
        </p:nvCxnSpPr>
        <p:spPr>
          <a:xfrm flipV="1">
            <a:off x="4973118" y="5489313"/>
            <a:ext cx="1107711" cy="223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Rounded Rectangle 152"/>
          <p:cNvSpPr/>
          <p:nvPr/>
        </p:nvSpPr>
        <p:spPr>
          <a:xfrm>
            <a:off x="6080829" y="5257561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54" name="Rectangle 153"/>
          <p:cNvSpPr/>
          <p:nvPr/>
        </p:nvSpPr>
        <p:spPr>
          <a:xfrm>
            <a:off x="6213161" y="5363518"/>
            <a:ext cx="1545024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Dps_block_replica</a:t>
            </a:r>
            <a:endParaRPr lang="en-GB" sz="1400" dirty="0"/>
          </a:p>
        </p:txBody>
      </p:sp>
      <p:cxnSp>
        <p:nvCxnSpPr>
          <p:cNvPr id="155" name="Straight Arrow Connector 154"/>
          <p:cNvCxnSpPr>
            <a:stCxn id="144" idx="1"/>
            <a:endCxn id="150" idx="3"/>
          </p:cNvCxnSpPr>
          <p:nvPr/>
        </p:nvCxnSpPr>
        <p:spPr>
          <a:xfrm flipH="1">
            <a:off x="4973118" y="4925489"/>
            <a:ext cx="1119436" cy="5861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 rot="19582402">
            <a:off x="4979500" y="5032599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</a:t>
            </a:r>
            <a:endParaRPr lang="en-GB" dirty="0"/>
          </a:p>
        </p:txBody>
      </p:sp>
      <p:sp>
        <p:nvSpPr>
          <p:cNvPr id="172" name="Rectangle 171"/>
          <p:cNvSpPr/>
          <p:nvPr/>
        </p:nvSpPr>
        <p:spPr>
          <a:xfrm>
            <a:off x="9197250" y="1011811"/>
            <a:ext cx="208186" cy="22174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73" name="Rectangle 172"/>
          <p:cNvSpPr/>
          <p:nvPr/>
        </p:nvSpPr>
        <p:spPr>
          <a:xfrm>
            <a:off x="9197251" y="1337390"/>
            <a:ext cx="208186" cy="2301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74" name="Rectangle 173"/>
          <p:cNvSpPr/>
          <p:nvPr/>
        </p:nvSpPr>
        <p:spPr>
          <a:xfrm>
            <a:off x="9197251" y="1666753"/>
            <a:ext cx="20818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75" name="Rounded Rectangle 174"/>
          <p:cNvSpPr/>
          <p:nvPr/>
        </p:nvSpPr>
        <p:spPr>
          <a:xfrm>
            <a:off x="9179818" y="1978997"/>
            <a:ext cx="243050" cy="269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76" name="Rounded Rectangle 175"/>
          <p:cNvSpPr/>
          <p:nvPr/>
        </p:nvSpPr>
        <p:spPr>
          <a:xfrm>
            <a:off x="9179818" y="2333869"/>
            <a:ext cx="243050" cy="25643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77" name="TextBox 176"/>
          <p:cNvSpPr txBox="1"/>
          <p:nvPr/>
        </p:nvSpPr>
        <p:spPr>
          <a:xfrm>
            <a:off x="9346917" y="941072"/>
            <a:ext cx="2110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Dataset/Block tables</a:t>
            </a:r>
            <a:endParaRPr lang="en-GB" dirty="0"/>
          </a:p>
        </p:txBody>
      </p:sp>
      <p:sp>
        <p:nvSpPr>
          <p:cNvPr id="178" name="TextBox 177"/>
          <p:cNvSpPr txBox="1"/>
          <p:nvPr/>
        </p:nvSpPr>
        <p:spPr>
          <a:xfrm>
            <a:off x="9348652" y="1244993"/>
            <a:ext cx="1800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Node level tables</a:t>
            </a:r>
            <a:endParaRPr lang="en-GB" dirty="0"/>
          </a:p>
        </p:txBody>
      </p:sp>
      <p:sp>
        <p:nvSpPr>
          <p:cNvPr id="179" name="TextBox 178"/>
          <p:cNvSpPr txBox="1"/>
          <p:nvPr/>
        </p:nvSpPr>
        <p:spPr>
          <a:xfrm>
            <a:off x="9346917" y="1594477"/>
            <a:ext cx="161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File level tables</a:t>
            </a:r>
            <a:endParaRPr lang="en-GB" dirty="0"/>
          </a:p>
        </p:txBody>
      </p:sp>
      <p:sp>
        <p:nvSpPr>
          <p:cNvPr id="180" name="TextBox 179"/>
          <p:cNvSpPr txBox="1"/>
          <p:nvPr/>
        </p:nvSpPr>
        <p:spPr>
          <a:xfrm>
            <a:off x="9346518" y="1928861"/>
            <a:ext cx="146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Central Agent</a:t>
            </a:r>
            <a:endParaRPr lang="en-GB" dirty="0"/>
          </a:p>
        </p:txBody>
      </p:sp>
      <p:sp>
        <p:nvSpPr>
          <p:cNvPr id="181" name="TextBox 180"/>
          <p:cNvSpPr txBox="1"/>
          <p:nvPr/>
        </p:nvSpPr>
        <p:spPr>
          <a:xfrm>
            <a:off x="9346518" y="2278345"/>
            <a:ext cx="113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Site Agent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25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en-GB" sz="4000" dirty="0" smtClean="0"/>
              <a:t>PhEDEx workflow (Step By Step)</a:t>
            </a:r>
            <a:endParaRPr lang="en-GB" sz="4000" dirty="0" smtClean="0"/>
          </a:p>
        </p:txBody>
      </p:sp>
      <p:pic>
        <p:nvPicPr>
          <p:cNvPr id="130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131" name="Straight Connector 130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2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" name="Rectangle 132"/>
          <p:cNvSpPr/>
          <p:nvPr/>
        </p:nvSpPr>
        <p:spPr>
          <a:xfrm>
            <a:off x="333955" y="104162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Request dataset or block transfer.</a:t>
            </a:r>
            <a:endParaRPr lang="en-GB" sz="1200" dirty="0"/>
          </a:p>
        </p:txBody>
      </p:sp>
      <p:sp>
        <p:nvSpPr>
          <p:cNvPr id="134" name="Rounded Rectangle 133"/>
          <p:cNvSpPr/>
          <p:nvPr/>
        </p:nvSpPr>
        <p:spPr>
          <a:xfrm>
            <a:off x="3419061" y="1106055"/>
            <a:ext cx="1568720" cy="3816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Web Pages / API</a:t>
            </a:r>
            <a:endParaRPr lang="en-GB" sz="1400" dirty="0"/>
          </a:p>
        </p:txBody>
      </p:sp>
      <p:sp>
        <p:nvSpPr>
          <p:cNvPr id="135" name="Rounded Rectangle 134"/>
          <p:cNvSpPr/>
          <p:nvPr/>
        </p:nvSpPr>
        <p:spPr>
          <a:xfrm>
            <a:off x="6092554" y="916048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36" name="Rectangle 135"/>
          <p:cNvSpPr/>
          <p:nvPr/>
        </p:nvSpPr>
        <p:spPr>
          <a:xfrm>
            <a:off x="6252465" y="1019566"/>
            <a:ext cx="1085840" cy="2288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T_req_xfer</a:t>
            </a:r>
            <a:endParaRPr lang="en-GB" sz="1400" dirty="0"/>
          </a:p>
        </p:txBody>
      </p:sp>
      <p:sp>
        <p:nvSpPr>
          <p:cNvPr id="137" name="Rectangle 136"/>
          <p:cNvSpPr/>
          <p:nvPr/>
        </p:nvSpPr>
        <p:spPr>
          <a:xfrm>
            <a:off x="7484917" y="1023954"/>
            <a:ext cx="1331446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T_req_dataset</a:t>
            </a:r>
            <a:endParaRPr lang="en-GB" sz="1400" dirty="0"/>
          </a:p>
        </p:txBody>
      </p:sp>
      <p:sp>
        <p:nvSpPr>
          <p:cNvPr id="138" name="Rectangle 137"/>
          <p:cNvSpPr/>
          <p:nvPr/>
        </p:nvSpPr>
        <p:spPr>
          <a:xfrm>
            <a:off x="6252465" y="1324042"/>
            <a:ext cx="1085840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T_req_node</a:t>
            </a:r>
            <a:endParaRPr lang="en-GB" sz="1400" dirty="0"/>
          </a:p>
        </p:txBody>
      </p:sp>
      <p:sp>
        <p:nvSpPr>
          <p:cNvPr id="139" name="Rectangle 138"/>
          <p:cNvSpPr/>
          <p:nvPr/>
        </p:nvSpPr>
        <p:spPr>
          <a:xfrm>
            <a:off x="7484917" y="1317741"/>
            <a:ext cx="1331446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T_req_decision</a:t>
            </a:r>
            <a:endParaRPr lang="en-GB" sz="1400" dirty="0"/>
          </a:p>
        </p:txBody>
      </p:sp>
      <p:cxnSp>
        <p:nvCxnSpPr>
          <p:cNvPr id="140" name="Straight Connector 139"/>
          <p:cNvCxnSpPr>
            <a:stCxn id="133" idx="3"/>
            <a:endCxn id="134" idx="1"/>
          </p:cNvCxnSpPr>
          <p:nvPr/>
        </p:nvCxnSpPr>
        <p:spPr>
          <a:xfrm>
            <a:off x="2743200" y="1284136"/>
            <a:ext cx="675861" cy="127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stCxn id="134" idx="3"/>
            <a:endCxn id="135" idx="1"/>
          </p:cNvCxnSpPr>
          <p:nvPr/>
        </p:nvCxnSpPr>
        <p:spPr>
          <a:xfrm flipV="1">
            <a:off x="4987781" y="1252404"/>
            <a:ext cx="1104773" cy="444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5272188" y="960531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0s</a:t>
            </a:r>
            <a:endParaRPr lang="en-GB" dirty="0"/>
          </a:p>
        </p:txBody>
      </p:sp>
      <p:sp>
        <p:nvSpPr>
          <p:cNvPr id="143" name="Rectangle 142"/>
          <p:cNvSpPr/>
          <p:nvPr/>
        </p:nvSpPr>
        <p:spPr>
          <a:xfrm>
            <a:off x="333954" y="156749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approved requests into subscriptions.</a:t>
            </a:r>
            <a:endParaRPr lang="en-GB" sz="1200" dirty="0"/>
          </a:p>
        </p:txBody>
      </p:sp>
      <p:sp>
        <p:nvSpPr>
          <p:cNvPr id="144" name="Rounded Rectangle 143"/>
          <p:cNvSpPr/>
          <p:nvPr/>
        </p:nvSpPr>
        <p:spPr>
          <a:xfrm>
            <a:off x="3421138" y="1624221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RequestAllocator</a:t>
            </a:r>
            <a:endParaRPr lang="en-GB" sz="1400" dirty="0"/>
          </a:p>
        </p:txBody>
      </p:sp>
      <p:sp>
        <p:nvSpPr>
          <p:cNvPr id="145" name="Rounded Rectangle 144"/>
          <p:cNvSpPr/>
          <p:nvPr/>
        </p:nvSpPr>
        <p:spPr>
          <a:xfrm>
            <a:off x="6092554" y="162164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46" name="Rectangle 145"/>
          <p:cNvSpPr/>
          <p:nvPr/>
        </p:nvSpPr>
        <p:spPr>
          <a:xfrm>
            <a:off x="6679649" y="1746910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T_dps_subscription</a:t>
            </a:r>
            <a:endParaRPr lang="en-GB" sz="1400" dirty="0"/>
          </a:p>
        </p:txBody>
      </p:sp>
      <p:cxnSp>
        <p:nvCxnSpPr>
          <p:cNvPr id="147" name="Straight Connector 146"/>
          <p:cNvCxnSpPr>
            <a:stCxn id="143" idx="3"/>
            <a:endCxn id="144" idx="1"/>
          </p:cNvCxnSpPr>
          <p:nvPr/>
        </p:nvCxnSpPr>
        <p:spPr>
          <a:xfrm>
            <a:off x="2743199" y="1810006"/>
            <a:ext cx="677939" cy="5047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stCxn id="135" idx="1"/>
            <a:endCxn id="144" idx="3"/>
          </p:cNvCxnSpPr>
          <p:nvPr/>
        </p:nvCxnSpPr>
        <p:spPr>
          <a:xfrm flipH="1">
            <a:off x="4989858" y="1252404"/>
            <a:ext cx="1102696" cy="56264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 rot="19866235">
            <a:off x="4860430" y="131714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cxnSp>
        <p:nvCxnSpPr>
          <p:cNvPr id="150" name="Straight Arrow Connector 149"/>
          <p:cNvCxnSpPr>
            <a:stCxn id="144" idx="3"/>
            <a:endCxn id="145" idx="1"/>
          </p:cNvCxnSpPr>
          <p:nvPr/>
        </p:nvCxnSpPr>
        <p:spPr>
          <a:xfrm>
            <a:off x="4989858" y="1815053"/>
            <a:ext cx="1102696" cy="383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Rectangle 150"/>
          <p:cNvSpPr/>
          <p:nvPr/>
        </p:nvSpPr>
        <p:spPr>
          <a:xfrm>
            <a:off x="333953" y="2108645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subscriptions into block destinations.</a:t>
            </a:r>
            <a:endParaRPr lang="en-GB" sz="1200" dirty="0"/>
          </a:p>
        </p:txBody>
      </p:sp>
      <p:sp>
        <p:nvSpPr>
          <p:cNvPr id="152" name="Rounded Rectangle 151"/>
          <p:cNvSpPr/>
          <p:nvPr/>
        </p:nvSpPr>
        <p:spPr>
          <a:xfrm>
            <a:off x="3404398" y="2135177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BlockAllocator</a:t>
            </a:r>
            <a:endParaRPr lang="en-GB" sz="1400" dirty="0"/>
          </a:p>
        </p:txBody>
      </p:sp>
      <p:sp>
        <p:nvSpPr>
          <p:cNvPr id="153" name="Rounded Rectangle 152"/>
          <p:cNvSpPr/>
          <p:nvPr/>
        </p:nvSpPr>
        <p:spPr>
          <a:xfrm>
            <a:off x="6092554" y="214793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54" name="Rectangle 153"/>
          <p:cNvSpPr/>
          <p:nvPr/>
        </p:nvSpPr>
        <p:spPr>
          <a:xfrm>
            <a:off x="6679649" y="2265252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T_dps_block_dest</a:t>
            </a:r>
            <a:endParaRPr lang="en-GB" sz="1400" dirty="0"/>
          </a:p>
        </p:txBody>
      </p:sp>
      <p:cxnSp>
        <p:nvCxnSpPr>
          <p:cNvPr id="155" name="Straight Connector 154"/>
          <p:cNvCxnSpPr>
            <a:stCxn id="151" idx="3"/>
            <a:endCxn id="152" idx="1"/>
          </p:cNvCxnSpPr>
          <p:nvPr/>
        </p:nvCxnSpPr>
        <p:spPr>
          <a:xfrm flipV="1">
            <a:off x="2743198" y="2326009"/>
            <a:ext cx="661200" cy="251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>
            <a:stCxn id="152" idx="3"/>
            <a:endCxn id="153" idx="1"/>
          </p:cNvCxnSpPr>
          <p:nvPr/>
        </p:nvCxnSpPr>
        <p:spPr>
          <a:xfrm>
            <a:off x="4973118" y="2326009"/>
            <a:ext cx="1119436" cy="536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>
            <a:stCxn id="145" idx="1"/>
          </p:cNvCxnSpPr>
          <p:nvPr/>
        </p:nvCxnSpPr>
        <p:spPr>
          <a:xfrm flipH="1">
            <a:off x="4955649" y="1853394"/>
            <a:ext cx="1136905" cy="4663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20117480">
            <a:off x="4941178" y="186164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300s</a:t>
            </a:r>
            <a:endParaRPr lang="en-GB" dirty="0"/>
          </a:p>
        </p:txBody>
      </p:sp>
      <p:sp>
        <p:nvSpPr>
          <p:cNvPr id="159" name="Rectangle 158"/>
          <p:cNvSpPr/>
          <p:nvPr/>
        </p:nvSpPr>
        <p:spPr>
          <a:xfrm>
            <a:off x="333953" y="2657520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block destinations into file requests. Compute the path of least cost from available replicas.</a:t>
            </a:r>
            <a:endParaRPr lang="en-GB" sz="1200" dirty="0"/>
          </a:p>
        </p:txBody>
      </p:sp>
      <p:sp>
        <p:nvSpPr>
          <p:cNvPr id="160" name="Rounded Rectangle 159"/>
          <p:cNvSpPr/>
          <p:nvPr/>
        </p:nvSpPr>
        <p:spPr>
          <a:xfrm>
            <a:off x="3392430" y="2747782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FileRouter</a:t>
            </a:r>
            <a:endParaRPr lang="en-GB" sz="1400" dirty="0"/>
          </a:p>
        </p:txBody>
      </p:sp>
      <p:sp>
        <p:nvSpPr>
          <p:cNvPr id="161" name="Rounded Rectangle 160"/>
          <p:cNvSpPr/>
          <p:nvPr/>
        </p:nvSpPr>
        <p:spPr>
          <a:xfrm>
            <a:off x="6092554" y="2706427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162" name="Straight Connector 161"/>
          <p:cNvCxnSpPr>
            <a:stCxn id="159" idx="3"/>
            <a:endCxn id="160" idx="1"/>
          </p:cNvCxnSpPr>
          <p:nvPr/>
        </p:nvCxnSpPr>
        <p:spPr>
          <a:xfrm>
            <a:off x="2743198" y="2938179"/>
            <a:ext cx="649232" cy="435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>
            <a:stCxn id="160" idx="3"/>
            <a:endCxn id="161" idx="1"/>
          </p:cNvCxnSpPr>
          <p:nvPr/>
        </p:nvCxnSpPr>
        <p:spPr>
          <a:xfrm flipV="1">
            <a:off x="4961150" y="2938179"/>
            <a:ext cx="1131404" cy="4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>
            <a:endCxn id="160" idx="3"/>
          </p:cNvCxnSpPr>
          <p:nvPr/>
        </p:nvCxnSpPr>
        <p:spPr>
          <a:xfrm flipH="1">
            <a:off x="4961150" y="2511989"/>
            <a:ext cx="1131405" cy="4266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 rot="20419618">
            <a:off x="4871460" y="2418927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60s+r(10)</a:t>
            </a:r>
            <a:endParaRPr lang="en-GB" dirty="0"/>
          </a:p>
        </p:txBody>
      </p:sp>
      <p:sp>
        <p:nvSpPr>
          <p:cNvPr id="166" name="Rectangle 165"/>
          <p:cNvSpPr/>
          <p:nvPr/>
        </p:nvSpPr>
        <p:spPr>
          <a:xfrm>
            <a:off x="6249252" y="2860029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t_xfer_request</a:t>
            </a:r>
            <a:endParaRPr lang="en-GB" sz="1400" dirty="0"/>
          </a:p>
        </p:txBody>
      </p:sp>
      <p:sp>
        <p:nvSpPr>
          <p:cNvPr id="167" name="Rectangle 166"/>
          <p:cNvSpPr/>
          <p:nvPr/>
        </p:nvSpPr>
        <p:spPr>
          <a:xfrm>
            <a:off x="7794276" y="2860030"/>
            <a:ext cx="1089329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T_xfer_path</a:t>
            </a:r>
            <a:endParaRPr lang="en-GB" sz="1400" dirty="0"/>
          </a:p>
        </p:txBody>
      </p:sp>
      <p:sp>
        <p:nvSpPr>
          <p:cNvPr id="168" name="Rectangle 167"/>
          <p:cNvSpPr/>
          <p:nvPr/>
        </p:nvSpPr>
        <p:spPr>
          <a:xfrm>
            <a:off x="328818" y="3296467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Create transfer tasks from path segments.</a:t>
            </a:r>
            <a:endParaRPr lang="en-GB" sz="1200" dirty="0"/>
          </a:p>
        </p:txBody>
      </p:sp>
      <p:sp>
        <p:nvSpPr>
          <p:cNvPr id="169" name="Rounded Rectangle 168"/>
          <p:cNvSpPr/>
          <p:nvPr/>
        </p:nvSpPr>
        <p:spPr>
          <a:xfrm>
            <a:off x="3395362" y="3424475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FileIssue</a:t>
            </a:r>
            <a:endParaRPr lang="en-GB" sz="1400" dirty="0"/>
          </a:p>
        </p:txBody>
      </p:sp>
      <p:sp>
        <p:nvSpPr>
          <p:cNvPr id="170" name="Rounded Rectangle 169"/>
          <p:cNvSpPr/>
          <p:nvPr/>
        </p:nvSpPr>
        <p:spPr>
          <a:xfrm>
            <a:off x="6080829" y="3371856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171" name="Straight Connector 170"/>
          <p:cNvCxnSpPr>
            <a:stCxn id="168" idx="3"/>
            <a:endCxn id="169" idx="1"/>
          </p:cNvCxnSpPr>
          <p:nvPr/>
        </p:nvCxnSpPr>
        <p:spPr>
          <a:xfrm>
            <a:off x="2738063" y="3577126"/>
            <a:ext cx="657299" cy="3818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stCxn id="169" idx="3"/>
            <a:endCxn id="170" idx="1"/>
          </p:cNvCxnSpPr>
          <p:nvPr/>
        </p:nvCxnSpPr>
        <p:spPr>
          <a:xfrm flipV="1">
            <a:off x="4964082" y="3603608"/>
            <a:ext cx="1116747" cy="116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6213161" y="3477813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t_xfer_task</a:t>
            </a:r>
            <a:endParaRPr lang="en-GB" sz="1400" dirty="0"/>
          </a:p>
        </p:txBody>
      </p:sp>
      <p:cxnSp>
        <p:nvCxnSpPr>
          <p:cNvPr id="174" name="Straight Arrow Connector 173"/>
          <p:cNvCxnSpPr>
            <a:stCxn id="161" idx="1"/>
            <a:endCxn id="169" idx="3"/>
          </p:cNvCxnSpPr>
          <p:nvPr/>
        </p:nvCxnSpPr>
        <p:spPr>
          <a:xfrm flipH="1">
            <a:off x="4964082" y="2938179"/>
            <a:ext cx="1128472" cy="6771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 rot="19582402">
            <a:off x="4836577" y="3041164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60s+r(10)</a:t>
            </a:r>
            <a:endParaRPr lang="en-GB" dirty="0"/>
          </a:p>
        </p:txBody>
      </p:sp>
      <p:sp>
        <p:nvSpPr>
          <p:cNvPr id="176" name="Rectangle 175"/>
          <p:cNvSpPr/>
          <p:nvPr/>
        </p:nvSpPr>
        <p:spPr>
          <a:xfrm>
            <a:off x="328817" y="3943419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Execute staging, transfer, migrations.</a:t>
            </a:r>
            <a:endParaRPr lang="en-GB" sz="1200" dirty="0"/>
          </a:p>
        </p:txBody>
      </p:sp>
      <p:sp>
        <p:nvSpPr>
          <p:cNvPr id="177" name="Rounded Rectangle 176"/>
          <p:cNvSpPr/>
          <p:nvPr/>
        </p:nvSpPr>
        <p:spPr>
          <a:xfrm>
            <a:off x="3372840" y="3889990"/>
            <a:ext cx="1568720" cy="6798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FileDownload</a:t>
            </a:r>
          </a:p>
          <a:p>
            <a:pPr algn="ctr"/>
            <a:r>
              <a:rPr lang="en-GB" sz="1400" dirty="0" smtClean="0"/>
              <a:t>File Stager</a:t>
            </a:r>
          </a:p>
          <a:p>
            <a:pPr algn="ctr"/>
            <a:r>
              <a:rPr lang="en-GB" sz="1400" dirty="0" smtClean="0"/>
              <a:t>File Migrate</a:t>
            </a:r>
            <a:endParaRPr lang="en-GB" sz="1400" dirty="0"/>
          </a:p>
        </p:txBody>
      </p:sp>
      <p:cxnSp>
        <p:nvCxnSpPr>
          <p:cNvPr id="178" name="Straight Connector 177"/>
          <p:cNvCxnSpPr>
            <a:stCxn id="176" idx="3"/>
            <a:endCxn id="177" idx="1"/>
          </p:cNvCxnSpPr>
          <p:nvPr/>
        </p:nvCxnSpPr>
        <p:spPr>
          <a:xfrm>
            <a:off x="2738062" y="4224078"/>
            <a:ext cx="634778" cy="585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Straight Arrow Connector 178"/>
          <p:cNvCxnSpPr>
            <a:stCxn id="177" idx="3"/>
            <a:endCxn id="182" idx="1"/>
          </p:cNvCxnSpPr>
          <p:nvPr/>
        </p:nvCxnSpPr>
        <p:spPr>
          <a:xfrm>
            <a:off x="4941560" y="4229928"/>
            <a:ext cx="1139269" cy="146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Straight Arrow Connector 179"/>
          <p:cNvCxnSpPr>
            <a:stCxn id="170" idx="1"/>
            <a:endCxn id="177" idx="3"/>
          </p:cNvCxnSpPr>
          <p:nvPr/>
        </p:nvCxnSpPr>
        <p:spPr>
          <a:xfrm flipH="1">
            <a:off x="4941560" y="3603608"/>
            <a:ext cx="1139269" cy="626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 rot="19582402">
            <a:off x="4885931" y="3717467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sp>
        <p:nvSpPr>
          <p:cNvPr id="182" name="Rounded Rectangle 181"/>
          <p:cNvSpPr/>
          <p:nvPr/>
        </p:nvSpPr>
        <p:spPr>
          <a:xfrm>
            <a:off x="6080829" y="3908212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83" name="Rectangle 182"/>
          <p:cNvSpPr/>
          <p:nvPr/>
        </p:nvSpPr>
        <p:spPr>
          <a:xfrm>
            <a:off x="6240740" y="4011730"/>
            <a:ext cx="1085840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Task_export</a:t>
            </a:r>
            <a:endParaRPr lang="en-GB" sz="1400" dirty="0"/>
          </a:p>
        </p:txBody>
      </p:sp>
      <p:sp>
        <p:nvSpPr>
          <p:cNvPr id="184" name="Rectangle 183"/>
          <p:cNvSpPr/>
          <p:nvPr/>
        </p:nvSpPr>
        <p:spPr>
          <a:xfrm>
            <a:off x="7473192" y="4016118"/>
            <a:ext cx="1331446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Task_inxfer</a:t>
            </a:r>
            <a:endParaRPr lang="en-GB" sz="1400" dirty="0"/>
          </a:p>
        </p:txBody>
      </p:sp>
      <p:sp>
        <p:nvSpPr>
          <p:cNvPr id="185" name="Rectangle 184"/>
          <p:cNvSpPr/>
          <p:nvPr/>
        </p:nvSpPr>
        <p:spPr>
          <a:xfrm>
            <a:off x="6240740" y="4316206"/>
            <a:ext cx="1085840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Task_done</a:t>
            </a:r>
            <a:endParaRPr lang="en-GB" sz="1400" dirty="0"/>
          </a:p>
        </p:txBody>
      </p:sp>
      <p:sp>
        <p:nvSpPr>
          <p:cNvPr id="186" name="Rectangle 185"/>
          <p:cNvSpPr/>
          <p:nvPr/>
        </p:nvSpPr>
        <p:spPr>
          <a:xfrm>
            <a:off x="7473192" y="4309905"/>
            <a:ext cx="1331446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Task_error</a:t>
            </a:r>
            <a:endParaRPr lang="en-GB" sz="1400" dirty="0"/>
          </a:p>
        </p:txBody>
      </p:sp>
      <p:sp>
        <p:nvSpPr>
          <p:cNvPr id="187" name="Rectangle 186"/>
          <p:cNvSpPr/>
          <p:nvPr/>
        </p:nvSpPr>
        <p:spPr>
          <a:xfrm>
            <a:off x="333952" y="4587686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Collect completed tasks. Create replica if success.</a:t>
            </a:r>
            <a:endParaRPr lang="en-GB" sz="1200" dirty="0"/>
          </a:p>
        </p:txBody>
      </p:sp>
      <p:sp>
        <p:nvSpPr>
          <p:cNvPr id="188" name="Rounded Rectangle 187"/>
          <p:cNvSpPr/>
          <p:nvPr/>
        </p:nvSpPr>
        <p:spPr>
          <a:xfrm>
            <a:off x="3399095" y="4685521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FilePump</a:t>
            </a:r>
            <a:endParaRPr lang="en-GB" sz="1400" dirty="0"/>
          </a:p>
        </p:txBody>
      </p:sp>
      <p:cxnSp>
        <p:nvCxnSpPr>
          <p:cNvPr id="189" name="Straight Connector 188"/>
          <p:cNvCxnSpPr>
            <a:stCxn id="187" idx="3"/>
            <a:endCxn id="188" idx="1"/>
          </p:cNvCxnSpPr>
          <p:nvPr/>
        </p:nvCxnSpPr>
        <p:spPr>
          <a:xfrm>
            <a:off x="2743197" y="4868345"/>
            <a:ext cx="655898" cy="8008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stCxn id="188" idx="3"/>
            <a:endCxn id="191" idx="1"/>
          </p:cNvCxnSpPr>
          <p:nvPr/>
        </p:nvCxnSpPr>
        <p:spPr>
          <a:xfrm>
            <a:off x="4967815" y="4876353"/>
            <a:ext cx="1124739" cy="491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Rounded Rectangle 190"/>
          <p:cNvSpPr/>
          <p:nvPr/>
        </p:nvSpPr>
        <p:spPr>
          <a:xfrm>
            <a:off x="6092554" y="4693737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92" name="Rectangle 191"/>
          <p:cNvSpPr/>
          <p:nvPr/>
        </p:nvSpPr>
        <p:spPr>
          <a:xfrm>
            <a:off x="6224886" y="4799694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Task_harvest</a:t>
            </a:r>
            <a:endParaRPr lang="en-GB" sz="1400" dirty="0"/>
          </a:p>
        </p:txBody>
      </p:sp>
      <p:sp>
        <p:nvSpPr>
          <p:cNvPr id="193" name="Rectangle 192"/>
          <p:cNvSpPr/>
          <p:nvPr/>
        </p:nvSpPr>
        <p:spPr>
          <a:xfrm>
            <a:off x="7769910" y="4799695"/>
            <a:ext cx="1089329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Xfer_replica</a:t>
            </a:r>
            <a:endParaRPr lang="en-GB" sz="1400" dirty="0"/>
          </a:p>
        </p:txBody>
      </p:sp>
      <p:cxnSp>
        <p:nvCxnSpPr>
          <p:cNvPr id="194" name="Straight Arrow Connector 193"/>
          <p:cNvCxnSpPr>
            <a:stCxn id="182" idx="1"/>
            <a:endCxn id="188" idx="3"/>
          </p:cNvCxnSpPr>
          <p:nvPr/>
        </p:nvCxnSpPr>
        <p:spPr>
          <a:xfrm flipH="1">
            <a:off x="4967815" y="4244568"/>
            <a:ext cx="1113014" cy="6317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 rot="19582402">
            <a:off x="4979285" y="439625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</a:t>
            </a:r>
            <a:endParaRPr lang="en-GB" dirty="0"/>
          </a:p>
        </p:txBody>
      </p:sp>
      <p:sp>
        <p:nvSpPr>
          <p:cNvPr id="196" name="Rectangle 195"/>
          <p:cNvSpPr/>
          <p:nvPr/>
        </p:nvSpPr>
        <p:spPr>
          <a:xfrm>
            <a:off x="328817" y="5231387"/>
            <a:ext cx="2409245" cy="4558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Observe file replicas and update block replica statistics.</a:t>
            </a:r>
            <a:endParaRPr lang="en-GB" sz="1200" dirty="0"/>
          </a:p>
        </p:txBody>
      </p:sp>
      <p:sp>
        <p:nvSpPr>
          <p:cNvPr id="197" name="Rounded Rectangle 196"/>
          <p:cNvSpPr/>
          <p:nvPr/>
        </p:nvSpPr>
        <p:spPr>
          <a:xfrm>
            <a:off x="3404398" y="5320809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BlockMonitor</a:t>
            </a:r>
            <a:endParaRPr lang="en-GB" sz="1400" dirty="0"/>
          </a:p>
        </p:txBody>
      </p:sp>
      <p:cxnSp>
        <p:nvCxnSpPr>
          <p:cNvPr id="198" name="Straight Connector 197"/>
          <p:cNvCxnSpPr>
            <a:stCxn id="196" idx="3"/>
            <a:endCxn id="197" idx="1"/>
          </p:cNvCxnSpPr>
          <p:nvPr/>
        </p:nvCxnSpPr>
        <p:spPr>
          <a:xfrm>
            <a:off x="2738062" y="5459331"/>
            <a:ext cx="666336" cy="5231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Straight Arrow Connector 198"/>
          <p:cNvCxnSpPr>
            <a:stCxn id="197" idx="3"/>
            <a:endCxn id="200" idx="1"/>
          </p:cNvCxnSpPr>
          <p:nvPr/>
        </p:nvCxnSpPr>
        <p:spPr>
          <a:xfrm flipV="1">
            <a:off x="4973118" y="5489313"/>
            <a:ext cx="1107711" cy="223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Rounded Rectangle 199"/>
          <p:cNvSpPr/>
          <p:nvPr/>
        </p:nvSpPr>
        <p:spPr>
          <a:xfrm>
            <a:off x="6080829" y="5257561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201" name="Rectangle 200"/>
          <p:cNvSpPr/>
          <p:nvPr/>
        </p:nvSpPr>
        <p:spPr>
          <a:xfrm>
            <a:off x="6213161" y="5363518"/>
            <a:ext cx="1545024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Dps_block_replica</a:t>
            </a:r>
            <a:endParaRPr lang="en-GB" sz="1400" dirty="0"/>
          </a:p>
        </p:txBody>
      </p:sp>
      <p:cxnSp>
        <p:nvCxnSpPr>
          <p:cNvPr id="202" name="Straight Arrow Connector 201"/>
          <p:cNvCxnSpPr>
            <a:stCxn id="191" idx="1"/>
            <a:endCxn id="197" idx="3"/>
          </p:cNvCxnSpPr>
          <p:nvPr/>
        </p:nvCxnSpPr>
        <p:spPr>
          <a:xfrm flipH="1">
            <a:off x="4973118" y="4925489"/>
            <a:ext cx="1119436" cy="5861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 rot="19582402">
            <a:off x="4979500" y="5032599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</a:t>
            </a:r>
            <a:endParaRPr lang="en-GB" dirty="0"/>
          </a:p>
        </p:txBody>
      </p:sp>
      <p:sp>
        <p:nvSpPr>
          <p:cNvPr id="204" name="Rectangle 203"/>
          <p:cNvSpPr/>
          <p:nvPr/>
        </p:nvSpPr>
        <p:spPr>
          <a:xfrm>
            <a:off x="328816" y="5731982"/>
            <a:ext cx="2409245" cy="4190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Observe states and fill summary table. </a:t>
            </a:r>
            <a:endParaRPr lang="en-GB" sz="1200" dirty="0"/>
          </a:p>
        </p:txBody>
      </p:sp>
      <p:sp>
        <p:nvSpPr>
          <p:cNvPr id="205" name="Rounded Rectangle 204"/>
          <p:cNvSpPr/>
          <p:nvPr/>
        </p:nvSpPr>
        <p:spPr>
          <a:xfrm>
            <a:off x="3416123" y="5951680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PerfMonitor</a:t>
            </a:r>
            <a:endParaRPr lang="en-GB" sz="1400" dirty="0"/>
          </a:p>
        </p:txBody>
      </p:sp>
      <p:cxnSp>
        <p:nvCxnSpPr>
          <p:cNvPr id="206" name="Straight Connector 205"/>
          <p:cNvCxnSpPr>
            <a:stCxn id="204" idx="3"/>
            <a:endCxn id="205" idx="1"/>
          </p:cNvCxnSpPr>
          <p:nvPr/>
        </p:nvCxnSpPr>
        <p:spPr>
          <a:xfrm>
            <a:off x="2738061" y="5941509"/>
            <a:ext cx="678062" cy="201003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Straight Arrow Connector 206"/>
          <p:cNvCxnSpPr>
            <a:stCxn id="205" idx="3"/>
            <a:endCxn id="208" idx="1"/>
          </p:cNvCxnSpPr>
          <p:nvPr/>
        </p:nvCxnSpPr>
        <p:spPr>
          <a:xfrm flipV="1">
            <a:off x="4984843" y="6120184"/>
            <a:ext cx="1107711" cy="223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8" name="Rounded Rectangle 207"/>
          <p:cNvSpPr/>
          <p:nvPr/>
        </p:nvSpPr>
        <p:spPr>
          <a:xfrm>
            <a:off x="6092554" y="588843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212" name="Rectangle 211"/>
          <p:cNvSpPr/>
          <p:nvPr/>
        </p:nvSpPr>
        <p:spPr>
          <a:xfrm>
            <a:off x="6224886" y="6005753"/>
            <a:ext cx="1370835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History_link_ev</a:t>
            </a:r>
            <a:endParaRPr lang="en-GB" sz="1400" dirty="0"/>
          </a:p>
        </p:txBody>
      </p:sp>
      <p:sp>
        <p:nvSpPr>
          <p:cNvPr id="213" name="Rectangle 212"/>
          <p:cNvSpPr/>
          <p:nvPr/>
        </p:nvSpPr>
        <p:spPr>
          <a:xfrm>
            <a:off x="7769910" y="6005754"/>
            <a:ext cx="1089329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Status_task</a:t>
            </a:r>
            <a:endParaRPr lang="en-GB" sz="1400" dirty="0"/>
          </a:p>
        </p:txBody>
      </p:sp>
      <p:cxnSp>
        <p:nvCxnSpPr>
          <p:cNvPr id="214" name="Straight Arrow Connector 213"/>
          <p:cNvCxnSpPr>
            <a:endCxn id="205" idx="3"/>
          </p:cNvCxnSpPr>
          <p:nvPr/>
        </p:nvCxnSpPr>
        <p:spPr>
          <a:xfrm flipH="1">
            <a:off x="4984843" y="5515440"/>
            <a:ext cx="1092852" cy="6270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/>
          <p:cNvSpPr txBox="1"/>
          <p:nvPr/>
        </p:nvSpPr>
        <p:spPr>
          <a:xfrm rot="19582402">
            <a:off x="5035156" y="5631247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</a:t>
            </a:r>
            <a:endParaRPr lang="en-GB" dirty="0"/>
          </a:p>
        </p:txBody>
      </p:sp>
      <p:sp>
        <p:nvSpPr>
          <p:cNvPr id="219" name="Rectangle 218"/>
          <p:cNvSpPr/>
          <p:nvPr/>
        </p:nvSpPr>
        <p:spPr>
          <a:xfrm>
            <a:off x="9197250" y="1011811"/>
            <a:ext cx="208186" cy="22174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20" name="Rectangle 219"/>
          <p:cNvSpPr/>
          <p:nvPr/>
        </p:nvSpPr>
        <p:spPr>
          <a:xfrm>
            <a:off x="9197251" y="1337390"/>
            <a:ext cx="208186" cy="2301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21" name="Rectangle 220"/>
          <p:cNvSpPr/>
          <p:nvPr/>
        </p:nvSpPr>
        <p:spPr>
          <a:xfrm>
            <a:off x="9197251" y="1666753"/>
            <a:ext cx="20818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22" name="Rounded Rectangle 221"/>
          <p:cNvSpPr/>
          <p:nvPr/>
        </p:nvSpPr>
        <p:spPr>
          <a:xfrm>
            <a:off x="9179818" y="1978997"/>
            <a:ext cx="243050" cy="269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23" name="Rounded Rectangle 222"/>
          <p:cNvSpPr/>
          <p:nvPr/>
        </p:nvSpPr>
        <p:spPr>
          <a:xfrm>
            <a:off x="9179818" y="2333869"/>
            <a:ext cx="243050" cy="25643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24" name="TextBox 223"/>
          <p:cNvSpPr txBox="1"/>
          <p:nvPr/>
        </p:nvSpPr>
        <p:spPr>
          <a:xfrm>
            <a:off x="9346917" y="941072"/>
            <a:ext cx="2110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Dataset/Block tables</a:t>
            </a:r>
            <a:endParaRPr lang="en-GB" dirty="0"/>
          </a:p>
        </p:txBody>
      </p:sp>
      <p:sp>
        <p:nvSpPr>
          <p:cNvPr id="225" name="TextBox 224"/>
          <p:cNvSpPr txBox="1"/>
          <p:nvPr/>
        </p:nvSpPr>
        <p:spPr>
          <a:xfrm>
            <a:off x="9348652" y="1244993"/>
            <a:ext cx="1800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Node level tables</a:t>
            </a:r>
            <a:endParaRPr lang="en-GB" dirty="0"/>
          </a:p>
        </p:txBody>
      </p:sp>
      <p:sp>
        <p:nvSpPr>
          <p:cNvPr id="226" name="TextBox 225"/>
          <p:cNvSpPr txBox="1"/>
          <p:nvPr/>
        </p:nvSpPr>
        <p:spPr>
          <a:xfrm>
            <a:off x="9346917" y="1594477"/>
            <a:ext cx="161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File level tables</a:t>
            </a:r>
            <a:endParaRPr lang="en-GB" dirty="0"/>
          </a:p>
        </p:txBody>
      </p:sp>
      <p:sp>
        <p:nvSpPr>
          <p:cNvPr id="227" name="TextBox 226"/>
          <p:cNvSpPr txBox="1"/>
          <p:nvPr/>
        </p:nvSpPr>
        <p:spPr>
          <a:xfrm>
            <a:off x="9346518" y="1928861"/>
            <a:ext cx="146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Central Agent</a:t>
            </a:r>
            <a:endParaRPr lang="en-GB" dirty="0"/>
          </a:p>
        </p:txBody>
      </p:sp>
      <p:sp>
        <p:nvSpPr>
          <p:cNvPr id="228" name="TextBox 227"/>
          <p:cNvSpPr txBox="1"/>
          <p:nvPr/>
        </p:nvSpPr>
        <p:spPr>
          <a:xfrm>
            <a:off x="9346518" y="2278345"/>
            <a:ext cx="113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Site Agent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111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en-GB" sz="4000" dirty="0" smtClean="0"/>
              <a:t>PhEDEx workflow (Step By Step)</a:t>
            </a:r>
            <a:endParaRPr lang="en-GB" sz="4000" dirty="0" smtClean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6" name="Straight Connector 5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33955" y="104162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Request dataset or block transfer.</a:t>
            </a:r>
            <a:endParaRPr lang="en-GB" sz="1200" dirty="0"/>
          </a:p>
        </p:txBody>
      </p:sp>
      <p:sp>
        <p:nvSpPr>
          <p:cNvPr id="7" name="Rounded Rectangle 6"/>
          <p:cNvSpPr/>
          <p:nvPr/>
        </p:nvSpPr>
        <p:spPr>
          <a:xfrm>
            <a:off x="3419061" y="1106055"/>
            <a:ext cx="1568720" cy="3816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Web Pages / API</a:t>
            </a:r>
            <a:endParaRPr lang="en-GB" sz="1400" dirty="0"/>
          </a:p>
        </p:txBody>
      </p:sp>
      <p:sp>
        <p:nvSpPr>
          <p:cNvPr id="8" name="Rounded Rectangle 7"/>
          <p:cNvSpPr/>
          <p:nvPr/>
        </p:nvSpPr>
        <p:spPr>
          <a:xfrm>
            <a:off x="6092554" y="916048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" name="Rectangle 8"/>
          <p:cNvSpPr/>
          <p:nvPr/>
        </p:nvSpPr>
        <p:spPr>
          <a:xfrm>
            <a:off x="6252465" y="1019566"/>
            <a:ext cx="1085840" cy="2288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T_req_xfer</a:t>
            </a:r>
            <a:endParaRPr lang="en-GB" sz="1400" dirty="0"/>
          </a:p>
        </p:txBody>
      </p:sp>
      <p:sp>
        <p:nvSpPr>
          <p:cNvPr id="13" name="Rectangle 12"/>
          <p:cNvSpPr/>
          <p:nvPr/>
        </p:nvSpPr>
        <p:spPr>
          <a:xfrm>
            <a:off x="7484917" y="1023954"/>
            <a:ext cx="1331446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T_req_dataset</a:t>
            </a:r>
            <a:endParaRPr lang="en-GB" sz="1400" dirty="0"/>
          </a:p>
        </p:txBody>
      </p:sp>
      <p:sp>
        <p:nvSpPr>
          <p:cNvPr id="14" name="Rectangle 13"/>
          <p:cNvSpPr/>
          <p:nvPr/>
        </p:nvSpPr>
        <p:spPr>
          <a:xfrm>
            <a:off x="6252465" y="1324042"/>
            <a:ext cx="1085840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T_req_node</a:t>
            </a:r>
            <a:endParaRPr lang="en-GB" sz="1400" dirty="0"/>
          </a:p>
        </p:txBody>
      </p:sp>
      <p:sp>
        <p:nvSpPr>
          <p:cNvPr id="15" name="Rectangle 14"/>
          <p:cNvSpPr/>
          <p:nvPr/>
        </p:nvSpPr>
        <p:spPr>
          <a:xfrm>
            <a:off x="7484917" y="1317741"/>
            <a:ext cx="1331446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T_req_decision</a:t>
            </a:r>
            <a:endParaRPr lang="en-GB" sz="1400" dirty="0"/>
          </a:p>
        </p:txBody>
      </p:sp>
      <p:cxnSp>
        <p:nvCxnSpPr>
          <p:cNvPr id="18" name="Straight Connector 17"/>
          <p:cNvCxnSpPr>
            <a:stCxn id="5" idx="3"/>
            <a:endCxn id="7" idx="1"/>
          </p:cNvCxnSpPr>
          <p:nvPr/>
        </p:nvCxnSpPr>
        <p:spPr>
          <a:xfrm>
            <a:off x="2743200" y="1284136"/>
            <a:ext cx="675861" cy="127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3"/>
            <a:endCxn id="8" idx="1"/>
          </p:cNvCxnSpPr>
          <p:nvPr/>
        </p:nvCxnSpPr>
        <p:spPr>
          <a:xfrm flipV="1">
            <a:off x="4987781" y="1252404"/>
            <a:ext cx="1104773" cy="444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72188" y="960531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0s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333954" y="156749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approved requests into subscriptions.</a:t>
            </a:r>
            <a:endParaRPr lang="en-GB" sz="1200" dirty="0"/>
          </a:p>
        </p:txBody>
      </p:sp>
      <p:sp>
        <p:nvSpPr>
          <p:cNvPr id="19" name="Rounded Rectangle 18"/>
          <p:cNvSpPr/>
          <p:nvPr/>
        </p:nvSpPr>
        <p:spPr>
          <a:xfrm>
            <a:off x="3421138" y="1624221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RequestAllocator</a:t>
            </a:r>
            <a:endParaRPr lang="en-GB" sz="1400" dirty="0"/>
          </a:p>
        </p:txBody>
      </p:sp>
      <p:sp>
        <p:nvSpPr>
          <p:cNvPr id="20" name="Rounded Rectangle 19"/>
          <p:cNvSpPr/>
          <p:nvPr/>
        </p:nvSpPr>
        <p:spPr>
          <a:xfrm>
            <a:off x="6092554" y="162164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25" name="Rectangle 24"/>
          <p:cNvSpPr/>
          <p:nvPr/>
        </p:nvSpPr>
        <p:spPr>
          <a:xfrm>
            <a:off x="6679649" y="1746910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T_dps_subscription</a:t>
            </a:r>
            <a:endParaRPr lang="en-GB" sz="1400" dirty="0"/>
          </a:p>
        </p:txBody>
      </p:sp>
      <p:cxnSp>
        <p:nvCxnSpPr>
          <p:cNvPr id="27" name="Straight Connector 26"/>
          <p:cNvCxnSpPr>
            <a:stCxn id="17" idx="3"/>
            <a:endCxn id="19" idx="1"/>
          </p:cNvCxnSpPr>
          <p:nvPr/>
        </p:nvCxnSpPr>
        <p:spPr>
          <a:xfrm>
            <a:off x="2743199" y="1810006"/>
            <a:ext cx="677939" cy="5047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8" idx="1"/>
            <a:endCxn id="19" idx="3"/>
          </p:cNvCxnSpPr>
          <p:nvPr/>
        </p:nvCxnSpPr>
        <p:spPr>
          <a:xfrm flipH="1">
            <a:off x="4989858" y="1252404"/>
            <a:ext cx="1102696" cy="56264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19866235">
            <a:off x="4860430" y="131714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cxnSp>
        <p:nvCxnSpPr>
          <p:cNvPr id="34" name="Straight Arrow Connector 33"/>
          <p:cNvCxnSpPr>
            <a:stCxn id="19" idx="3"/>
            <a:endCxn id="20" idx="1"/>
          </p:cNvCxnSpPr>
          <p:nvPr/>
        </p:nvCxnSpPr>
        <p:spPr>
          <a:xfrm>
            <a:off x="4989858" y="1815053"/>
            <a:ext cx="1102696" cy="383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33953" y="2108645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subscriptions into block destinations.</a:t>
            </a:r>
            <a:endParaRPr lang="en-GB" sz="1200" dirty="0"/>
          </a:p>
        </p:txBody>
      </p:sp>
      <p:sp>
        <p:nvSpPr>
          <p:cNvPr id="28" name="Rounded Rectangle 27"/>
          <p:cNvSpPr/>
          <p:nvPr/>
        </p:nvSpPr>
        <p:spPr>
          <a:xfrm>
            <a:off x="3404398" y="2135177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BlockAllocator</a:t>
            </a:r>
            <a:endParaRPr lang="en-GB" sz="1400" dirty="0"/>
          </a:p>
        </p:txBody>
      </p:sp>
      <p:sp>
        <p:nvSpPr>
          <p:cNvPr id="29" name="Rounded Rectangle 28"/>
          <p:cNvSpPr/>
          <p:nvPr/>
        </p:nvSpPr>
        <p:spPr>
          <a:xfrm>
            <a:off x="6092554" y="214793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1" name="Rectangle 30"/>
          <p:cNvSpPr/>
          <p:nvPr/>
        </p:nvSpPr>
        <p:spPr>
          <a:xfrm>
            <a:off x="6679649" y="2265252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T_dps_block_dest</a:t>
            </a:r>
            <a:endParaRPr lang="en-GB" sz="1400" dirty="0"/>
          </a:p>
        </p:txBody>
      </p:sp>
      <p:cxnSp>
        <p:nvCxnSpPr>
          <p:cNvPr id="32" name="Straight Connector 31"/>
          <p:cNvCxnSpPr>
            <a:stCxn id="26" idx="3"/>
            <a:endCxn id="28" idx="1"/>
          </p:cNvCxnSpPr>
          <p:nvPr/>
        </p:nvCxnSpPr>
        <p:spPr>
          <a:xfrm flipV="1">
            <a:off x="2743198" y="2326009"/>
            <a:ext cx="661200" cy="251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8" idx="3"/>
            <a:endCxn id="29" idx="1"/>
          </p:cNvCxnSpPr>
          <p:nvPr/>
        </p:nvCxnSpPr>
        <p:spPr>
          <a:xfrm>
            <a:off x="4973118" y="2326009"/>
            <a:ext cx="1119436" cy="536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0" idx="1"/>
          </p:cNvCxnSpPr>
          <p:nvPr/>
        </p:nvCxnSpPr>
        <p:spPr>
          <a:xfrm flipH="1">
            <a:off x="4955649" y="1853394"/>
            <a:ext cx="1136905" cy="4663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rot="20117480">
            <a:off x="4941178" y="186164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300s</a:t>
            </a:r>
            <a:endParaRPr lang="en-GB" dirty="0"/>
          </a:p>
        </p:txBody>
      </p:sp>
      <p:sp>
        <p:nvSpPr>
          <p:cNvPr id="38" name="Rectangle 37"/>
          <p:cNvSpPr/>
          <p:nvPr/>
        </p:nvSpPr>
        <p:spPr>
          <a:xfrm>
            <a:off x="333953" y="2657520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block destinations into file requests. Compute the path of least cost from available replicas.</a:t>
            </a:r>
            <a:endParaRPr lang="en-GB" sz="1200" dirty="0"/>
          </a:p>
        </p:txBody>
      </p:sp>
      <p:sp>
        <p:nvSpPr>
          <p:cNvPr id="39" name="Rounded Rectangle 38"/>
          <p:cNvSpPr/>
          <p:nvPr/>
        </p:nvSpPr>
        <p:spPr>
          <a:xfrm>
            <a:off x="3392430" y="2747782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FileRouter</a:t>
            </a:r>
            <a:endParaRPr lang="en-GB" sz="1400" dirty="0"/>
          </a:p>
        </p:txBody>
      </p:sp>
      <p:sp>
        <p:nvSpPr>
          <p:cNvPr id="40" name="Rounded Rectangle 39"/>
          <p:cNvSpPr/>
          <p:nvPr/>
        </p:nvSpPr>
        <p:spPr>
          <a:xfrm>
            <a:off x="6092554" y="2706427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42" name="Straight Connector 41"/>
          <p:cNvCxnSpPr>
            <a:stCxn id="38" idx="3"/>
            <a:endCxn id="39" idx="1"/>
          </p:cNvCxnSpPr>
          <p:nvPr/>
        </p:nvCxnSpPr>
        <p:spPr>
          <a:xfrm>
            <a:off x="2743198" y="2938179"/>
            <a:ext cx="649232" cy="435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9" idx="3"/>
            <a:endCxn id="40" idx="1"/>
          </p:cNvCxnSpPr>
          <p:nvPr/>
        </p:nvCxnSpPr>
        <p:spPr>
          <a:xfrm flipV="1">
            <a:off x="4961150" y="2938179"/>
            <a:ext cx="1131404" cy="4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39" idx="3"/>
          </p:cNvCxnSpPr>
          <p:nvPr/>
        </p:nvCxnSpPr>
        <p:spPr>
          <a:xfrm flipH="1">
            <a:off x="4961150" y="2511989"/>
            <a:ext cx="1131405" cy="4266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 rot="20419618">
            <a:off x="4871460" y="2418927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60s+r(10)</a:t>
            </a:r>
            <a:endParaRPr lang="en-GB" dirty="0"/>
          </a:p>
        </p:txBody>
      </p:sp>
      <p:sp>
        <p:nvSpPr>
          <p:cNvPr id="46" name="Rectangle 45"/>
          <p:cNvSpPr/>
          <p:nvPr/>
        </p:nvSpPr>
        <p:spPr>
          <a:xfrm>
            <a:off x="6249252" y="2860029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t_xfer_request</a:t>
            </a:r>
            <a:endParaRPr lang="en-GB" sz="1400" dirty="0"/>
          </a:p>
        </p:txBody>
      </p:sp>
      <p:sp>
        <p:nvSpPr>
          <p:cNvPr id="47" name="Rectangle 46"/>
          <p:cNvSpPr/>
          <p:nvPr/>
        </p:nvSpPr>
        <p:spPr>
          <a:xfrm>
            <a:off x="7794276" y="2860030"/>
            <a:ext cx="1089329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T_xfer_path</a:t>
            </a:r>
            <a:endParaRPr lang="en-GB" sz="1400" dirty="0"/>
          </a:p>
        </p:txBody>
      </p:sp>
      <p:sp>
        <p:nvSpPr>
          <p:cNvPr id="48" name="Rectangle 47"/>
          <p:cNvSpPr/>
          <p:nvPr/>
        </p:nvSpPr>
        <p:spPr>
          <a:xfrm>
            <a:off x="328818" y="3296467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Create transfer tasks from path segments.</a:t>
            </a:r>
            <a:endParaRPr lang="en-GB" sz="1200" dirty="0"/>
          </a:p>
        </p:txBody>
      </p:sp>
      <p:sp>
        <p:nvSpPr>
          <p:cNvPr id="49" name="Rounded Rectangle 48"/>
          <p:cNvSpPr/>
          <p:nvPr/>
        </p:nvSpPr>
        <p:spPr>
          <a:xfrm>
            <a:off x="3395362" y="3424475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FileIssue</a:t>
            </a:r>
            <a:endParaRPr lang="en-GB" sz="1400" dirty="0"/>
          </a:p>
        </p:txBody>
      </p:sp>
      <p:sp>
        <p:nvSpPr>
          <p:cNvPr id="50" name="Rounded Rectangle 49"/>
          <p:cNvSpPr/>
          <p:nvPr/>
        </p:nvSpPr>
        <p:spPr>
          <a:xfrm>
            <a:off x="6080829" y="3371856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51" name="Straight Connector 50"/>
          <p:cNvCxnSpPr>
            <a:stCxn id="48" idx="3"/>
            <a:endCxn id="49" idx="1"/>
          </p:cNvCxnSpPr>
          <p:nvPr/>
        </p:nvCxnSpPr>
        <p:spPr>
          <a:xfrm>
            <a:off x="2738063" y="3577126"/>
            <a:ext cx="657299" cy="3818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9" idx="3"/>
            <a:endCxn id="50" idx="1"/>
          </p:cNvCxnSpPr>
          <p:nvPr/>
        </p:nvCxnSpPr>
        <p:spPr>
          <a:xfrm flipV="1">
            <a:off x="4964082" y="3603608"/>
            <a:ext cx="1116747" cy="116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6213161" y="3477813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t_xfer_task</a:t>
            </a:r>
            <a:endParaRPr lang="en-GB" sz="1400" dirty="0"/>
          </a:p>
        </p:txBody>
      </p:sp>
      <p:cxnSp>
        <p:nvCxnSpPr>
          <p:cNvPr id="56" name="Straight Arrow Connector 55"/>
          <p:cNvCxnSpPr>
            <a:stCxn id="40" idx="1"/>
            <a:endCxn id="49" idx="3"/>
          </p:cNvCxnSpPr>
          <p:nvPr/>
        </p:nvCxnSpPr>
        <p:spPr>
          <a:xfrm flipH="1">
            <a:off x="4964082" y="2938179"/>
            <a:ext cx="1128472" cy="6771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 rot="19582402">
            <a:off x="4836577" y="3041164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60s+r(10)</a:t>
            </a:r>
            <a:endParaRPr lang="en-GB" dirty="0"/>
          </a:p>
        </p:txBody>
      </p:sp>
      <p:sp>
        <p:nvSpPr>
          <p:cNvPr id="54" name="Rectangle 53"/>
          <p:cNvSpPr/>
          <p:nvPr/>
        </p:nvSpPr>
        <p:spPr>
          <a:xfrm>
            <a:off x="328817" y="3943419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Execute staging, transfer, migrations.</a:t>
            </a:r>
            <a:endParaRPr lang="en-GB" sz="1200" dirty="0"/>
          </a:p>
        </p:txBody>
      </p:sp>
      <p:sp>
        <p:nvSpPr>
          <p:cNvPr id="55" name="Rounded Rectangle 54"/>
          <p:cNvSpPr/>
          <p:nvPr/>
        </p:nvSpPr>
        <p:spPr>
          <a:xfrm>
            <a:off x="3372840" y="3889990"/>
            <a:ext cx="1568720" cy="6798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FileDownload</a:t>
            </a:r>
          </a:p>
          <a:p>
            <a:pPr algn="ctr"/>
            <a:r>
              <a:rPr lang="en-GB" sz="1400" dirty="0" smtClean="0"/>
              <a:t>File Stager</a:t>
            </a:r>
          </a:p>
          <a:p>
            <a:pPr algn="ctr"/>
            <a:r>
              <a:rPr lang="en-GB" sz="1400" dirty="0" smtClean="0"/>
              <a:t>File Migrate</a:t>
            </a:r>
            <a:endParaRPr lang="en-GB" sz="1400" dirty="0"/>
          </a:p>
        </p:txBody>
      </p:sp>
      <p:cxnSp>
        <p:nvCxnSpPr>
          <p:cNvPr id="59" name="Straight Connector 58"/>
          <p:cNvCxnSpPr>
            <a:stCxn id="54" idx="3"/>
            <a:endCxn id="55" idx="1"/>
          </p:cNvCxnSpPr>
          <p:nvPr/>
        </p:nvCxnSpPr>
        <p:spPr>
          <a:xfrm>
            <a:off x="2738062" y="4224078"/>
            <a:ext cx="634778" cy="585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5" idx="3"/>
            <a:endCxn id="64" idx="1"/>
          </p:cNvCxnSpPr>
          <p:nvPr/>
        </p:nvCxnSpPr>
        <p:spPr>
          <a:xfrm>
            <a:off x="4941560" y="4229928"/>
            <a:ext cx="1139269" cy="146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0" idx="1"/>
            <a:endCxn id="55" idx="3"/>
          </p:cNvCxnSpPr>
          <p:nvPr/>
        </p:nvCxnSpPr>
        <p:spPr>
          <a:xfrm flipH="1">
            <a:off x="4941560" y="3603608"/>
            <a:ext cx="1139269" cy="626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 rot="19582402">
            <a:off x="4885931" y="3717467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sp>
        <p:nvSpPr>
          <p:cNvPr id="64" name="Rounded Rectangle 63"/>
          <p:cNvSpPr/>
          <p:nvPr/>
        </p:nvSpPr>
        <p:spPr>
          <a:xfrm>
            <a:off x="6080829" y="3908212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5" name="Rectangle 64"/>
          <p:cNvSpPr/>
          <p:nvPr/>
        </p:nvSpPr>
        <p:spPr>
          <a:xfrm>
            <a:off x="6240740" y="4011730"/>
            <a:ext cx="1085840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Task_export</a:t>
            </a:r>
            <a:endParaRPr lang="en-GB" sz="1400" dirty="0"/>
          </a:p>
        </p:txBody>
      </p:sp>
      <p:sp>
        <p:nvSpPr>
          <p:cNvPr id="66" name="Rectangle 65"/>
          <p:cNvSpPr/>
          <p:nvPr/>
        </p:nvSpPr>
        <p:spPr>
          <a:xfrm>
            <a:off x="7473192" y="4016118"/>
            <a:ext cx="1331446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Task_inxfer</a:t>
            </a:r>
            <a:endParaRPr lang="en-GB" sz="1400" dirty="0"/>
          </a:p>
        </p:txBody>
      </p:sp>
      <p:sp>
        <p:nvSpPr>
          <p:cNvPr id="67" name="Rectangle 66"/>
          <p:cNvSpPr/>
          <p:nvPr/>
        </p:nvSpPr>
        <p:spPr>
          <a:xfrm>
            <a:off x="6240740" y="4316206"/>
            <a:ext cx="1085840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Task_done</a:t>
            </a:r>
            <a:endParaRPr lang="en-GB" sz="1400" dirty="0"/>
          </a:p>
        </p:txBody>
      </p:sp>
      <p:sp>
        <p:nvSpPr>
          <p:cNvPr id="68" name="Rectangle 67"/>
          <p:cNvSpPr/>
          <p:nvPr/>
        </p:nvSpPr>
        <p:spPr>
          <a:xfrm>
            <a:off x="7473192" y="4309905"/>
            <a:ext cx="1331446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Task_error</a:t>
            </a:r>
            <a:endParaRPr lang="en-GB" sz="1400" dirty="0"/>
          </a:p>
        </p:txBody>
      </p:sp>
      <p:sp>
        <p:nvSpPr>
          <p:cNvPr id="61" name="Rectangle 60"/>
          <p:cNvSpPr/>
          <p:nvPr/>
        </p:nvSpPr>
        <p:spPr>
          <a:xfrm>
            <a:off x="333952" y="4587686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Collect completed tasks. Create replica if success.</a:t>
            </a:r>
            <a:endParaRPr lang="en-GB" sz="1200" dirty="0"/>
          </a:p>
        </p:txBody>
      </p:sp>
      <p:sp>
        <p:nvSpPr>
          <p:cNvPr id="69" name="Rounded Rectangle 68"/>
          <p:cNvSpPr/>
          <p:nvPr/>
        </p:nvSpPr>
        <p:spPr>
          <a:xfrm>
            <a:off x="3399095" y="4685521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FilePump</a:t>
            </a:r>
            <a:endParaRPr lang="en-GB" sz="1400" dirty="0"/>
          </a:p>
        </p:txBody>
      </p:sp>
      <p:cxnSp>
        <p:nvCxnSpPr>
          <p:cNvPr id="70" name="Straight Connector 69"/>
          <p:cNvCxnSpPr>
            <a:stCxn id="61" idx="3"/>
            <a:endCxn id="69" idx="1"/>
          </p:cNvCxnSpPr>
          <p:nvPr/>
        </p:nvCxnSpPr>
        <p:spPr>
          <a:xfrm>
            <a:off x="2743197" y="4868345"/>
            <a:ext cx="655898" cy="8008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9" idx="3"/>
            <a:endCxn id="77" idx="1"/>
          </p:cNvCxnSpPr>
          <p:nvPr/>
        </p:nvCxnSpPr>
        <p:spPr>
          <a:xfrm>
            <a:off x="4967815" y="4876353"/>
            <a:ext cx="1124739" cy="491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6092554" y="4693737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78" name="Rectangle 77"/>
          <p:cNvSpPr/>
          <p:nvPr/>
        </p:nvSpPr>
        <p:spPr>
          <a:xfrm>
            <a:off x="6224886" y="4799694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Task_harvest</a:t>
            </a:r>
            <a:endParaRPr lang="en-GB" sz="1400" dirty="0"/>
          </a:p>
        </p:txBody>
      </p:sp>
      <p:sp>
        <p:nvSpPr>
          <p:cNvPr id="79" name="Rectangle 78"/>
          <p:cNvSpPr/>
          <p:nvPr/>
        </p:nvSpPr>
        <p:spPr>
          <a:xfrm>
            <a:off x="7769910" y="4799695"/>
            <a:ext cx="1089329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Xfer_replica</a:t>
            </a:r>
            <a:endParaRPr lang="en-GB" sz="1400" dirty="0"/>
          </a:p>
        </p:txBody>
      </p:sp>
      <p:cxnSp>
        <p:nvCxnSpPr>
          <p:cNvPr id="80" name="Straight Arrow Connector 79"/>
          <p:cNvCxnSpPr>
            <a:stCxn id="64" idx="1"/>
            <a:endCxn id="69" idx="3"/>
          </p:cNvCxnSpPr>
          <p:nvPr/>
        </p:nvCxnSpPr>
        <p:spPr>
          <a:xfrm flipH="1">
            <a:off x="4967815" y="4244568"/>
            <a:ext cx="1113014" cy="6317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 rot="19582402">
            <a:off x="4979285" y="439625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</a:t>
            </a:r>
            <a:endParaRPr lang="en-GB" dirty="0"/>
          </a:p>
        </p:txBody>
      </p:sp>
      <p:sp>
        <p:nvSpPr>
          <p:cNvPr id="72" name="Rectangle 71"/>
          <p:cNvSpPr/>
          <p:nvPr/>
        </p:nvSpPr>
        <p:spPr>
          <a:xfrm>
            <a:off x="328817" y="5231387"/>
            <a:ext cx="2409245" cy="4558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Observe file replicas and update block replica statistics.</a:t>
            </a:r>
            <a:endParaRPr lang="en-GB" sz="1200" dirty="0"/>
          </a:p>
        </p:txBody>
      </p:sp>
      <p:sp>
        <p:nvSpPr>
          <p:cNvPr id="73" name="Rounded Rectangle 72"/>
          <p:cNvSpPr/>
          <p:nvPr/>
        </p:nvSpPr>
        <p:spPr>
          <a:xfrm>
            <a:off x="3404398" y="5320809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BlockMonitor</a:t>
            </a:r>
            <a:endParaRPr lang="en-GB" sz="1400" dirty="0"/>
          </a:p>
        </p:txBody>
      </p:sp>
      <p:cxnSp>
        <p:nvCxnSpPr>
          <p:cNvPr id="74" name="Straight Connector 73"/>
          <p:cNvCxnSpPr>
            <a:stCxn id="72" idx="3"/>
            <a:endCxn id="73" idx="1"/>
          </p:cNvCxnSpPr>
          <p:nvPr/>
        </p:nvCxnSpPr>
        <p:spPr>
          <a:xfrm>
            <a:off x="2738062" y="5459331"/>
            <a:ext cx="666336" cy="5231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73" idx="3"/>
            <a:endCxn id="76" idx="1"/>
          </p:cNvCxnSpPr>
          <p:nvPr/>
        </p:nvCxnSpPr>
        <p:spPr>
          <a:xfrm flipV="1">
            <a:off x="4973118" y="5489313"/>
            <a:ext cx="1107711" cy="223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6080829" y="5257561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2" name="Rectangle 81"/>
          <p:cNvSpPr/>
          <p:nvPr/>
        </p:nvSpPr>
        <p:spPr>
          <a:xfrm>
            <a:off x="6213161" y="5363518"/>
            <a:ext cx="1545024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Dps_block_replica</a:t>
            </a:r>
            <a:endParaRPr lang="en-GB" sz="1400" dirty="0"/>
          </a:p>
        </p:txBody>
      </p:sp>
      <p:cxnSp>
        <p:nvCxnSpPr>
          <p:cNvPr id="84" name="Straight Arrow Connector 83"/>
          <p:cNvCxnSpPr>
            <a:stCxn id="77" idx="1"/>
            <a:endCxn id="73" idx="3"/>
          </p:cNvCxnSpPr>
          <p:nvPr/>
        </p:nvCxnSpPr>
        <p:spPr>
          <a:xfrm flipH="1">
            <a:off x="4973118" y="4925489"/>
            <a:ext cx="1119436" cy="5861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 rot="19582402">
            <a:off x="4979500" y="5032599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</a:t>
            </a:r>
            <a:endParaRPr lang="en-GB" dirty="0"/>
          </a:p>
        </p:txBody>
      </p:sp>
      <p:sp>
        <p:nvSpPr>
          <p:cNvPr id="83" name="Rectangle 82"/>
          <p:cNvSpPr/>
          <p:nvPr/>
        </p:nvSpPr>
        <p:spPr>
          <a:xfrm>
            <a:off x="328816" y="5731982"/>
            <a:ext cx="2409245" cy="4190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Observe states and fill summary table. </a:t>
            </a:r>
            <a:endParaRPr lang="en-GB" sz="1200" dirty="0"/>
          </a:p>
        </p:txBody>
      </p:sp>
      <p:sp>
        <p:nvSpPr>
          <p:cNvPr id="86" name="Rounded Rectangle 85"/>
          <p:cNvSpPr/>
          <p:nvPr/>
        </p:nvSpPr>
        <p:spPr>
          <a:xfrm>
            <a:off x="3416123" y="5951680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PerfMonitor</a:t>
            </a:r>
            <a:endParaRPr lang="en-GB" sz="1400" dirty="0"/>
          </a:p>
        </p:txBody>
      </p:sp>
      <p:cxnSp>
        <p:nvCxnSpPr>
          <p:cNvPr id="87" name="Straight Connector 86"/>
          <p:cNvCxnSpPr>
            <a:stCxn id="83" idx="3"/>
            <a:endCxn id="86" idx="1"/>
          </p:cNvCxnSpPr>
          <p:nvPr/>
        </p:nvCxnSpPr>
        <p:spPr>
          <a:xfrm>
            <a:off x="2738061" y="5941509"/>
            <a:ext cx="678062" cy="201003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86" idx="3"/>
            <a:endCxn id="89" idx="1"/>
          </p:cNvCxnSpPr>
          <p:nvPr/>
        </p:nvCxnSpPr>
        <p:spPr>
          <a:xfrm flipV="1">
            <a:off x="4984843" y="6120184"/>
            <a:ext cx="1107711" cy="223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6092554" y="588843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1" name="Rectangle 90"/>
          <p:cNvSpPr/>
          <p:nvPr/>
        </p:nvSpPr>
        <p:spPr>
          <a:xfrm>
            <a:off x="328815" y="6257852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Display recent state and history.</a:t>
            </a:r>
            <a:endParaRPr lang="en-GB" sz="1200" dirty="0"/>
          </a:p>
        </p:txBody>
      </p:sp>
      <p:sp>
        <p:nvSpPr>
          <p:cNvPr id="92" name="Rounded Rectangle 91"/>
          <p:cNvSpPr/>
          <p:nvPr/>
        </p:nvSpPr>
        <p:spPr>
          <a:xfrm>
            <a:off x="3392430" y="6437507"/>
            <a:ext cx="1568720" cy="3816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Web Pages/ API</a:t>
            </a:r>
            <a:endParaRPr lang="en-GB" sz="1400" dirty="0"/>
          </a:p>
        </p:txBody>
      </p:sp>
      <p:cxnSp>
        <p:nvCxnSpPr>
          <p:cNvPr id="93" name="Straight Connector 92"/>
          <p:cNvCxnSpPr>
            <a:stCxn id="91" idx="3"/>
            <a:endCxn id="92" idx="1"/>
          </p:cNvCxnSpPr>
          <p:nvPr/>
        </p:nvCxnSpPr>
        <p:spPr>
          <a:xfrm>
            <a:off x="2738060" y="6538511"/>
            <a:ext cx="654370" cy="89828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6224886" y="6005753"/>
            <a:ext cx="1370835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History_link_ev</a:t>
            </a:r>
            <a:endParaRPr lang="en-GB" sz="1400" dirty="0"/>
          </a:p>
        </p:txBody>
      </p:sp>
      <p:sp>
        <p:nvSpPr>
          <p:cNvPr id="95" name="Rectangle 94"/>
          <p:cNvSpPr/>
          <p:nvPr/>
        </p:nvSpPr>
        <p:spPr>
          <a:xfrm>
            <a:off x="7769910" y="6005754"/>
            <a:ext cx="1089329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Status_task</a:t>
            </a:r>
            <a:endParaRPr lang="en-GB" sz="1400" dirty="0"/>
          </a:p>
        </p:txBody>
      </p:sp>
      <p:cxnSp>
        <p:nvCxnSpPr>
          <p:cNvPr id="96" name="Straight Arrow Connector 95"/>
          <p:cNvCxnSpPr>
            <a:endCxn id="86" idx="3"/>
          </p:cNvCxnSpPr>
          <p:nvPr/>
        </p:nvCxnSpPr>
        <p:spPr>
          <a:xfrm flipH="1">
            <a:off x="4984843" y="5515440"/>
            <a:ext cx="1092852" cy="6270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89" idx="1"/>
          </p:cNvCxnSpPr>
          <p:nvPr/>
        </p:nvCxnSpPr>
        <p:spPr>
          <a:xfrm flipH="1">
            <a:off x="4943047" y="6120184"/>
            <a:ext cx="1149507" cy="524199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stCxn id="76" idx="1"/>
            <a:endCxn id="92" idx="3"/>
          </p:cNvCxnSpPr>
          <p:nvPr/>
        </p:nvCxnSpPr>
        <p:spPr>
          <a:xfrm flipH="1">
            <a:off x="4961150" y="5489313"/>
            <a:ext cx="1119679" cy="113902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5079540" y="6442788"/>
            <a:ext cx="2290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60s + 3600s (compact)</a:t>
            </a:r>
            <a:endParaRPr lang="en-GB" dirty="0"/>
          </a:p>
        </p:txBody>
      </p:sp>
      <p:sp>
        <p:nvSpPr>
          <p:cNvPr id="107" name="TextBox 106"/>
          <p:cNvSpPr txBox="1"/>
          <p:nvPr/>
        </p:nvSpPr>
        <p:spPr>
          <a:xfrm rot="19582402">
            <a:off x="5035156" y="5631247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</a:t>
            </a:r>
            <a:endParaRPr lang="en-GB" dirty="0"/>
          </a:p>
        </p:txBody>
      </p:sp>
      <p:sp>
        <p:nvSpPr>
          <p:cNvPr id="108" name="Rectangle 107"/>
          <p:cNvSpPr/>
          <p:nvPr/>
        </p:nvSpPr>
        <p:spPr>
          <a:xfrm>
            <a:off x="9197250" y="1011811"/>
            <a:ext cx="208186" cy="22174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09" name="Rectangle 108"/>
          <p:cNvSpPr/>
          <p:nvPr/>
        </p:nvSpPr>
        <p:spPr>
          <a:xfrm>
            <a:off x="9197251" y="1337390"/>
            <a:ext cx="208186" cy="2301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10" name="Rectangle 109"/>
          <p:cNvSpPr/>
          <p:nvPr/>
        </p:nvSpPr>
        <p:spPr>
          <a:xfrm>
            <a:off x="9197251" y="1666753"/>
            <a:ext cx="20818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11" name="Rounded Rectangle 110"/>
          <p:cNvSpPr/>
          <p:nvPr/>
        </p:nvSpPr>
        <p:spPr>
          <a:xfrm>
            <a:off x="9179818" y="1978997"/>
            <a:ext cx="243050" cy="269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12" name="Rounded Rectangle 111"/>
          <p:cNvSpPr/>
          <p:nvPr/>
        </p:nvSpPr>
        <p:spPr>
          <a:xfrm>
            <a:off x="9179818" y="2333869"/>
            <a:ext cx="243050" cy="25643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06" name="TextBox 105"/>
          <p:cNvSpPr txBox="1"/>
          <p:nvPr/>
        </p:nvSpPr>
        <p:spPr>
          <a:xfrm>
            <a:off x="9346917" y="941072"/>
            <a:ext cx="2110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Dataset/Block tables</a:t>
            </a:r>
            <a:endParaRPr lang="en-GB" dirty="0"/>
          </a:p>
        </p:txBody>
      </p:sp>
      <p:sp>
        <p:nvSpPr>
          <p:cNvPr id="114" name="TextBox 113"/>
          <p:cNvSpPr txBox="1"/>
          <p:nvPr/>
        </p:nvSpPr>
        <p:spPr>
          <a:xfrm>
            <a:off x="9348652" y="1244993"/>
            <a:ext cx="1800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Node level tables</a:t>
            </a:r>
            <a:endParaRPr lang="en-GB" dirty="0"/>
          </a:p>
        </p:txBody>
      </p:sp>
      <p:sp>
        <p:nvSpPr>
          <p:cNvPr id="115" name="TextBox 114"/>
          <p:cNvSpPr txBox="1"/>
          <p:nvPr/>
        </p:nvSpPr>
        <p:spPr>
          <a:xfrm>
            <a:off x="9346917" y="1594477"/>
            <a:ext cx="161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File level tables</a:t>
            </a:r>
            <a:endParaRPr lang="en-GB" dirty="0"/>
          </a:p>
        </p:txBody>
      </p:sp>
      <p:sp>
        <p:nvSpPr>
          <p:cNvPr id="116" name="TextBox 115"/>
          <p:cNvSpPr txBox="1"/>
          <p:nvPr/>
        </p:nvSpPr>
        <p:spPr>
          <a:xfrm>
            <a:off x="9346518" y="1928861"/>
            <a:ext cx="146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Central Agent</a:t>
            </a:r>
            <a:endParaRPr lang="en-GB" dirty="0"/>
          </a:p>
        </p:txBody>
      </p:sp>
      <p:sp>
        <p:nvSpPr>
          <p:cNvPr id="117" name="TextBox 116"/>
          <p:cNvSpPr txBox="1"/>
          <p:nvPr/>
        </p:nvSpPr>
        <p:spPr>
          <a:xfrm>
            <a:off x="9346518" y="2278345"/>
            <a:ext cx="113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Site Agent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532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lt-LT" sz="4000" dirty="0" smtClean="0"/>
              <a:t>What else we don`t know...</a:t>
            </a:r>
            <a:endParaRPr lang="en-GB" sz="4000" dirty="0" smtClean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6" name="Straight Connector 5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33955" y="104162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Request dataset or block transfer.</a:t>
            </a:r>
            <a:endParaRPr lang="en-GB" sz="1200" dirty="0"/>
          </a:p>
        </p:txBody>
      </p:sp>
      <p:sp>
        <p:nvSpPr>
          <p:cNvPr id="7" name="Rounded Rectangle 6"/>
          <p:cNvSpPr/>
          <p:nvPr/>
        </p:nvSpPr>
        <p:spPr>
          <a:xfrm>
            <a:off x="3419061" y="1106055"/>
            <a:ext cx="1568720" cy="3816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Web Pages / API</a:t>
            </a:r>
            <a:endParaRPr lang="en-GB" sz="1400" dirty="0"/>
          </a:p>
        </p:txBody>
      </p:sp>
      <p:sp>
        <p:nvSpPr>
          <p:cNvPr id="8" name="Rounded Rectangle 7"/>
          <p:cNvSpPr/>
          <p:nvPr/>
        </p:nvSpPr>
        <p:spPr>
          <a:xfrm>
            <a:off x="6092554" y="916048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" name="Rectangle 8"/>
          <p:cNvSpPr/>
          <p:nvPr/>
        </p:nvSpPr>
        <p:spPr>
          <a:xfrm>
            <a:off x="6252465" y="1019566"/>
            <a:ext cx="1085840" cy="2288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T_req_xfer</a:t>
            </a:r>
            <a:endParaRPr lang="en-GB" sz="1400" dirty="0"/>
          </a:p>
        </p:txBody>
      </p:sp>
      <p:sp>
        <p:nvSpPr>
          <p:cNvPr id="13" name="Rectangle 12"/>
          <p:cNvSpPr/>
          <p:nvPr/>
        </p:nvSpPr>
        <p:spPr>
          <a:xfrm>
            <a:off x="7484917" y="1023954"/>
            <a:ext cx="1331446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T_req_dataset</a:t>
            </a:r>
            <a:endParaRPr lang="en-GB" sz="1400" dirty="0"/>
          </a:p>
        </p:txBody>
      </p:sp>
      <p:sp>
        <p:nvSpPr>
          <p:cNvPr id="14" name="Rectangle 13"/>
          <p:cNvSpPr/>
          <p:nvPr/>
        </p:nvSpPr>
        <p:spPr>
          <a:xfrm>
            <a:off x="6252465" y="1324042"/>
            <a:ext cx="1085840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T_req_node</a:t>
            </a:r>
            <a:endParaRPr lang="en-GB" sz="1400" dirty="0"/>
          </a:p>
        </p:txBody>
      </p:sp>
      <p:sp>
        <p:nvSpPr>
          <p:cNvPr id="15" name="Rectangle 14"/>
          <p:cNvSpPr/>
          <p:nvPr/>
        </p:nvSpPr>
        <p:spPr>
          <a:xfrm>
            <a:off x="7484917" y="1317741"/>
            <a:ext cx="1331446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T_req_decision</a:t>
            </a:r>
            <a:endParaRPr lang="en-GB" sz="1400" dirty="0"/>
          </a:p>
        </p:txBody>
      </p:sp>
      <p:cxnSp>
        <p:nvCxnSpPr>
          <p:cNvPr id="18" name="Straight Connector 17"/>
          <p:cNvCxnSpPr>
            <a:stCxn id="5" idx="3"/>
            <a:endCxn id="7" idx="1"/>
          </p:cNvCxnSpPr>
          <p:nvPr/>
        </p:nvCxnSpPr>
        <p:spPr>
          <a:xfrm>
            <a:off x="2743200" y="1284136"/>
            <a:ext cx="675861" cy="127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3"/>
            <a:endCxn id="8" idx="1"/>
          </p:cNvCxnSpPr>
          <p:nvPr/>
        </p:nvCxnSpPr>
        <p:spPr>
          <a:xfrm flipV="1">
            <a:off x="4987781" y="1252404"/>
            <a:ext cx="1104773" cy="444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72188" y="960531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0s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333954" y="1567491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approved requests into subscriptions.</a:t>
            </a:r>
            <a:endParaRPr lang="en-GB" sz="1200" dirty="0"/>
          </a:p>
        </p:txBody>
      </p:sp>
      <p:sp>
        <p:nvSpPr>
          <p:cNvPr id="19" name="Rounded Rectangle 18"/>
          <p:cNvSpPr/>
          <p:nvPr/>
        </p:nvSpPr>
        <p:spPr>
          <a:xfrm>
            <a:off x="3421138" y="1624221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RequestAllocator</a:t>
            </a:r>
            <a:endParaRPr lang="en-GB" sz="1400" dirty="0"/>
          </a:p>
        </p:txBody>
      </p:sp>
      <p:sp>
        <p:nvSpPr>
          <p:cNvPr id="20" name="Rounded Rectangle 19"/>
          <p:cNvSpPr/>
          <p:nvPr/>
        </p:nvSpPr>
        <p:spPr>
          <a:xfrm>
            <a:off x="6092554" y="162164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25" name="Rectangle 24"/>
          <p:cNvSpPr/>
          <p:nvPr/>
        </p:nvSpPr>
        <p:spPr>
          <a:xfrm>
            <a:off x="6679649" y="1746910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T_dps_subscription</a:t>
            </a:r>
            <a:endParaRPr lang="en-GB" sz="1400" dirty="0"/>
          </a:p>
        </p:txBody>
      </p:sp>
      <p:cxnSp>
        <p:nvCxnSpPr>
          <p:cNvPr id="27" name="Straight Connector 26"/>
          <p:cNvCxnSpPr>
            <a:stCxn id="17" idx="3"/>
            <a:endCxn id="19" idx="1"/>
          </p:cNvCxnSpPr>
          <p:nvPr/>
        </p:nvCxnSpPr>
        <p:spPr>
          <a:xfrm>
            <a:off x="2743199" y="1810006"/>
            <a:ext cx="677939" cy="5047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8" idx="1"/>
            <a:endCxn id="19" idx="3"/>
          </p:cNvCxnSpPr>
          <p:nvPr/>
        </p:nvCxnSpPr>
        <p:spPr>
          <a:xfrm flipH="1">
            <a:off x="4989858" y="1252404"/>
            <a:ext cx="1102696" cy="56264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19866235">
            <a:off x="4860430" y="131714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cxnSp>
        <p:nvCxnSpPr>
          <p:cNvPr id="34" name="Straight Arrow Connector 33"/>
          <p:cNvCxnSpPr>
            <a:stCxn id="19" idx="3"/>
            <a:endCxn id="20" idx="1"/>
          </p:cNvCxnSpPr>
          <p:nvPr/>
        </p:nvCxnSpPr>
        <p:spPr>
          <a:xfrm>
            <a:off x="4989858" y="1815053"/>
            <a:ext cx="1102696" cy="38341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33953" y="2108645"/>
            <a:ext cx="2409245" cy="4850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subscriptions into block destinations.</a:t>
            </a:r>
            <a:endParaRPr lang="en-GB" sz="1200" dirty="0"/>
          </a:p>
        </p:txBody>
      </p:sp>
      <p:sp>
        <p:nvSpPr>
          <p:cNvPr id="28" name="Rounded Rectangle 27"/>
          <p:cNvSpPr/>
          <p:nvPr/>
        </p:nvSpPr>
        <p:spPr>
          <a:xfrm>
            <a:off x="3404398" y="2135177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BlockAllocator</a:t>
            </a:r>
            <a:endParaRPr lang="en-GB" sz="1400" dirty="0"/>
          </a:p>
        </p:txBody>
      </p:sp>
      <p:sp>
        <p:nvSpPr>
          <p:cNvPr id="29" name="Rounded Rectangle 28"/>
          <p:cNvSpPr/>
          <p:nvPr/>
        </p:nvSpPr>
        <p:spPr>
          <a:xfrm>
            <a:off x="6092554" y="214793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1" name="Rectangle 30"/>
          <p:cNvSpPr/>
          <p:nvPr/>
        </p:nvSpPr>
        <p:spPr>
          <a:xfrm>
            <a:off x="6679649" y="2265252"/>
            <a:ext cx="1674848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T_dps_block_dest</a:t>
            </a:r>
            <a:endParaRPr lang="en-GB" sz="1400" dirty="0"/>
          </a:p>
        </p:txBody>
      </p:sp>
      <p:cxnSp>
        <p:nvCxnSpPr>
          <p:cNvPr id="32" name="Straight Connector 31"/>
          <p:cNvCxnSpPr>
            <a:stCxn id="26" idx="3"/>
            <a:endCxn id="28" idx="1"/>
          </p:cNvCxnSpPr>
          <p:nvPr/>
        </p:nvCxnSpPr>
        <p:spPr>
          <a:xfrm flipV="1">
            <a:off x="2743198" y="2326009"/>
            <a:ext cx="661200" cy="2515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8" idx="3"/>
            <a:endCxn id="29" idx="1"/>
          </p:cNvCxnSpPr>
          <p:nvPr/>
        </p:nvCxnSpPr>
        <p:spPr>
          <a:xfrm>
            <a:off x="4973118" y="2326009"/>
            <a:ext cx="1119436" cy="53675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0" idx="1"/>
          </p:cNvCxnSpPr>
          <p:nvPr/>
        </p:nvCxnSpPr>
        <p:spPr>
          <a:xfrm flipH="1">
            <a:off x="4955649" y="1853394"/>
            <a:ext cx="1136905" cy="4663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rot="20117480">
            <a:off x="4941178" y="1861648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300s</a:t>
            </a:r>
            <a:endParaRPr lang="en-GB" dirty="0"/>
          </a:p>
        </p:txBody>
      </p:sp>
      <p:sp>
        <p:nvSpPr>
          <p:cNvPr id="38" name="Rectangle 37"/>
          <p:cNvSpPr/>
          <p:nvPr/>
        </p:nvSpPr>
        <p:spPr>
          <a:xfrm>
            <a:off x="333953" y="2657520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Expand block destinations into file requests. Compute the path of least cost from available replicas.</a:t>
            </a:r>
            <a:endParaRPr lang="en-GB" sz="1200" dirty="0"/>
          </a:p>
        </p:txBody>
      </p:sp>
      <p:sp>
        <p:nvSpPr>
          <p:cNvPr id="39" name="Rounded Rectangle 38"/>
          <p:cNvSpPr/>
          <p:nvPr/>
        </p:nvSpPr>
        <p:spPr>
          <a:xfrm>
            <a:off x="3392430" y="2747782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FileRouter</a:t>
            </a:r>
            <a:endParaRPr lang="en-GB" sz="1400" dirty="0"/>
          </a:p>
        </p:txBody>
      </p:sp>
      <p:sp>
        <p:nvSpPr>
          <p:cNvPr id="40" name="Rounded Rectangle 39"/>
          <p:cNvSpPr/>
          <p:nvPr/>
        </p:nvSpPr>
        <p:spPr>
          <a:xfrm>
            <a:off x="6092554" y="2706427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42" name="Straight Connector 41"/>
          <p:cNvCxnSpPr>
            <a:stCxn id="38" idx="3"/>
            <a:endCxn id="39" idx="1"/>
          </p:cNvCxnSpPr>
          <p:nvPr/>
        </p:nvCxnSpPr>
        <p:spPr>
          <a:xfrm>
            <a:off x="2743198" y="2938179"/>
            <a:ext cx="649232" cy="435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9" idx="3"/>
            <a:endCxn id="40" idx="1"/>
          </p:cNvCxnSpPr>
          <p:nvPr/>
        </p:nvCxnSpPr>
        <p:spPr>
          <a:xfrm flipV="1">
            <a:off x="4961150" y="2938179"/>
            <a:ext cx="1131404" cy="435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39" idx="3"/>
          </p:cNvCxnSpPr>
          <p:nvPr/>
        </p:nvCxnSpPr>
        <p:spPr>
          <a:xfrm flipH="1">
            <a:off x="4961150" y="2511989"/>
            <a:ext cx="1131405" cy="4266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 rot="20419618">
            <a:off x="4871460" y="2418927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60s+r(10)</a:t>
            </a:r>
            <a:endParaRPr lang="en-GB" dirty="0"/>
          </a:p>
        </p:txBody>
      </p:sp>
      <p:sp>
        <p:nvSpPr>
          <p:cNvPr id="46" name="Rectangle 45"/>
          <p:cNvSpPr/>
          <p:nvPr/>
        </p:nvSpPr>
        <p:spPr>
          <a:xfrm>
            <a:off x="6249252" y="2860029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t_xfer_request</a:t>
            </a:r>
            <a:endParaRPr lang="en-GB" sz="1400" dirty="0"/>
          </a:p>
        </p:txBody>
      </p:sp>
      <p:sp>
        <p:nvSpPr>
          <p:cNvPr id="47" name="Rectangle 46"/>
          <p:cNvSpPr/>
          <p:nvPr/>
        </p:nvSpPr>
        <p:spPr>
          <a:xfrm>
            <a:off x="7794276" y="2860030"/>
            <a:ext cx="1089329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T_xfer_path</a:t>
            </a:r>
            <a:endParaRPr lang="en-GB" sz="1400" dirty="0"/>
          </a:p>
        </p:txBody>
      </p:sp>
      <p:sp>
        <p:nvSpPr>
          <p:cNvPr id="48" name="Rectangle 47"/>
          <p:cNvSpPr/>
          <p:nvPr/>
        </p:nvSpPr>
        <p:spPr>
          <a:xfrm>
            <a:off x="328818" y="3296467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Create transfer tasks from path segments.</a:t>
            </a:r>
            <a:endParaRPr lang="en-GB" sz="1200" dirty="0"/>
          </a:p>
        </p:txBody>
      </p:sp>
      <p:sp>
        <p:nvSpPr>
          <p:cNvPr id="49" name="Rounded Rectangle 48"/>
          <p:cNvSpPr/>
          <p:nvPr/>
        </p:nvSpPr>
        <p:spPr>
          <a:xfrm>
            <a:off x="3395362" y="3424475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FileIssue</a:t>
            </a:r>
            <a:endParaRPr lang="en-GB" sz="1400" dirty="0"/>
          </a:p>
        </p:txBody>
      </p:sp>
      <p:sp>
        <p:nvSpPr>
          <p:cNvPr id="50" name="Rounded Rectangle 49"/>
          <p:cNvSpPr/>
          <p:nvPr/>
        </p:nvSpPr>
        <p:spPr>
          <a:xfrm>
            <a:off x="6080829" y="3371856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cxnSp>
        <p:nvCxnSpPr>
          <p:cNvPr id="51" name="Straight Connector 50"/>
          <p:cNvCxnSpPr>
            <a:stCxn id="48" idx="3"/>
            <a:endCxn id="49" idx="1"/>
          </p:cNvCxnSpPr>
          <p:nvPr/>
        </p:nvCxnSpPr>
        <p:spPr>
          <a:xfrm>
            <a:off x="2738063" y="3577126"/>
            <a:ext cx="657299" cy="38181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9" idx="3"/>
            <a:endCxn id="50" idx="1"/>
          </p:cNvCxnSpPr>
          <p:nvPr/>
        </p:nvCxnSpPr>
        <p:spPr>
          <a:xfrm flipV="1">
            <a:off x="4964082" y="3603608"/>
            <a:ext cx="1116747" cy="11699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6213161" y="3477813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t_xfer_task</a:t>
            </a:r>
            <a:endParaRPr lang="en-GB" sz="1400" dirty="0"/>
          </a:p>
        </p:txBody>
      </p:sp>
      <p:cxnSp>
        <p:nvCxnSpPr>
          <p:cNvPr id="56" name="Straight Arrow Connector 55"/>
          <p:cNvCxnSpPr>
            <a:stCxn id="40" idx="1"/>
            <a:endCxn id="49" idx="3"/>
          </p:cNvCxnSpPr>
          <p:nvPr/>
        </p:nvCxnSpPr>
        <p:spPr>
          <a:xfrm flipH="1">
            <a:off x="4964082" y="2938179"/>
            <a:ext cx="1128472" cy="6771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 rot="19582402">
            <a:off x="4836577" y="3041164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60s+r(10)</a:t>
            </a:r>
            <a:endParaRPr lang="en-GB" dirty="0"/>
          </a:p>
        </p:txBody>
      </p:sp>
      <p:sp>
        <p:nvSpPr>
          <p:cNvPr id="54" name="Rectangle 53"/>
          <p:cNvSpPr/>
          <p:nvPr/>
        </p:nvSpPr>
        <p:spPr>
          <a:xfrm>
            <a:off x="328817" y="3943419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Execute staging, transfer, migrations.</a:t>
            </a:r>
            <a:endParaRPr lang="en-GB" sz="1200" dirty="0"/>
          </a:p>
        </p:txBody>
      </p:sp>
      <p:sp>
        <p:nvSpPr>
          <p:cNvPr id="55" name="Rounded Rectangle 54"/>
          <p:cNvSpPr/>
          <p:nvPr/>
        </p:nvSpPr>
        <p:spPr>
          <a:xfrm>
            <a:off x="3372840" y="3889990"/>
            <a:ext cx="1568720" cy="6798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FileDownload</a:t>
            </a:r>
          </a:p>
          <a:p>
            <a:pPr algn="ctr"/>
            <a:r>
              <a:rPr lang="en-GB" sz="1400" dirty="0" smtClean="0"/>
              <a:t>File Stager</a:t>
            </a:r>
          </a:p>
          <a:p>
            <a:pPr algn="ctr"/>
            <a:r>
              <a:rPr lang="en-GB" sz="1400" dirty="0" smtClean="0"/>
              <a:t>File Migrate</a:t>
            </a:r>
            <a:endParaRPr lang="en-GB" sz="1400" dirty="0"/>
          </a:p>
        </p:txBody>
      </p:sp>
      <p:cxnSp>
        <p:nvCxnSpPr>
          <p:cNvPr id="59" name="Straight Connector 58"/>
          <p:cNvCxnSpPr>
            <a:stCxn id="54" idx="3"/>
            <a:endCxn id="55" idx="1"/>
          </p:cNvCxnSpPr>
          <p:nvPr/>
        </p:nvCxnSpPr>
        <p:spPr>
          <a:xfrm>
            <a:off x="2738062" y="4224078"/>
            <a:ext cx="634778" cy="585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5" idx="3"/>
            <a:endCxn id="64" idx="1"/>
          </p:cNvCxnSpPr>
          <p:nvPr/>
        </p:nvCxnSpPr>
        <p:spPr>
          <a:xfrm>
            <a:off x="4941560" y="4229928"/>
            <a:ext cx="1139269" cy="1464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0" idx="1"/>
            <a:endCxn id="55" idx="3"/>
          </p:cNvCxnSpPr>
          <p:nvPr/>
        </p:nvCxnSpPr>
        <p:spPr>
          <a:xfrm flipH="1">
            <a:off x="4941560" y="3603608"/>
            <a:ext cx="1139269" cy="6263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 rot="19582402">
            <a:off x="4885931" y="3717467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15*60s</a:t>
            </a:r>
            <a:endParaRPr lang="en-GB" dirty="0"/>
          </a:p>
        </p:txBody>
      </p:sp>
      <p:sp>
        <p:nvSpPr>
          <p:cNvPr id="64" name="Rounded Rectangle 63"/>
          <p:cNvSpPr/>
          <p:nvPr/>
        </p:nvSpPr>
        <p:spPr>
          <a:xfrm>
            <a:off x="6080829" y="3908212"/>
            <a:ext cx="2870420" cy="67271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65" name="Rectangle 64"/>
          <p:cNvSpPr/>
          <p:nvPr/>
        </p:nvSpPr>
        <p:spPr>
          <a:xfrm>
            <a:off x="6240740" y="4011730"/>
            <a:ext cx="1085840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Task_export</a:t>
            </a:r>
            <a:endParaRPr lang="en-GB" sz="1400" dirty="0"/>
          </a:p>
        </p:txBody>
      </p:sp>
      <p:sp>
        <p:nvSpPr>
          <p:cNvPr id="66" name="Rectangle 65"/>
          <p:cNvSpPr/>
          <p:nvPr/>
        </p:nvSpPr>
        <p:spPr>
          <a:xfrm>
            <a:off x="7473192" y="4016118"/>
            <a:ext cx="1331446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Task_inxfer</a:t>
            </a:r>
            <a:endParaRPr lang="en-GB" sz="1400" dirty="0"/>
          </a:p>
        </p:txBody>
      </p:sp>
      <p:sp>
        <p:nvSpPr>
          <p:cNvPr id="67" name="Rectangle 66"/>
          <p:cNvSpPr/>
          <p:nvPr/>
        </p:nvSpPr>
        <p:spPr>
          <a:xfrm>
            <a:off x="6240740" y="4316206"/>
            <a:ext cx="1085840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Task_done</a:t>
            </a:r>
            <a:endParaRPr lang="en-GB" sz="1400" dirty="0"/>
          </a:p>
        </p:txBody>
      </p:sp>
      <p:sp>
        <p:nvSpPr>
          <p:cNvPr id="68" name="Rectangle 67"/>
          <p:cNvSpPr/>
          <p:nvPr/>
        </p:nvSpPr>
        <p:spPr>
          <a:xfrm>
            <a:off x="7473192" y="4309905"/>
            <a:ext cx="1331446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Task_error</a:t>
            </a:r>
            <a:endParaRPr lang="en-GB" sz="1400" dirty="0"/>
          </a:p>
        </p:txBody>
      </p:sp>
      <p:sp>
        <p:nvSpPr>
          <p:cNvPr id="61" name="Rectangle 60"/>
          <p:cNvSpPr/>
          <p:nvPr/>
        </p:nvSpPr>
        <p:spPr>
          <a:xfrm>
            <a:off x="333952" y="4587686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Collect completed tasks. Create replica if success.</a:t>
            </a:r>
            <a:endParaRPr lang="en-GB" sz="1200" dirty="0"/>
          </a:p>
        </p:txBody>
      </p:sp>
      <p:sp>
        <p:nvSpPr>
          <p:cNvPr id="69" name="Rounded Rectangle 68"/>
          <p:cNvSpPr/>
          <p:nvPr/>
        </p:nvSpPr>
        <p:spPr>
          <a:xfrm>
            <a:off x="3399095" y="4685521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FilePump</a:t>
            </a:r>
            <a:endParaRPr lang="en-GB" sz="1400" dirty="0"/>
          </a:p>
        </p:txBody>
      </p:sp>
      <p:cxnSp>
        <p:nvCxnSpPr>
          <p:cNvPr id="70" name="Straight Connector 69"/>
          <p:cNvCxnSpPr>
            <a:stCxn id="61" idx="3"/>
            <a:endCxn id="69" idx="1"/>
          </p:cNvCxnSpPr>
          <p:nvPr/>
        </p:nvCxnSpPr>
        <p:spPr>
          <a:xfrm>
            <a:off x="2743197" y="4868345"/>
            <a:ext cx="655898" cy="8008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9" idx="3"/>
            <a:endCxn id="77" idx="1"/>
          </p:cNvCxnSpPr>
          <p:nvPr/>
        </p:nvCxnSpPr>
        <p:spPr>
          <a:xfrm>
            <a:off x="4967815" y="4876353"/>
            <a:ext cx="1124739" cy="49136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6092554" y="4693737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78" name="Rectangle 77"/>
          <p:cNvSpPr/>
          <p:nvPr/>
        </p:nvSpPr>
        <p:spPr>
          <a:xfrm>
            <a:off x="6224886" y="4799694"/>
            <a:ext cx="137083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Task_harvest</a:t>
            </a:r>
            <a:endParaRPr lang="en-GB" sz="1400" dirty="0"/>
          </a:p>
        </p:txBody>
      </p:sp>
      <p:sp>
        <p:nvSpPr>
          <p:cNvPr id="79" name="Rectangle 78"/>
          <p:cNvSpPr/>
          <p:nvPr/>
        </p:nvSpPr>
        <p:spPr>
          <a:xfrm>
            <a:off x="7769910" y="4799695"/>
            <a:ext cx="1089329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Xfer_replica</a:t>
            </a:r>
            <a:endParaRPr lang="en-GB" sz="1400" dirty="0"/>
          </a:p>
        </p:txBody>
      </p:sp>
      <p:cxnSp>
        <p:nvCxnSpPr>
          <p:cNvPr id="80" name="Straight Arrow Connector 79"/>
          <p:cNvCxnSpPr>
            <a:stCxn id="64" idx="1"/>
            <a:endCxn id="69" idx="3"/>
          </p:cNvCxnSpPr>
          <p:nvPr/>
        </p:nvCxnSpPr>
        <p:spPr>
          <a:xfrm flipH="1">
            <a:off x="4967815" y="4244568"/>
            <a:ext cx="1113014" cy="6317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 rot="19582402">
            <a:off x="4979285" y="439625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</a:t>
            </a:r>
            <a:endParaRPr lang="en-GB" dirty="0"/>
          </a:p>
        </p:txBody>
      </p:sp>
      <p:sp>
        <p:nvSpPr>
          <p:cNvPr id="72" name="Rectangle 71"/>
          <p:cNvSpPr/>
          <p:nvPr/>
        </p:nvSpPr>
        <p:spPr>
          <a:xfrm>
            <a:off x="328817" y="5231387"/>
            <a:ext cx="2409245" cy="4558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Observe file replicas and update block replica statistics.</a:t>
            </a:r>
            <a:endParaRPr lang="en-GB" sz="1200" dirty="0"/>
          </a:p>
        </p:txBody>
      </p:sp>
      <p:sp>
        <p:nvSpPr>
          <p:cNvPr id="73" name="Rounded Rectangle 72"/>
          <p:cNvSpPr/>
          <p:nvPr/>
        </p:nvSpPr>
        <p:spPr>
          <a:xfrm>
            <a:off x="3404398" y="5320809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BlockMonitor</a:t>
            </a:r>
            <a:endParaRPr lang="en-GB" sz="1400" dirty="0"/>
          </a:p>
        </p:txBody>
      </p:sp>
      <p:cxnSp>
        <p:nvCxnSpPr>
          <p:cNvPr id="74" name="Straight Connector 73"/>
          <p:cNvCxnSpPr>
            <a:stCxn id="72" idx="3"/>
            <a:endCxn id="73" idx="1"/>
          </p:cNvCxnSpPr>
          <p:nvPr/>
        </p:nvCxnSpPr>
        <p:spPr>
          <a:xfrm>
            <a:off x="2738062" y="5459331"/>
            <a:ext cx="666336" cy="52310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73" idx="3"/>
            <a:endCxn id="76" idx="1"/>
          </p:cNvCxnSpPr>
          <p:nvPr/>
        </p:nvCxnSpPr>
        <p:spPr>
          <a:xfrm flipV="1">
            <a:off x="4973118" y="5489313"/>
            <a:ext cx="1107711" cy="22328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6080829" y="5257561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82" name="Rectangle 81"/>
          <p:cNvSpPr/>
          <p:nvPr/>
        </p:nvSpPr>
        <p:spPr>
          <a:xfrm>
            <a:off x="6213161" y="5363518"/>
            <a:ext cx="1545024" cy="22886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Dps_block_replica</a:t>
            </a:r>
            <a:endParaRPr lang="en-GB" sz="1400" dirty="0"/>
          </a:p>
        </p:txBody>
      </p:sp>
      <p:cxnSp>
        <p:nvCxnSpPr>
          <p:cNvPr id="84" name="Straight Arrow Connector 83"/>
          <p:cNvCxnSpPr>
            <a:stCxn id="77" idx="1"/>
            <a:endCxn id="73" idx="3"/>
          </p:cNvCxnSpPr>
          <p:nvPr/>
        </p:nvCxnSpPr>
        <p:spPr>
          <a:xfrm flipH="1">
            <a:off x="4973118" y="4925489"/>
            <a:ext cx="1119436" cy="5861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 rot="19582402">
            <a:off x="4979500" y="5032599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</a:t>
            </a:r>
            <a:endParaRPr lang="en-GB" dirty="0"/>
          </a:p>
        </p:txBody>
      </p:sp>
      <p:sp>
        <p:nvSpPr>
          <p:cNvPr id="83" name="Rectangle 82"/>
          <p:cNvSpPr/>
          <p:nvPr/>
        </p:nvSpPr>
        <p:spPr>
          <a:xfrm>
            <a:off x="328816" y="5731982"/>
            <a:ext cx="2409245" cy="4190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Observe states and fill summary table. </a:t>
            </a:r>
            <a:endParaRPr lang="en-GB" sz="1200" dirty="0"/>
          </a:p>
        </p:txBody>
      </p:sp>
      <p:sp>
        <p:nvSpPr>
          <p:cNvPr id="86" name="Rounded Rectangle 85"/>
          <p:cNvSpPr/>
          <p:nvPr/>
        </p:nvSpPr>
        <p:spPr>
          <a:xfrm>
            <a:off x="3416123" y="5951680"/>
            <a:ext cx="1568720" cy="381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PerfMonitor</a:t>
            </a:r>
            <a:endParaRPr lang="en-GB" sz="1400" dirty="0"/>
          </a:p>
        </p:txBody>
      </p:sp>
      <p:cxnSp>
        <p:nvCxnSpPr>
          <p:cNvPr id="87" name="Straight Connector 86"/>
          <p:cNvCxnSpPr>
            <a:stCxn id="83" idx="3"/>
            <a:endCxn id="86" idx="1"/>
          </p:cNvCxnSpPr>
          <p:nvPr/>
        </p:nvCxnSpPr>
        <p:spPr>
          <a:xfrm>
            <a:off x="2738061" y="5941509"/>
            <a:ext cx="678062" cy="201003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86" idx="3"/>
            <a:endCxn id="89" idx="1"/>
          </p:cNvCxnSpPr>
          <p:nvPr/>
        </p:nvCxnSpPr>
        <p:spPr>
          <a:xfrm flipV="1">
            <a:off x="4984843" y="6120184"/>
            <a:ext cx="1107711" cy="22328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6092554" y="5888432"/>
            <a:ext cx="2870420" cy="46350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1" name="Rectangle 90"/>
          <p:cNvSpPr/>
          <p:nvPr/>
        </p:nvSpPr>
        <p:spPr>
          <a:xfrm>
            <a:off x="328815" y="6257852"/>
            <a:ext cx="2409245" cy="561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Display recent state and history.</a:t>
            </a:r>
            <a:endParaRPr lang="en-GB" sz="1200" dirty="0"/>
          </a:p>
        </p:txBody>
      </p:sp>
      <p:sp>
        <p:nvSpPr>
          <p:cNvPr id="92" name="Rounded Rectangle 91"/>
          <p:cNvSpPr/>
          <p:nvPr/>
        </p:nvSpPr>
        <p:spPr>
          <a:xfrm>
            <a:off x="3392430" y="6437507"/>
            <a:ext cx="1568720" cy="3816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Web Pages/ API</a:t>
            </a:r>
            <a:endParaRPr lang="en-GB" sz="1400" dirty="0"/>
          </a:p>
        </p:txBody>
      </p:sp>
      <p:cxnSp>
        <p:nvCxnSpPr>
          <p:cNvPr id="93" name="Straight Connector 92"/>
          <p:cNvCxnSpPr>
            <a:stCxn id="91" idx="3"/>
            <a:endCxn id="92" idx="1"/>
          </p:cNvCxnSpPr>
          <p:nvPr/>
        </p:nvCxnSpPr>
        <p:spPr>
          <a:xfrm>
            <a:off x="2738060" y="6538511"/>
            <a:ext cx="654370" cy="89828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6224886" y="6005753"/>
            <a:ext cx="1370835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History_link_ev</a:t>
            </a:r>
            <a:endParaRPr lang="en-GB" sz="1400" dirty="0"/>
          </a:p>
        </p:txBody>
      </p:sp>
      <p:sp>
        <p:nvSpPr>
          <p:cNvPr id="95" name="Rectangle 94"/>
          <p:cNvSpPr/>
          <p:nvPr/>
        </p:nvSpPr>
        <p:spPr>
          <a:xfrm>
            <a:off x="7769910" y="6005754"/>
            <a:ext cx="1089329" cy="2288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 smtClean="0"/>
              <a:t>Status_task</a:t>
            </a:r>
            <a:endParaRPr lang="en-GB" sz="1400" dirty="0"/>
          </a:p>
        </p:txBody>
      </p:sp>
      <p:cxnSp>
        <p:nvCxnSpPr>
          <p:cNvPr id="96" name="Straight Arrow Connector 95"/>
          <p:cNvCxnSpPr>
            <a:endCxn id="86" idx="3"/>
          </p:cNvCxnSpPr>
          <p:nvPr/>
        </p:nvCxnSpPr>
        <p:spPr>
          <a:xfrm flipH="1">
            <a:off x="4984843" y="5515440"/>
            <a:ext cx="1092852" cy="6270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89" idx="1"/>
          </p:cNvCxnSpPr>
          <p:nvPr/>
        </p:nvCxnSpPr>
        <p:spPr>
          <a:xfrm flipH="1">
            <a:off x="4943047" y="6120184"/>
            <a:ext cx="1149507" cy="524199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stCxn id="76" idx="1"/>
            <a:endCxn id="92" idx="3"/>
          </p:cNvCxnSpPr>
          <p:nvPr/>
        </p:nvCxnSpPr>
        <p:spPr>
          <a:xfrm flipH="1">
            <a:off x="4961150" y="5489313"/>
            <a:ext cx="1119679" cy="113902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5079540" y="6442788"/>
            <a:ext cx="2290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60s + 3600s (compact)</a:t>
            </a:r>
            <a:endParaRPr lang="en-GB" dirty="0"/>
          </a:p>
        </p:txBody>
      </p:sp>
      <p:sp>
        <p:nvSpPr>
          <p:cNvPr id="107" name="TextBox 106"/>
          <p:cNvSpPr txBox="1"/>
          <p:nvPr/>
        </p:nvSpPr>
        <p:spPr>
          <a:xfrm rot="19582402">
            <a:off x="5035156" y="5631247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60s</a:t>
            </a:r>
            <a:endParaRPr lang="en-GB" dirty="0"/>
          </a:p>
        </p:txBody>
      </p:sp>
      <p:sp>
        <p:nvSpPr>
          <p:cNvPr id="108" name="Rectangle 107"/>
          <p:cNvSpPr/>
          <p:nvPr/>
        </p:nvSpPr>
        <p:spPr>
          <a:xfrm>
            <a:off x="9197250" y="1011811"/>
            <a:ext cx="208186" cy="22174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09" name="Rectangle 108"/>
          <p:cNvSpPr/>
          <p:nvPr/>
        </p:nvSpPr>
        <p:spPr>
          <a:xfrm>
            <a:off x="9197251" y="1337390"/>
            <a:ext cx="208186" cy="2301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10" name="Rectangle 109"/>
          <p:cNvSpPr/>
          <p:nvPr/>
        </p:nvSpPr>
        <p:spPr>
          <a:xfrm>
            <a:off x="9197251" y="1666753"/>
            <a:ext cx="208185" cy="2288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11" name="Rounded Rectangle 110"/>
          <p:cNvSpPr/>
          <p:nvPr/>
        </p:nvSpPr>
        <p:spPr>
          <a:xfrm>
            <a:off x="9179818" y="1978997"/>
            <a:ext cx="243050" cy="269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12" name="Rounded Rectangle 111"/>
          <p:cNvSpPr/>
          <p:nvPr/>
        </p:nvSpPr>
        <p:spPr>
          <a:xfrm>
            <a:off x="9179818" y="2333869"/>
            <a:ext cx="243050" cy="25643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06" name="TextBox 105"/>
          <p:cNvSpPr txBox="1"/>
          <p:nvPr/>
        </p:nvSpPr>
        <p:spPr>
          <a:xfrm>
            <a:off x="9346917" y="941072"/>
            <a:ext cx="2110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Dataset/Block tables</a:t>
            </a:r>
            <a:endParaRPr lang="en-GB" dirty="0"/>
          </a:p>
        </p:txBody>
      </p:sp>
      <p:sp>
        <p:nvSpPr>
          <p:cNvPr id="114" name="TextBox 113"/>
          <p:cNvSpPr txBox="1"/>
          <p:nvPr/>
        </p:nvSpPr>
        <p:spPr>
          <a:xfrm>
            <a:off x="9348652" y="1244993"/>
            <a:ext cx="1800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Node level tables</a:t>
            </a:r>
            <a:endParaRPr lang="en-GB" dirty="0"/>
          </a:p>
        </p:txBody>
      </p:sp>
      <p:sp>
        <p:nvSpPr>
          <p:cNvPr id="115" name="TextBox 114"/>
          <p:cNvSpPr txBox="1"/>
          <p:nvPr/>
        </p:nvSpPr>
        <p:spPr>
          <a:xfrm>
            <a:off x="9346917" y="1594477"/>
            <a:ext cx="161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File level tables</a:t>
            </a:r>
            <a:endParaRPr lang="en-GB" dirty="0"/>
          </a:p>
        </p:txBody>
      </p:sp>
      <p:sp>
        <p:nvSpPr>
          <p:cNvPr id="116" name="TextBox 115"/>
          <p:cNvSpPr txBox="1"/>
          <p:nvPr/>
        </p:nvSpPr>
        <p:spPr>
          <a:xfrm>
            <a:off x="9346518" y="1928861"/>
            <a:ext cx="146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Central Agent</a:t>
            </a:r>
            <a:endParaRPr lang="en-GB" dirty="0"/>
          </a:p>
        </p:txBody>
      </p:sp>
      <p:sp>
        <p:nvSpPr>
          <p:cNvPr id="117" name="TextBox 116"/>
          <p:cNvSpPr txBox="1"/>
          <p:nvPr/>
        </p:nvSpPr>
        <p:spPr>
          <a:xfrm>
            <a:off x="9346518" y="2278345"/>
            <a:ext cx="113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t-LT" dirty="0" smtClean="0"/>
              <a:t>Site Agent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7950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421" y="-9860"/>
            <a:ext cx="9010739" cy="862096"/>
          </a:xfrm>
        </p:spPr>
        <p:txBody>
          <a:bodyPr>
            <a:noAutofit/>
          </a:bodyPr>
          <a:lstStyle/>
          <a:p>
            <a:r>
              <a:rPr lang="en-GB" sz="4000" dirty="0" smtClean="0"/>
              <a:t>Physics Experiment Data Export (PhEDEx)</a:t>
            </a:r>
            <a:endParaRPr lang="en-GB" sz="4000" dirty="0" smtClean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856" y="0"/>
            <a:ext cx="1984892" cy="852236"/>
          </a:xfrm>
        </p:spPr>
      </p:pic>
      <p:cxnSp>
        <p:nvCxnSpPr>
          <p:cNvPr id="6" name="Straight Connector 5"/>
          <p:cNvCxnSpPr/>
          <p:nvPr/>
        </p:nvCxnSpPr>
        <p:spPr>
          <a:xfrm>
            <a:off x="160421" y="852236"/>
            <a:ext cx="11935326" cy="10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Image result for cms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4" y="16583"/>
            <a:ext cx="855709" cy="85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016" y="852235"/>
            <a:ext cx="6096984" cy="28171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965" y="3689405"/>
            <a:ext cx="12193965" cy="316859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965" y="852894"/>
            <a:ext cx="6130049" cy="283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61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1531</Words>
  <Application>Microsoft Office PowerPoint</Application>
  <PresentationFormat>Widescreen</PresentationFormat>
  <Paragraphs>467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Any Data, Any Time, Anywhere</vt:lpstr>
      <vt:lpstr>Distributed Data Analysis in CMS (CRAB2)</vt:lpstr>
      <vt:lpstr>Distributed Data Analysis in CMS (CRAB3)</vt:lpstr>
      <vt:lpstr>Distributed Data Analysis in CMS (CRAB3)</vt:lpstr>
      <vt:lpstr>Physics Experiment Data Export (PhEDEx)</vt:lpstr>
      <vt:lpstr>Physics Experiment Data Export (PhEDEx)</vt:lpstr>
      <vt:lpstr>PhEDEx workflow (Step By Step)</vt:lpstr>
      <vt:lpstr>PhEDEx workflow (Step By Step)</vt:lpstr>
      <vt:lpstr>PhEDEx workflow (Step By Step)</vt:lpstr>
      <vt:lpstr>PhEDEx workflow (Step By Step)</vt:lpstr>
      <vt:lpstr>PhEDEx workflow (Step By Step)</vt:lpstr>
      <vt:lpstr>PhEDEx workflow (Step By Step)</vt:lpstr>
      <vt:lpstr>PowerPoint Presentation</vt:lpstr>
      <vt:lpstr>PowerPoint Presentation</vt:lpstr>
      <vt:lpstr>PhEDEx workflow (Step By Step)</vt:lpstr>
      <vt:lpstr>PhEDEx workflow (Step By Step)</vt:lpstr>
      <vt:lpstr>What else we don`t know...</vt:lpstr>
      <vt:lpstr>Physics Experiment Data Export (PhEDEx)</vt:lpstr>
    </vt:vector>
  </TitlesOfParts>
  <Company>Caltech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Justas Balcas</dc:creator>
  <cp:lastModifiedBy>Justas Balcas</cp:lastModifiedBy>
  <cp:revision>20</cp:revision>
  <dcterms:created xsi:type="dcterms:W3CDTF">2016-10-11T14:03:09Z</dcterms:created>
  <dcterms:modified xsi:type="dcterms:W3CDTF">2016-10-12T17:15:24Z</dcterms:modified>
</cp:coreProperties>
</file>