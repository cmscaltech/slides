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notesSlides/notesSlide1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9.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257" r:id="rId2"/>
    <p:sldId id="297" r:id="rId3"/>
    <p:sldId id="310" r:id="rId4"/>
    <p:sldId id="264" r:id="rId5"/>
    <p:sldId id="265" r:id="rId6"/>
    <p:sldId id="268" r:id="rId7"/>
    <p:sldId id="267" r:id="rId8"/>
    <p:sldId id="292" r:id="rId9"/>
    <p:sldId id="309" r:id="rId10"/>
    <p:sldId id="301" r:id="rId11"/>
    <p:sldId id="303" r:id="rId12"/>
    <p:sldId id="311" r:id="rId13"/>
    <p:sldId id="293" r:id="rId14"/>
    <p:sldId id="294" r:id="rId15"/>
    <p:sldId id="272" r:id="rId16"/>
    <p:sldId id="274" r:id="rId17"/>
    <p:sldId id="308" r:id="rId18"/>
    <p:sldId id="304" r:id="rId19"/>
    <p:sldId id="269" r:id="rId20"/>
    <p:sldId id="300" r:id="rId21"/>
    <p:sldId id="29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CBAD"/>
    <a:srgbClr val="2471BD"/>
    <a:srgbClr val="FF6E1E"/>
    <a:srgbClr val="FF71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84" autoAdjust="0"/>
    <p:restoredTop sz="94660"/>
  </p:normalViewPr>
  <p:slideViewPr>
    <p:cSldViewPr snapToGrid="0">
      <p:cViewPr varScale="1">
        <p:scale>
          <a:sx n="165" d="100"/>
          <a:sy n="165" d="100"/>
        </p:scale>
        <p:origin x="252"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vlad\Desktop\ALL_DATA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vlad\Desktop\ALL_DATA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vlad\Desktop\ALL_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vlad\Desktop\ALL_DAT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vlad\Desktop\ALL_DATA1.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oleObject" Target="file:///C:\Users\vlad\Desktop\ALL_DAT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vlad\Desktop\ALL_DATA.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Sheet8!$A$81</c:f>
              <c:strCache>
                <c:ptCount val="1"/>
                <c:pt idx="0">
                  <c:v>xrdcp (4streams)</c:v>
                </c:pt>
              </c:strCache>
            </c:strRef>
          </c:tx>
          <c:spPr>
            <a:ln w="15875" cap="rnd">
              <a:solidFill>
                <a:srgbClr val="92D050"/>
              </a:solidFill>
              <a:prstDash val="sysDash"/>
              <a:round/>
            </a:ln>
            <a:effectLst>
              <a:outerShdw blurRad="57150" dist="19050" dir="5400000" algn="ctr" rotWithShape="0">
                <a:srgbClr val="000000">
                  <a:alpha val="63000"/>
                </a:srgbClr>
              </a:outerShdw>
            </a:effectLst>
          </c:spPr>
          <c:marker>
            <c:symbol val="circle"/>
            <c:size val="6"/>
            <c:spPr>
              <a:solidFill>
                <a:srgbClr val="92D050"/>
              </a:solidFill>
              <a:ln w="9525" cap="rnd">
                <a:solidFill>
                  <a:srgbClr val="92D050"/>
                </a:solidFill>
                <a:round/>
              </a:ln>
              <a:effectLst>
                <a:outerShdw blurRad="57150" dist="19050" dir="5400000" algn="ctr" rotWithShape="0">
                  <a:srgbClr val="000000">
                    <a:alpha val="63000"/>
                  </a:srgbClr>
                </a:outerShdw>
              </a:effectLst>
            </c:spPr>
          </c:marker>
          <c:xVal>
            <c:numRef>
              <c:f>Sheet8!$B$80:$P$80</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Sheet8!$B$81:$P$81</c:f>
              <c:numCache>
                <c:formatCode>0</c:formatCode>
                <c:ptCount val="15"/>
                <c:pt idx="0">
                  <c:v>1046</c:v>
                </c:pt>
                <c:pt idx="1">
                  <c:v>1129.8499999999999</c:v>
                </c:pt>
                <c:pt idx="2">
                  <c:v>981.7</c:v>
                </c:pt>
                <c:pt idx="3">
                  <c:v>561</c:v>
                </c:pt>
                <c:pt idx="4">
                  <c:v>357</c:v>
                </c:pt>
                <c:pt idx="5">
                  <c:v>302.10000000000002</c:v>
                </c:pt>
                <c:pt idx="6">
                  <c:v>192.24545454545458</c:v>
                </c:pt>
                <c:pt idx="7">
                  <c:v>162.68165775401073</c:v>
                </c:pt>
                <c:pt idx="8">
                  <c:v>157.1</c:v>
                </c:pt>
                <c:pt idx="9">
                  <c:v>132.9409243697479</c:v>
                </c:pt>
                <c:pt idx="10">
                  <c:v>128.37968033290772</c:v>
                </c:pt>
                <c:pt idx="11">
                  <c:v>108.63725890356142</c:v>
                </c:pt>
                <c:pt idx="12">
                  <c:v>80.14</c:v>
                </c:pt>
                <c:pt idx="13">
                  <c:v>64.38</c:v>
                </c:pt>
                <c:pt idx="14">
                  <c:v>62.33</c:v>
                </c:pt>
              </c:numCache>
            </c:numRef>
          </c:yVal>
          <c:smooth val="1"/>
        </c:ser>
        <c:ser>
          <c:idx val="1"/>
          <c:order val="1"/>
          <c:tx>
            <c:strRef>
              <c:f>Sheet8!$A$82</c:f>
              <c:strCache>
                <c:ptCount val="1"/>
                <c:pt idx="0">
                  <c:v>xrdcp (8streams)</c:v>
                </c:pt>
              </c:strCache>
            </c:strRef>
          </c:tx>
          <c:spPr>
            <a:ln w="15875" cap="rnd">
              <a:solidFill>
                <a:srgbClr val="92D050"/>
              </a:solidFill>
              <a:round/>
            </a:ln>
            <a:effectLst>
              <a:outerShdw blurRad="57150" dist="19050" dir="5400000" algn="ctr" rotWithShape="0">
                <a:srgbClr val="000000">
                  <a:alpha val="63000"/>
                </a:srgbClr>
              </a:outerShdw>
            </a:effectLst>
          </c:spPr>
          <c:marker>
            <c:symbol val="circle"/>
            <c:size val="6"/>
            <c:spPr>
              <a:solidFill>
                <a:srgbClr val="92D050"/>
              </a:solidFill>
              <a:ln w="9525" cap="rnd">
                <a:solidFill>
                  <a:srgbClr val="92D050"/>
                </a:solidFill>
                <a:round/>
              </a:ln>
              <a:effectLst>
                <a:outerShdw blurRad="57150" dist="19050" dir="5400000" algn="ctr" rotWithShape="0">
                  <a:srgbClr val="000000">
                    <a:alpha val="63000"/>
                  </a:srgbClr>
                </a:outerShdw>
              </a:effectLst>
            </c:spPr>
          </c:marker>
          <c:xVal>
            <c:numRef>
              <c:f>Sheet8!$B$80:$P$80</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Sheet8!$B$82:$P$82</c:f>
              <c:numCache>
                <c:formatCode>0</c:formatCode>
                <c:ptCount val="15"/>
                <c:pt idx="0">
                  <c:v>1046</c:v>
                </c:pt>
                <c:pt idx="1">
                  <c:v>1129.8499999999999</c:v>
                </c:pt>
                <c:pt idx="2">
                  <c:v>981.7</c:v>
                </c:pt>
                <c:pt idx="3">
                  <c:v>654.5</c:v>
                </c:pt>
                <c:pt idx="4">
                  <c:v>392.7</c:v>
                </c:pt>
                <c:pt idx="5">
                  <c:v>327.2</c:v>
                </c:pt>
                <c:pt idx="6">
                  <c:v>196.32</c:v>
                </c:pt>
                <c:pt idx="7">
                  <c:v>163.57500381970971</c:v>
                </c:pt>
                <c:pt idx="8">
                  <c:v>163.6</c:v>
                </c:pt>
                <c:pt idx="9">
                  <c:v>136.31250318309142</c:v>
                </c:pt>
                <c:pt idx="10">
                  <c:v>136.33333333333331</c:v>
                </c:pt>
                <c:pt idx="11">
                  <c:v>113.59375265257617</c:v>
                </c:pt>
                <c:pt idx="12">
                  <c:v>75.52</c:v>
                </c:pt>
                <c:pt idx="13">
                  <c:v>72.47</c:v>
                </c:pt>
                <c:pt idx="14">
                  <c:v>58.61</c:v>
                </c:pt>
              </c:numCache>
            </c:numRef>
          </c:yVal>
          <c:smooth val="1"/>
        </c:ser>
        <c:ser>
          <c:idx val="2"/>
          <c:order val="2"/>
          <c:tx>
            <c:strRef>
              <c:f>Sheet8!$A$83</c:f>
              <c:strCache>
                <c:ptCount val="1"/>
                <c:pt idx="0">
                  <c:v>fdt (2streams)</c:v>
                </c:pt>
              </c:strCache>
            </c:strRef>
          </c:tx>
          <c:spPr>
            <a:ln w="15875" cap="rnd">
              <a:solidFill>
                <a:srgbClr val="FF0000"/>
              </a:solidFill>
              <a:round/>
            </a:ln>
            <a:effectLst>
              <a:outerShdw blurRad="57150" dist="19050" dir="5400000" algn="ctr" rotWithShape="0">
                <a:srgbClr val="000000">
                  <a:alpha val="63000"/>
                </a:srgbClr>
              </a:outerShdw>
            </a:effectLst>
          </c:spPr>
          <c:marker>
            <c:symbol val="circle"/>
            <c:size val="6"/>
            <c:spPr>
              <a:solidFill>
                <a:srgbClr val="FF0000"/>
              </a:solidFill>
              <a:ln w="9525" cap="rnd">
                <a:solidFill>
                  <a:srgbClr val="FF0000"/>
                </a:solidFill>
                <a:round/>
              </a:ln>
              <a:effectLst>
                <a:outerShdw blurRad="57150" dist="19050" dir="5400000" algn="ctr" rotWithShape="0">
                  <a:srgbClr val="000000">
                    <a:alpha val="63000"/>
                  </a:srgbClr>
                </a:outerShdw>
              </a:effectLst>
            </c:spPr>
          </c:marker>
          <c:xVal>
            <c:numRef>
              <c:f>Sheet8!$B$80:$P$80</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Sheet8!$B$83:$P$83</c:f>
              <c:numCache>
                <c:formatCode>0</c:formatCode>
                <c:ptCount val="15"/>
                <c:pt idx="0">
                  <c:v>901.25199999999995</c:v>
                </c:pt>
                <c:pt idx="1">
                  <c:v>900.21100000000001</c:v>
                </c:pt>
                <c:pt idx="2">
                  <c:v>850.41</c:v>
                </c:pt>
                <c:pt idx="3">
                  <c:v>842.15</c:v>
                </c:pt>
                <c:pt idx="4">
                  <c:v>805.45</c:v>
                </c:pt>
                <c:pt idx="5">
                  <c:v>776.99</c:v>
                </c:pt>
                <c:pt idx="6">
                  <c:v>732.43</c:v>
                </c:pt>
                <c:pt idx="7">
                  <c:v>683.81208309702401</c:v>
                </c:pt>
                <c:pt idx="8">
                  <c:v>547.80630502046517</c:v>
                </c:pt>
                <c:pt idx="9">
                  <c:v>438.85119207171982</c:v>
                </c:pt>
                <c:pt idx="10">
                  <c:v>351.56654280489647</c:v>
                </c:pt>
                <c:pt idx="11">
                  <c:v>281.64224286666121</c:v>
                </c:pt>
                <c:pt idx="12">
                  <c:v>225.62543162983425</c:v>
                </c:pt>
                <c:pt idx="13">
                  <c:v>180.75</c:v>
                </c:pt>
                <c:pt idx="14">
                  <c:v>162.875</c:v>
                </c:pt>
              </c:numCache>
            </c:numRef>
          </c:yVal>
          <c:smooth val="1"/>
        </c:ser>
        <c:ser>
          <c:idx val="3"/>
          <c:order val="3"/>
          <c:tx>
            <c:strRef>
              <c:f>Sheet8!$A$84</c:f>
              <c:strCache>
                <c:ptCount val="1"/>
                <c:pt idx="0">
                  <c:v>fdt (15streams)</c:v>
                </c:pt>
              </c:strCache>
            </c:strRef>
          </c:tx>
          <c:spPr>
            <a:ln w="15875" cap="rnd">
              <a:solidFill>
                <a:srgbClr val="FF0000"/>
              </a:solidFill>
              <a:prstDash val="sysDash"/>
              <a:round/>
            </a:ln>
            <a:effectLst>
              <a:outerShdw blurRad="57150" dist="19050" dir="5400000" algn="ctr" rotWithShape="0">
                <a:srgbClr val="000000">
                  <a:alpha val="63000"/>
                </a:srgbClr>
              </a:outerShdw>
            </a:effectLst>
          </c:spPr>
          <c:marker>
            <c:symbol val="square"/>
            <c:size val="6"/>
            <c:spPr>
              <a:solidFill>
                <a:srgbClr val="FF0000"/>
              </a:solidFill>
              <a:ln w="9525" cap="rnd">
                <a:solidFill>
                  <a:srgbClr val="FF0000"/>
                </a:solidFill>
                <a:round/>
              </a:ln>
              <a:effectLst>
                <a:outerShdw blurRad="57150" dist="19050" dir="5400000" algn="ctr" rotWithShape="0">
                  <a:srgbClr val="000000">
                    <a:alpha val="63000"/>
                  </a:srgbClr>
                </a:outerShdw>
              </a:effectLst>
            </c:spPr>
          </c:marker>
          <c:xVal>
            <c:numRef>
              <c:f>Sheet8!$B$80:$P$80</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Sheet8!$B$84:$P$84</c:f>
              <c:numCache>
                <c:formatCode>0</c:formatCode>
                <c:ptCount val="15"/>
                <c:pt idx="0">
                  <c:v>1123.1400000000001</c:v>
                </c:pt>
                <c:pt idx="1">
                  <c:v>1074</c:v>
                </c:pt>
                <c:pt idx="2">
                  <c:v>1022.850543755635</c:v>
                </c:pt>
                <c:pt idx="3">
                  <c:v>880.04361480317129</c:v>
                </c:pt>
                <c:pt idx="4">
                  <c:v>757.17490564375112</c:v>
                </c:pt>
                <c:pt idx="5">
                  <c:v>651.4607095522756</c:v>
                </c:pt>
                <c:pt idx="6">
                  <c:v>560.50597150935425</c:v>
                </c:pt>
                <c:pt idx="7">
                  <c:v>482.25002596635517</c:v>
                </c:pt>
                <c:pt idx="8">
                  <c:v>414.91991051993449</c:v>
                </c:pt>
                <c:pt idx="9">
                  <c:v>356.99019777322172</c:v>
                </c:pt>
                <c:pt idx="10">
                  <c:v>307.14843533651322</c:v>
                </c:pt>
                <c:pt idx="11">
                  <c:v>264.26541097802885</c:v>
                </c:pt>
                <c:pt idx="12">
                  <c:v>227.36956925362043</c:v>
                </c:pt>
                <c:pt idx="13">
                  <c:v>195.625</c:v>
                </c:pt>
                <c:pt idx="14">
                  <c:v>187.875</c:v>
                </c:pt>
              </c:numCache>
            </c:numRef>
          </c:yVal>
          <c:smooth val="1"/>
        </c:ser>
        <c:ser>
          <c:idx val="4"/>
          <c:order val="4"/>
          <c:tx>
            <c:strRef>
              <c:f>Sheet8!$A$85</c:f>
              <c:strCache>
                <c:ptCount val="1"/>
                <c:pt idx="0">
                  <c:v>Curl</c:v>
                </c:pt>
              </c:strCache>
            </c:strRef>
          </c:tx>
          <c:spPr>
            <a:ln w="15875" cap="rnd">
              <a:solidFill>
                <a:schemeClr val="accent5"/>
              </a:solid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cap="rnd">
                <a:solidFill>
                  <a:schemeClr val="accent5"/>
                </a:solidFill>
                <a:round/>
              </a:ln>
              <a:effectLst>
                <a:outerShdw blurRad="57150" dist="19050" dir="5400000" algn="ctr" rotWithShape="0">
                  <a:srgbClr val="000000">
                    <a:alpha val="63000"/>
                  </a:srgbClr>
                </a:outerShdw>
              </a:effectLst>
            </c:spPr>
          </c:marker>
          <c:xVal>
            <c:numRef>
              <c:f>Sheet8!$B$80:$P$80</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Sheet8!$B$85:$P$85</c:f>
              <c:numCache>
                <c:formatCode>0</c:formatCode>
                <c:ptCount val="15"/>
                <c:pt idx="0">
                  <c:v>507.6245857779345</c:v>
                </c:pt>
                <c:pt idx="1">
                  <c:v>408.09624233686725</c:v>
                </c:pt>
                <c:pt idx="2">
                  <c:v>445.43007428901365</c:v>
                </c:pt>
                <c:pt idx="3">
                  <c:v>269.25884902731104</c:v>
                </c:pt>
                <c:pt idx="4">
                  <c:v>200.13315979600264</c:v>
                </c:pt>
                <c:pt idx="5">
                  <c:v>149.62587054591233</c:v>
                </c:pt>
                <c:pt idx="6">
                  <c:v>125.68599562282867</c:v>
                </c:pt>
                <c:pt idx="7">
                  <c:v>99.723018422392272</c:v>
                </c:pt>
                <c:pt idx="8">
                  <c:v>62.536470264471525</c:v>
                </c:pt>
                <c:pt idx="9">
                  <c:v>45</c:v>
                </c:pt>
                <c:pt idx="10">
                  <c:v>38.831291570220174</c:v>
                </c:pt>
                <c:pt idx="11">
                  <c:v>36.067311546030751</c:v>
                </c:pt>
                <c:pt idx="12">
                  <c:v>32.845994892271797</c:v>
                </c:pt>
                <c:pt idx="13">
                  <c:v>29.858314968374504</c:v>
                </c:pt>
                <c:pt idx="14">
                  <c:v>27.608614811408181</c:v>
                </c:pt>
              </c:numCache>
            </c:numRef>
          </c:yVal>
          <c:smooth val="1"/>
        </c:ser>
        <c:dLbls>
          <c:showLegendKey val="0"/>
          <c:showVal val="0"/>
          <c:showCatName val="0"/>
          <c:showSerName val="0"/>
          <c:showPercent val="0"/>
          <c:showBubbleSize val="0"/>
        </c:dLbls>
        <c:axId val="717912704"/>
        <c:axId val="717908000"/>
      </c:scatterChart>
      <c:valAx>
        <c:axId val="717912704"/>
        <c:scaling>
          <c:orientation val="minMax"/>
          <c:max val="100"/>
        </c:scaling>
        <c:delete val="0"/>
        <c:axPos val="b"/>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r>
                  <a:rPr lang="en-US"/>
                  <a:t>RTT</a:t>
                </a:r>
              </a:p>
            </c:rich>
          </c:tx>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17908000"/>
        <c:crosses val="autoZero"/>
        <c:crossBetween val="midCat"/>
        <c:majorUnit val="5"/>
      </c:valAx>
      <c:valAx>
        <c:axId val="717908000"/>
        <c:scaling>
          <c:logBase val="2"/>
          <c:orientation val="minMax"/>
          <c:max val="1400"/>
          <c:min val="25"/>
        </c:scaling>
        <c:delete val="0"/>
        <c:axPos val="l"/>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540000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r>
                  <a:rPr lang="en-US"/>
                  <a:t>mbytes/s</a:t>
                </a:r>
              </a:p>
            </c:rich>
          </c:tx>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endParaRPr lang="en-US"/>
            </a:p>
          </c:txPr>
        </c:title>
        <c:numFmt formatCode="0" sourceLinked="1"/>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17912704"/>
        <c:crosses val="autoZero"/>
        <c:crossBetween val="midCat"/>
        <c:majorUnit val="2"/>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400" b="1"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ReadMBSec!$A$80</c:f>
              <c:strCache>
                <c:ptCount val="1"/>
                <c:pt idx="0">
                  <c:v>LazyDownload (Nginx Davix)</c:v>
                </c:pt>
              </c:strCache>
            </c:strRef>
          </c:tx>
          <c:spPr>
            <a:ln w="15875" cap="rnd">
              <a:solidFill>
                <a:srgbClr val="FF0000"/>
              </a:solidFill>
              <a:round/>
            </a:ln>
            <a:effectLst>
              <a:outerShdw blurRad="57150" dist="19050" dir="5400000" algn="ctr" rotWithShape="0">
                <a:srgbClr val="000000">
                  <a:alpha val="63000"/>
                </a:srgbClr>
              </a:outerShdw>
            </a:effectLst>
          </c:spPr>
          <c:marker>
            <c:symbol val="circle"/>
            <c:size val="6"/>
            <c:spPr>
              <a:solidFill>
                <a:srgbClr val="FF0000"/>
              </a:solidFill>
              <a:ln w="9525" cap="rnd">
                <a:solidFill>
                  <a:srgbClr val="FF0000"/>
                </a:solidFill>
                <a:round/>
              </a:ln>
              <a:effectLst>
                <a:outerShdw blurRad="57150" dist="19050" dir="5400000" algn="ctr" rotWithShape="0">
                  <a:srgbClr val="000000">
                    <a:alpha val="63000"/>
                  </a:srgbClr>
                </a:outerShdw>
              </a:effectLst>
            </c:spPr>
          </c:marker>
          <c:xVal>
            <c:numRef>
              <c:f>ReadMBSec!$B$79:$P$79</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ReadMBSec!$B$80:$P$80</c:f>
              <c:numCache>
                <c:formatCode>0.00</c:formatCode>
                <c:ptCount val="15"/>
                <c:pt idx="0">
                  <c:v>767.20133366858693</c:v>
                </c:pt>
                <c:pt idx="1">
                  <c:v>641.14650205653822</c:v>
                </c:pt>
                <c:pt idx="2">
                  <c:v>426.37384782275649</c:v>
                </c:pt>
                <c:pt idx="3">
                  <c:v>226.71261426761916</c:v>
                </c:pt>
                <c:pt idx="4">
                  <c:v>158.89245091624758</c:v>
                </c:pt>
                <c:pt idx="5">
                  <c:v>123.76746430393821</c:v>
                </c:pt>
                <c:pt idx="6">
                  <c:v>87.587417235441137</c:v>
                </c:pt>
                <c:pt idx="7">
                  <c:v>85.968411354468799</c:v>
                </c:pt>
                <c:pt idx="8">
                  <c:v>65.654095391399935</c:v>
                </c:pt>
                <c:pt idx="9">
                  <c:v>53.798960332656399</c:v>
                </c:pt>
                <c:pt idx="10">
                  <c:v>45.883485405563754</c:v>
                </c:pt>
                <c:pt idx="11">
                  <c:v>39.991751388755375</c:v>
                </c:pt>
                <c:pt idx="12">
                  <c:v>34.552941029476024</c:v>
                </c:pt>
                <c:pt idx="13">
                  <c:v>28.829007746375737</c:v>
                </c:pt>
                <c:pt idx="14">
                  <c:v>24.85705994183034</c:v>
                </c:pt>
              </c:numCache>
            </c:numRef>
          </c:yVal>
          <c:smooth val="0"/>
        </c:ser>
        <c:ser>
          <c:idx val="1"/>
          <c:order val="1"/>
          <c:tx>
            <c:strRef>
              <c:f>ReadMBSec!$A$81</c:f>
              <c:strCache>
                <c:ptCount val="1"/>
                <c:pt idx="0">
                  <c:v>Application (XrootD XrootD)</c:v>
                </c:pt>
              </c:strCache>
            </c:strRef>
          </c:tx>
          <c:spPr>
            <a:ln w="15875" cap="rnd">
              <a:solidFill>
                <a:srgbClr val="FFFF00"/>
              </a:solidFill>
              <a:round/>
            </a:ln>
            <a:effectLst>
              <a:outerShdw blurRad="57150" dist="19050" dir="5400000" algn="ctr" rotWithShape="0">
                <a:srgbClr val="000000">
                  <a:alpha val="63000"/>
                </a:srgbClr>
              </a:outerShdw>
            </a:effectLst>
          </c:spPr>
          <c:marker>
            <c:symbol val="circle"/>
            <c:size val="6"/>
            <c:spPr>
              <a:solidFill>
                <a:srgbClr val="FFFF00"/>
              </a:solidFill>
              <a:ln w="9525" cap="rnd">
                <a:solidFill>
                  <a:srgbClr val="FFFF00"/>
                </a:solidFill>
                <a:round/>
              </a:ln>
              <a:effectLst>
                <a:outerShdw blurRad="57150" dist="19050" dir="5400000" algn="ctr" rotWithShape="0">
                  <a:srgbClr val="000000">
                    <a:alpha val="63000"/>
                  </a:srgbClr>
                </a:outerShdw>
              </a:effectLst>
            </c:spPr>
          </c:marker>
          <c:xVal>
            <c:numRef>
              <c:f>ReadMBSec!$B$79:$P$79</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ReadMBSec!$B$81:$P$81</c:f>
              <c:numCache>
                <c:formatCode>0.00</c:formatCode>
                <c:ptCount val="15"/>
                <c:pt idx="0">
                  <c:v>671.07965301162778</c:v>
                </c:pt>
                <c:pt idx="1">
                  <c:v>314.63725261568902</c:v>
                </c:pt>
                <c:pt idx="2">
                  <c:v>301.17455110185483</c:v>
                </c:pt>
                <c:pt idx="3">
                  <c:v>182.89288131227281</c:v>
                </c:pt>
                <c:pt idx="4">
                  <c:v>125.66304515011733</c:v>
                </c:pt>
                <c:pt idx="5">
                  <c:v>103.3338176777046</c:v>
                </c:pt>
                <c:pt idx="6">
                  <c:v>76.76567234111107</c:v>
                </c:pt>
                <c:pt idx="7">
                  <c:v>73.090248925817718</c:v>
                </c:pt>
                <c:pt idx="8">
                  <c:v>56.815441889696842</c:v>
                </c:pt>
                <c:pt idx="9">
                  <c:v>42.724266041281332</c:v>
                </c:pt>
                <c:pt idx="10">
                  <c:v>38.703354236813482</c:v>
                </c:pt>
                <c:pt idx="11">
                  <c:v>31.493937544228835</c:v>
                </c:pt>
                <c:pt idx="12">
                  <c:v>29.640695239201488</c:v>
                </c:pt>
                <c:pt idx="13">
                  <c:v>27.345256445779203</c:v>
                </c:pt>
                <c:pt idx="14">
                  <c:v>23.119793645254401</c:v>
                </c:pt>
              </c:numCache>
            </c:numRef>
          </c:yVal>
          <c:smooth val="0"/>
        </c:ser>
        <c:ser>
          <c:idx val="2"/>
          <c:order val="2"/>
          <c:tx>
            <c:strRef>
              <c:f>ReadMBSec!$A$82</c:f>
              <c:strCache>
                <c:ptCount val="1"/>
                <c:pt idx="0">
                  <c:v>Storage (XrootD Davix)</c:v>
                </c:pt>
              </c:strCache>
            </c:strRef>
          </c:tx>
          <c:spPr>
            <a:ln w="22225" cap="rnd">
              <a:solidFill>
                <a:srgbClr val="2471BD"/>
              </a:solidFill>
              <a:round/>
            </a:ln>
            <a:effectLst>
              <a:outerShdw blurRad="57150" dist="19050" dir="5400000" algn="ctr" rotWithShape="0">
                <a:srgbClr val="000000">
                  <a:alpha val="63000"/>
                </a:srgbClr>
              </a:outerShdw>
            </a:effectLst>
          </c:spPr>
          <c:marker>
            <c:symbol val="circle"/>
            <c:size val="6"/>
            <c:spPr>
              <a:solidFill>
                <a:srgbClr val="2471BD"/>
              </a:solidFill>
              <a:ln w="9525" cap="rnd">
                <a:solidFill>
                  <a:srgbClr val="2471BD"/>
                </a:solidFill>
                <a:round/>
              </a:ln>
              <a:effectLst>
                <a:outerShdw blurRad="57150" dist="19050" dir="5400000" algn="ctr" rotWithShape="0">
                  <a:srgbClr val="000000">
                    <a:alpha val="63000"/>
                  </a:srgbClr>
                </a:outerShdw>
              </a:effectLst>
            </c:spPr>
          </c:marker>
          <c:xVal>
            <c:numRef>
              <c:f>ReadMBSec!$B$79:$P$79</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ReadMBSec!$B$82:$P$82</c:f>
              <c:numCache>
                <c:formatCode>0.00</c:formatCode>
                <c:ptCount val="15"/>
                <c:pt idx="0">
                  <c:v>95.14317104182949</c:v>
                </c:pt>
                <c:pt idx="1">
                  <c:v>14.169802536397611</c:v>
                </c:pt>
                <c:pt idx="2">
                  <c:v>7.2920034936145619</c:v>
                </c:pt>
                <c:pt idx="3">
                  <c:v>3.7346267754064373</c:v>
                </c:pt>
                <c:pt idx="4">
                  <c:v>2.5218441161272218</c:v>
                </c:pt>
                <c:pt idx="5">
                  <c:v>1.9768627932794525</c:v>
                </c:pt>
                <c:pt idx="6">
                  <c:v>1.584220779108731</c:v>
                </c:pt>
                <c:pt idx="7">
                  <c:v>1.1915787649380096</c:v>
                </c:pt>
                <c:pt idx="8">
                  <c:v>1.0069075148669009</c:v>
                </c:pt>
                <c:pt idx="9">
                  <c:v>0.80608186368465451</c:v>
                </c:pt>
                <c:pt idx="10">
                  <c:v>0.60725621250240813</c:v>
                </c:pt>
                <c:pt idx="11">
                  <c:v>0.45843056132016174</c:v>
                </c:pt>
                <c:pt idx="12">
                  <c:v>0.35460491013791534</c:v>
                </c:pt>
                <c:pt idx="13">
                  <c:v>0.24677925895566893</c:v>
                </c:pt>
                <c:pt idx="14">
                  <c:v>0.24677925895566893</c:v>
                </c:pt>
              </c:numCache>
            </c:numRef>
          </c:yVal>
          <c:smooth val="0"/>
        </c:ser>
        <c:dLbls>
          <c:showLegendKey val="0"/>
          <c:showVal val="0"/>
          <c:showCatName val="0"/>
          <c:showSerName val="0"/>
          <c:showPercent val="0"/>
          <c:showBubbleSize val="0"/>
        </c:dLbls>
        <c:axId val="659095848"/>
        <c:axId val="659100552"/>
      </c:scatterChart>
      <c:valAx>
        <c:axId val="659095848"/>
        <c:scaling>
          <c:orientation val="minMax"/>
          <c:max val="100"/>
        </c:scaling>
        <c:delete val="0"/>
        <c:axPos val="b"/>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r>
                  <a:rPr lang="en-GB" dirty="0" smtClean="0"/>
                  <a:t>RTT</a:t>
                </a:r>
                <a:endParaRPr lang="en-GB" dirty="0"/>
              </a:p>
            </c:rich>
          </c:tx>
          <c:layout/>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out"/>
        <c:minorTickMark val="none"/>
        <c:tickLblPos val="low"/>
        <c:spPr>
          <a:noFill/>
          <a:ln w="9525" cap="flat" cmpd="sng" algn="ctr">
            <a:solidFill>
              <a:schemeClr val="lt1">
                <a:lumMod val="50000"/>
              </a:schemeClr>
            </a:solid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659100552"/>
        <c:crosses val="autoZero"/>
        <c:crossBetween val="midCat"/>
        <c:majorUnit val="5"/>
        <c:minorUnit val="1"/>
      </c:valAx>
      <c:valAx>
        <c:axId val="659100552"/>
        <c:scaling>
          <c:logBase val="2"/>
          <c:orientation val="minMax"/>
        </c:scaling>
        <c:delete val="0"/>
        <c:axPos val="l"/>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540000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r>
                  <a:rPr lang="en-GB" dirty="0" smtClean="0"/>
                  <a:t>Mbytes/s</a:t>
                </a:r>
                <a:endParaRPr lang="en-GB" dirty="0"/>
              </a:p>
            </c:rich>
          </c:tx>
          <c:layout/>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endParaRPr lang="en-US"/>
            </a:p>
          </c:txPr>
        </c:title>
        <c:numFmt formatCode="0.00" sourceLinked="1"/>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659095848"/>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732372896025381E-2"/>
          <c:y val="3.2437725206184015E-2"/>
          <c:w val="0.90834478183965972"/>
          <c:h val="0.85346530728921255"/>
        </c:manualLayout>
      </c:layout>
      <c:scatterChart>
        <c:scatterStyle val="smoothMarker"/>
        <c:varyColors val="0"/>
        <c:ser>
          <c:idx val="2"/>
          <c:order val="2"/>
          <c:tx>
            <c:strRef>
              <c:f>ReadMBSec!$A$31</c:f>
              <c:strCache>
                <c:ptCount val="1"/>
                <c:pt idx="0">
                  <c:v>ApacheDavixApplication</c:v>
                </c:pt>
              </c:strCache>
            </c:strRef>
          </c:tx>
          <c:spPr>
            <a:ln w="9525" cap="rnd">
              <a:solidFill>
                <a:srgbClr val="FF0000"/>
              </a:solidFill>
              <a:round/>
            </a:ln>
            <a:effectLst>
              <a:outerShdw blurRad="57150" dist="19050" dir="5400000" algn="ctr" rotWithShape="0">
                <a:srgbClr val="000000">
                  <a:alpha val="63000"/>
                </a:srgbClr>
              </a:outerShdw>
            </a:effectLst>
          </c:spPr>
          <c:marker>
            <c:symbol val="circle"/>
            <c:size val="6"/>
            <c:spPr>
              <a:solidFill>
                <a:srgbClr val="FF0000"/>
              </a:solidFill>
              <a:ln w="9525" cap="rnd">
                <a:solidFill>
                  <a:srgbClr val="FF0000"/>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ReadMBSec!$B$31:$P$31</c:f>
              <c:numCache>
                <c:formatCode>General</c:formatCode>
                <c:ptCount val="15"/>
                <c:pt idx="0">
                  <c:v>603.75877400800778</c:v>
                </c:pt>
                <c:pt idx="1">
                  <c:v>346.04563202535655</c:v>
                </c:pt>
                <c:pt idx="2">
                  <c:v>229.81039454033052</c:v>
                </c:pt>
                <c:pt idx="3">
                  <c:v>110.69580009769325</c:v>
                </c:pt>
                <c:pt idx="4">
                  <c:v>41.441252707919887</c:v>
                </c:pt>
                <c:pt idx="5">
                  <c:v>77.977551563709383</c:v>
                </c:pt>
                <c:pt idx="6">
                  <c:v>23.214836842760832</c:v>
                </c:pt>
                <c:pt idx="7">
                  <c:v>32.287954298948925</c:v>
                </c:pt>
                <c:pt idx="8">
                  <c:v>15.456807276755281</c:v>
                </c:pt>
                <c:pt idx="9">
                  <c:v>40.703793019311028</c:v>
                </c:pt>
                <c:pt idx="10">
                  <c:v>34.172674389251675</c:v>
                </c:pt>
                <c:pt idx="11">
                  <c:v>30.73269829092828</c:v>
                </c:pt>
                <c:pt idx="12">
                  <c:v>25.108560148288042</c:v>
                </c:pt>
                <c:pt idx="13">
                  <c:v>24.544780035385163</c:v>
                </c:pt>
                <c:pt idx="14">
                  <c:v>22.836151142765001</c:v>
                </c:pt>
              </c:numCache>
            </c:numRef>
          </c:yVal>
          <c:smooth val="1"/>
        </c:ser>
        <c:ser>
          <c:idx val="5"/>
          <c:order val="5"/>
          <c:tx>
            <c:strRef>
              <c:f>ReadMBSec!$A$34</c:f>
              <c:strCache>
                <c:ptCount val="1"/>
                <c:pt idx="0">
                  <c:v>XrootdXrootDApplication</c:v>
                </c:pt>
              </c:strCache>
            </c:strRef>
          </c:tx>
          <c:spPr>
            <a:ln w="9525" cap="rnd">
              <a:solidFill>
                <a:schemeClr val="accent6"/>
              </a:solidFill>
              <a:round/>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cap="rnd">
                <a:solidFill>
                  <a:schemeClr val="accent6"/>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ReadMBSec!$B$34:$P$34</c:f>
              <c:numCache>
                <c:formatCode>General</c:formatCode>
                <c:ptCount val="15"/>
                <c:pt idx="0">
                  <c:v>671.07965301162778</c:v>
                </c:pt>
                <c:pt idx="1">
                  <c:v>314.63725261568902</c:v>
                </c:pt>
                <c:pt idx="2">
                  <c:v>301.17455110185483</c:v>
                </c:pt>
                <c:pt idx="3">
                  <c:v>182.89288131227281</c:v>
                </c:pt>
                <c:pt idx="4">
                  <c:v>125.66304515011733</c:v>
                </c:pt>
                <c:pt idx="5">
                  <c:v>103.3338176777046</c:v>
                </c:pt>
                <c:pt idx="6">
                  <c:v>76.76567234111107</c:v>
                </c:pt>
                <c:pt idx="7">
                  <c:v>73.090248925817718</c:v>
                </c:pt>
                <c:pt idx="8">
                  <c:v>56.815441889696842</c:v>
                </c:pt>
                <c:pt idx="9">
                  <c:v>42.724266041281332</c:v>
                </c:pt>
                <c:pt idx="10">
                  <c:v>38.703354236813482</c:v>
                </c:pt>
                <c:pt idx="11">
                  <c:v>31.493937544228835</c:v>
                </c:pt>
                <c:pt idx="12">
                  <c:v>29.640695239201488</c:v>
                </c:pt>
                <c:pt idx="13">
                  <c:v>27.345256445779203</c:v>
                </c:pt>
                <c:pt idx="14">
                  <c:v>22.979364525449299</c:v>
                </c:pt>
              </c:numCache>
            </c:numRef>
          </c:yVal>
          <c:smooth val="1"/>
        </c:ser>
        <c:ser>
          <c:idx val="9"/>
          <c:order val="9"/>
          <c:tx>
            <c:strRef>
              <c:f>ReadMBSec!$A$38</c:f>
              <c:strCache>
                <c:ptCount val="1"/>
                <c:pt idx="0">
                  <c:v>XrootDDavixApplication</c:v>
                </c:pt>
              </c:strCache>
            </c:strRef>
          </c:tx>
          <c:spPr>
            <a:ln w="9525" cap="rnd">
              <a:solidFill>
                <a:schemeClr val="accent1">
                  <a:lumMod val="60000"/>
                  <a:lumOff val="40000"/>
                </a:schemeClr>
              </a:solidFill>
              <a:round/>
            </a:ln>
            <a:effectLst>
              <a:outerShdw blurRad="57150" dist="19050" dir="5400000" algn="ctr" rotWithShape="0">
                <a:srgbClr val="000000">
                  <a:alpha val="63000"/>
                </a:srgbClr>
              </a:outerShdw>
            </a:effectLst>
          </c:spPr>
          <c:marker>
            <c:symbol val="circle"/>
            <c:size val="6"/>
            <c:spPr>
              <a:solidFill>
                <a:schemeClr val="accent1">
                  <a:lumMod val="60000"/>
                  <a:lumOff val="40000"/>
                </a:schemeClr>
              </a:solidFill>
              <a:ln w="9525" cap="rnd">
                <a:solidFill>
                  <a:schemeClr val="accent1">
                    <a:lumMod val="60000"/>
                    <a:lumOff val="40000"/>
                  </a:schemeClr>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ReadMBSec!$B$38:$P$38</c:f>
              <c:numCache>
                <c:formatCode>General</c:formatCode>
                <c:ptCount val="15"/>
                <c:pt idx="0">
                  <c:v>472.02504024474308</c:v>
                </c:pt>
                <c:pt idx="1">
                  <c:v>60.431034501095695</c:v>
                </c:pt>
                <c:pt idx="2">
                  <c:v>74.579197239318148</c:v>
                </c:pt>
                <c:pt idx="3">
                  <c:v>41.175942770849957</c:v>
                </c:pt>
                <c:pt idx="4">
                  <c:v>26.803781298523546</c:v>
                </c:pt>
                <c:pt idx="5">
                  <c:v>19.739266344741864</c:v>
                </c:pt>
                <c:pt idx="6">
                  <c:v>16.297908825690442</c:v>
                </c:pt>
                <c:pt idx="7">
                  <c:v>13.019524115336749</c:v>
                </c:pt>
                <c:pt idx="8">
                  <c:v>10.114041708844551</c:v>
                </c:pt>
                <c:pt idx="9">
                  <c:v>5.5174519613555111</c:v>
                </c:pt>
                <c:pt idx="10">
                  <c:v>6.8024290614829175</c:v>
                </c:pt>
                <c:pt idx="11">
                  <c:v>6.005659792538613</c:v>
                </c:pt>
                <c:pt idx="12">
                  <c:v>4.9017534422797784</c:v>
                </c:pt>
                <c:pt idx="13">
                  <c:v>4.6754041681661445</c:v>
                </c:pt>
                <c:pt idx="14">
                  <c:v>3.8776548349967355</c:v>
                </c:pt>
              </c:numCache>
            </c:numRef>
          </c:yVal>
          <c:smooth val="1"/>
        </c:ser>
        <c:ser>
          <c:idx val="15"/>
          <c:order val="15"/>
          <c:tx>
            <c:strRef>
              <c:f>ReadMBSec!$A$44</c:f>
              <c:strCache>
                <c:ptCount val="1"/>
                <c:pt idx="0">
                  <c:v>NginxDavixApplication</c:v>
                </c:pt>
              </c:strCache>
            </c:strRef>
          </c:tx>
          <c:spPr>
            <a:ln w="9525" cap="rnd">
              <a:solidFill>
                <a:schemeClr val="accent4">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w="9525" cap="rnd">
                <a:solidFill>
                  <a:schemeClr val="accent4">
                    <a:lumMod val="80000"/>
                    <a:lumOff val="20000"/>
                  </a:schemeClr>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ReadMBSec!$B$44:$P$44</c:f>
              <c:numCache>
                <c:formatCode>General</c:formatCode>
                <c:ptCount val="15"/>
                <c:pt idx="0">
                  <c:v>515.67842072455835</c:v>
                </c:pt>
                <c:pt idx="1">
                  <c:v>171.23599357315487</c:v>
                </c:pt>
                <c:pt idx="2">
                  <c:v>239.83341628864031</c:v>
                </c:pt>
                <c:pt idx="3">
                  <c:v>146.57760340117702</c:v>
                </c:pt>
                <c:pt idx="4">
                  <c:v>97.465280610378642</c:v>
                </c:pt>
                <c:pt idx="5">
                  <c:v>77.837252991968526</c:v>
                </c:pt>
                <c:pt idx="6">
                  <c:v>22.395597584066774</c:v>
                </c:pt>
                <c:pt idx="7">
                  <c:v>18.342368429514917</c:v>
                </c:pt>
                <c:pt idx="8">
                  <c:v>28.540891417757656</c:v>
                </c:pt>
                <c:pt idx="9">
                  <c:v>36.207569959555428</c:v>
                </c:pt>
                <c:pt idx="10">
                  <c:v>30.030165359081114</c:v>
                </c:pt>
                <c:pt idx="11">
                  <c:v>25.408617217928473</c:v>
                </c:pt>
                <c:pt idx="12">
                  <c:v>24.268534818300544</c:v>
                </c:pt>
                <c:pt idx="13">
                  <c:v>21.706538166148949</c:v>
                </c:pt>
                <c:pt idx="14">
                  <c:v>18.757000000000001</c:v>
                </c:pt>
              </c:numCache>
            </c:numRef>
          </c:yVal>
          <c:smooth val="1"/>
        </c:ser>
        <c:dLbls>
          <c:showLegendKey val="0"/>
          <c:showVal val="0"/>
          <c:showCatName val="0"/>
          <c:showSerName val="0"/>
          <c:showPercent val="0"/>
          <c:showBubbleSize val="0"/>
        </c:dLbls>
        <c:axId val="417957600"/>
        <c:axId val="419707616"/>
        <c:extLst>
          <c:ext xmlns:c15="http://schemas.microsoft.com/office/drawing/2012/chart" uri="{02D57815-91ED-43cb-92C2-25804820EDAC}">
            <c15:filteredScatterSeries>
              <c15:ser>
                <c:idx val="0"/>
                <c:order val="0"/>
                <c:tx>
                  <c:strRef>
                    <c:extLst>
                      <c:ext uri="{02D57815-91ED-43cb-92C2-25804820EDAC}">
                        <c15:formulaRef>
                          <c15:sqref>ReadMBSec!$A$29</c15:sqref>
                        </c15:formulaRef>
                      </c:ext>
                    </c:extLst>
                    <c:strCache>
                      <c:ptCount val="1"/>
                      <c:pt idx="0">
                        <c:v>ApacheDavixStorage</c:v>
                      </c:pt>
                    </c:strCache>
                  </c:strRef>
                </c:tx>
                <c:spPr>
                  <a:ln w="95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rnd">
                      <a:solidFill>
                        <a:schemeClr val="accent1"/>
                      </a:solidFill>
                      <a:round/>
                    </a:ln>
                    <a:effectLst>
                      <a:outerShdw blurRad="57150" dist="19050" dir="5400000" algn="ctr" rotWithShape="0">
                        <a:srgbClr val="000000">
                          <a:alpha val="63000"/>
                        </a:srgbClr>
                      </a:outerShdw>
                    </a:effectLst>
                  </c:spPr>
                </c:marker>
                <c:xVal>
                  <c:numRef>
                    <c:extLst>
                      <c:ex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c:ext uri="{02D57815-91ED-43cb-92C2-25804820EDAC}">
                        <c15:formulaRef>
                          <c15:sqref>ReadMBSec!$B$29:$P$29</c15:sqref>
                        </c15:formulaRef>
                      </c:ext>
                    </c:extLst>
                    <c:numCache>
                      <c:formatCode>General</c:formatCode>
                      <c:ptCount val="15"/>
                      <c:pt idx="0">
                        <c:v>89.429039021352907</c:v>
                      </c:pt>
                      <c:pt idx="1">
                        <c:v>12.695161204804007</c:v>
                      </c:pt>
                      <c:pt idx="2">
                        <c:v>5.7582019168686287</c:v>
                      </c:pt>
                      <c:pt idx="3">
                        <c:v>3.0191093184645497</c:v>
                      </c:pt>
                      <c:pt idx="4">
                        <c:v>2.0633792122447456</c:v>
                      </c:pt>
                      <c:pt idx="5">
                        <c:v>1.5595732334796373</c:v>
                      </c:pt>
                      <c:pt idx="6">
                        <c:v>1.255334031536802</c:v>
                      </c:pt>
                      <c:pt idx="7">
                        <c:v>0.98845199333606459</c:v>
                      </c:pt>
                      <c:pt idx="8">
                        <c:v>0.83767118079327507</c:v>
                      </c:pt>
                      <c:pt idx="9">
                        <c:v>0.66481839745498017</c:v>
                      </c:pt>
                      <c:pt idx="10">
                        <c:v>0.49986345673306776</c:v>
                      </c:pt>
                      <c:pt idx="11">
                        <c:v>0.42361309892632865</c:v>
                      </c:pt>
                      <c:pt idx="12">
                        <c:v>0.34162346687607148</c:v>
                      </c:pt>
                      <c:pt idx="13">
                        <c:v>0.21351466679754449</c:v>
                      </c:pt>
                      <c:pt idx="14">
                        <c:v>0.1255968628220851</c:v>
                      </c:pt>
                    </c:numCache>
                  </c:numRef>
                </c:yVal>
                <c:smooth val="1"/>
              </c15:ser>
            </c15:filteredScatterSeries>
            <c15:filteredScatterSeries>
              <c15:ser>
                <c:idx val="1"/>
                <c:order val="1"/>
                <c:tx>
                  <c:strRef>
                    <c:extLst xmlns:c15="http://schemas.microsoft.com/office/drawing/2012/chart">
                      <c:ext xmlns:c15="http://schemas.microsoft.com/office/drawing/2012/chart" uri="{02D57815-91ED-43cb-92C2-25804820EDAC}">
                        <c15:formulaRef>
                          <c15:sqref>ReadMBSec!$A$30</c15:sqref>
                        </c15:formulaRef>
                      </c:ext>
                    </c:extLst>
                    <c:strCache>
                      <c:ptCount val="1"/>
                      <c:pt idx="0">
                        <c:v>ApacheDavixLazy</c:v>
                      </c:pt>
                    </c:strCache>
                  </c:strRef>
                </c:tx>
                <c:spPr>
                  <a:ln w="95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cap="rnd">
                      <a:solidFill>
                        <a:schemeClr val="accent2"/>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ReadMBSec!$B$30:$P$30</c15:sqref>
                        </c15:formulaRef>
                      </c:ext>
                    </c:extLst>
                    <c:numCache>
                      <c:formatCode>General</c:formatCode>
                      <c:ptCount val="15"/>
                      <c:pt idx="0">
                        <c:v>728.07040475466067</c:v>
                      </c:pt>
                      <c:pt idx="1">
                        <c:v>481.9895094530911</c:v>
                      </c:pt>
                      <c:pt idx="2">
                        <c:v>300.67361431363611</c:v>
                      </c:pt>
                      <c:pt idx="3">
                        <c:v>174.23657551362325</c:v>
                      </c:pt>
                      <c:pt idx="4">
                        <c:v>114.2767595573537</c:v>
                      </c:pt>
                      <c:pt idx="5">
                        <c:v>102.26942157498759</c:v>
                      </c:pt>
                      <c:pt idx="6">
                        <c:v>90.12407198464399</c:v>
                      </c:pt>
                      <c:pt idx="7">
                        <c:v>73.818693976649058</c:v>
                      </c:pt>
                      <c:pt idx="8">
                        <c:v>57.312215266357747</c:v>
                      </c:pt>
                      <c:pt idx="9">
                        <c:v>46.950861699670732</c:v>
                      </c:pt>
                      <c:pt idx="10">
                        <c:v>39.204414537697311</c:v>
                      </c:pt>
                      <c:pt idx="11">
                        <c:v>31.260369809522878</c:v>
                      </c:pt>
                      <c:pt idx="12">
                        <c:v>28.290389738547649</c:v>
                      </c:pt>
                      <c:pt idx="13">
                        <c:v>24.821946136832622</c:v>
                      </c:pt>
                      <c:pt idx="14">
                        <c:v>13.452670272043143</c:v>
                      </c:pt>
                    </c:numCache>
                  </c:numRef>
                </c:yVal>
                <c:smooth val="1"/>
              </c15:ser>
            </c15:filteredScatterSeries>
            <c15:filteredScatterSeries>
              <c15:ser>
                <c:idx val="3"/>
                <c:order val="3"/>
                <c:tx>
                  <c:strRef>
                    <c:extLst xmlns:c15="http://schemas.microsoft.com/office/drawing/2012/chart">
                      <c:ext xmlns:c15="http://schemas.microsoft.com/office/drawing/2012/chart" uri="{02D57815-91ED-43cb-92C2-25804820EDAC}">
                        <c15:formulaRef>
                          <c15:sqref>ReadMBSec!$A$32</c15:sqref>
                        </c15:formulaRef>
                      </c:ext>
                    </c:extLst>
                    <c:strCache>
                      <c:ptCount val="1"/>
                      <c:pt idx="0">
                        <c:v>XrootDXrootdStorage</c:v>
                      </c:pt>
                    </c:strCache>
                  </c:strRef>
                </c:tx>
                <c:spPr>
                  <a:ln w="9525" cap="rnd">
                    <a:solidFill>
                      <a:schemeClr val="accent4"/>
                    </a:solid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cap="rnd">
                      <a:solidFill>
                        <a:schemeClr val="accent4"/>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ReadMBSec!$B$32:$P$32</c15:sqref>
                        </c15:formulaRef>
                      </c:ext>
                    </c:extLst>
                    <c:numCache>
                      <c:formatCode>General</c:formatCode>
                      <c:ptCount val="15"/>
                      <c:pt idx="0">
                        <c:v>123.0356857130691</c:v>
                      </c:pt>
                      <c:pt idx="1">
                        <c:v>15.31389005301472</c:v>
                      </c:pt>
                      <c:pt idx="2">
                        <c:v>7.4185977083494636</c:v>
                      </c:pt>
                      <c:pt idx="3">
                        <c:v>3.71971023939212</c:v>
                      </c:pt>
                      <c:pt idx="4">
                        <c:v>2.4713804343808348</c:v>
                      </c:pt>
                      <c:pt idx="5">
                        <c:v>1.8746375567636839</c:v>
                      </c:pt>
                      <c:pt idx="6">
                        <c:v>1.4977227022395043</c:v>
                      </c:pt>
                      <c:pt idx="7">
                        <c:v>1.1208078477153247</c:v>
                      </c:pt>
                      <c:pt idx="8">
                        <c:v>0.94598142676700958</c:v>
                      </c:pt>
                      <c:pt idx="9">
                        <c:v>0.75622737951933294</c:v>
                      </c:pt>
                      <c:pt idx="10">
                        <c:v>0.56847333227165631</c:v>
                      </c:pt>
                      <c:pt idx="11">
                        <c:v>0.43071928502397966</c:v>
                      </c:pt>
                      <c:pt idx="12">
                        <c:v>0.337965237776303</c:v>
                      </c:pt>
                      <c:pt idx="13">
                        <c:v>0.24121119052862633</c:v>
                      </c:pt>
                      <c:pt idx="14">
                        <c:v>0.13245714328094965</c:v>
                      </c:pt>
                    </c:numCache>
                  </c:numRef>
                </c:yVal>
                <c:smooth val="1"/>
              </c15:ser>
            </c15:filteredScatterSeries>
            <c15:filteredScatterSeries>
              <c15:ser>
                <c:idx val="4"/>
                <c:order val="4"/>
                <c:tx>
                  <c:strRef>
                    <c:extLst xmlns:c15="http://schemas.microsoft.com/office/drawing/2012/chart">
                      <c:ext xmlns:c15="http://schemas.microsoft.com/office/drawing/2012/chart" uri="{02D57815-91ED-43cb-92C2-25804820EDAC}">
                        <c15:formulaRef>
                          <c15:sqref>ReadMBSec!$A$33</c15:sqref>
                        </c15:formulaRef>
                      </c:ext>
                    </c:extLst>
                    <c:strCache>
                      <c:ptCount val="1"/>
                      <c:pt idx="0">
                        <c:v>XrootDXrootdLazy</c:v>
                      </c:pt>
                    </c:strCache>
                  </c:strRef>
                </c:tx>
                <c:spPr>
                  <a:ln w="9525" cap="rnd">
                    <a:solidFill>
                      <a:schemeClr val="accent5"/>
                    </a:solid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cap="rnd">
                      <a:solidFill>
                        <a:schemeClr val="accent5"/>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ReadMBSec!$B$33:$P$33</c15:sqref>
                        </c15:formulaRef>
                      </c:ext>
                    </c:extLst>
                    <c:numCache>
                      <c:formatCode>General</c:formatCode>
                      <c:ptCount val="15"/>
                      <c:pt idx="0">
                        <c:v>570.48449190092254</c:v>
                      </c:pt>
                      <c:pt idx="1">
                        <c:v>495.73623887666463</c:v>
                      </c:pt>
                      <c:pt idx="2">
                        <c:v>339.23528593630004</c:v>
                      </c:pt>
                      <c:pt idx="3">
                        <c:v>202.74068786954561</c:v>
                      </c:pt>
                      <c:pt idx="4">
                        <c:v>149.3266112980117</c:v>
                      </c:pt>
                      <c:pt idx="5">
                        <c:v>123.1180556094023</c:v>
                      </c:pt>
                      <c:pt idx="6">
                        <c:v>63.363351814826999</c:v>
                      </c:pt>
                      <c:pt idx="7">
                        <c:v>85.144769829116584</c:v>
                      </c:pt>
                      <c:pt idx="8">
                        <c:v>65.47719587201189</c:v>
                      </c:pt>
                      <c:pt idx="9">
                        <c:v>29.870020119836674</c:v>
                      </c:pt>
                      <c:pt idx="10">
                        <c:v>43.745966974938078</c:v>
                      </c:pt>
                      <c:pt idx="11">
                        <c:v>38.483337481121197</c:v>
                      </c:pt>
                      <c:pt idx="12">
                        <c:v>34.144111761660632</c:v>
                      </c:pt>
                      <c:pt idx="13">
                        <c:v>29.056034232717604</c:v>
                      </c:pt>
                      <c:pt idx="14">
                        <c:v>18.309423878322995</c:v>
                      </c:pt>
                    </c:numCache>
                  </c:numRef>
                </c:yVal>
                <c:smooth val="1"/>
              </c15:ser>
            </c15:filteredScatterSeries>
            <c15:filteredScatterSeries>
              <c15:ser>
                <c:idx val="6"/>
                <c:order val="6"/>
                <c:tx>
                  <c:strRef>
                    <c:extLst xmlns:c15="http://schemas.microsoft.com/office/drawing/2012/chart">
                      <c:ext xmlns:c15="http://schemas.microsoft.com/office/drawing/2012/chart" uri="{02D57815-91ED-43cb-92C2-25804820EDAC}">
                        <c15:formulaRef>
                          <c15:sqref>ReadMBSec!$A$35</c15:sqref>
                        </c15:formulaRef>
                      </c:ext>
                    </c:extLst>
                    <c:strCache>
                      <c:ptCount val="1"/>
                      <c:pt idx="0">
                        <c:v>XrootDCurlLazy</c:v>
                      </c:pt>
                    </c:strCache>
                  </c:strRef>
                </c:tx>
                <c:spPr>
                  <a:ln w="9525" cap="rnd">
                    <a:solidFill>
                      <a:schemeClr val="accent1">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w="9525" cap="rnd">
                      <a:solidFill>
                        <a:schemeClr val="accent1">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ReadMBSec!$B$35:$P$35</c15:sqref>
                        </c15:formulaRef>
                      </c:ext>
                    </c:extLst>
                    <c:numCache>
                      <c:formatCode>General</c:formatCode>
                      <c:ptCount val="15"/>
                      <c:pt idx="0">
                        <c:v>507.6245857779345</c:v>
                      </c:pt>
                      <c:pt idx="1">
                        <c:v>408.09624233686725</c:v>
                      </c:pt>
                      <c:pt idx="2">
                        <c:v>445.43007428901365</c:v>
                      </c:pt>
                      <c:pt idx="3">
                        <c:v>269.25884902731104</c:v>
                      </c:pt>
                      <c:pt idx="4">
                        <c:v>200.13315979600264</c:v>
                      </c:pt>
                      <c:pt idx="5">
                        <c:v>149.62587054591233</c:v>
                      </c:pt>
                      <c:pt idx="6">
                        <c:v>125.68599562282867</c:v>
                      </c:pt>
                      <c:pt idx="7">
                        <c:v>99.723018422392272</c:v>
                      </c:pt>
                      <c:pt idx="8">
                        <c:v>62.536470264471525</c:v>
                      </c:pt>
                      <c:pt idx="9">
                        <c:v>22.213651162993298</c:v>
                      </c:pt>
                      <c:pt idx="10">
                        <c:v>38.831291570220174</c:v>
                      </c:pt>
                      <c:pt idx="11">
                        <c:v>36.067311546030751</c:v>
                      </c:pt>
                      <c:pt idx="12">
                        <c:v>32.845994892271797</c:v>
                      </c:pt>
                      <c:pt idx="13">
                        <c:v>29.858314968374504</c:v>
                      </c:pt>
                      <c:pt idx="14">
                        <c:v>27.608614811408181</c:v>
                      </c:pt>
                    </c:numCache>
                  </c:numRef>
                </c:yVal>
                <c:smooth val="1"/>
              </c15:ser>
            </c15:filteredScatterSeries>
            <c15:filteredScatterSeries>
              <c15:ser>
                <c:idx val="7"/>
                <c:order val="7"/>
                <c:tx>
                  <c:strRef>
                    <c:extLst xmlns:c15="http://schemas.microsoft.com/office/drawing/2012/chart">
                      <c:ext xmlns:c15="http://schemas.microsoft.com/office/drawing/2012/chart" uri="{02D57815-91ED-43cb-92C2-25804820EDAC}">
                        <c15:formulaRef>
                          <c15:sqref>ReadMBSec!$A$36</c15:sqref>
                        </c15:formulaRef>
                      </c:ext>
                    </c:extLst>
                    <c:strCache>
                      <c:ptCount val="1"/>
                      <c:pt idx="0">
                        <c:v>XrootDDavixStorage</c:v>
                      </c:pt>
                    </c:strCache>
                  </c:strRef>
                </c:tx>
                <c:spPr>
                  <a:ln w="9525" cap="rnd">
                    <a:solidFill>
                      <a:schemeClr val="accent2">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cap="rnd">
                      <a:solidFill>
                        <a:schemeClr val="accent2">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ReadMBSec!$B$36:$P$36</c15:sqref>
                        </c15:formulaRef>
                      </c:ext>
                    </c:extLst>
                    <c:numCache>
                      <c:formatCode>General</c:formatCode>
                      <c:ptCount val="15"/>
                      <c:pt idx="0">
                        <c:v>95.14317104182949</c:v>
                      </c:pt>
                      <c:pt idx="1">
                        <c:v>14.169802536397611</c:v>
                      </c:pt>
                      <c:pt idx="2">
                        <c:v>7.2920034936145619</c:v>
                      </c:pt>
                      <c:pt idx="3">
                        <c:v>3.7346267754064373</c:v>
                      </c:pt>
                      <c:pt idx="4">
                        <c:v>2.5218441161272218</c:v>
                      </c:pt>
                      <c:pt idx="5">
                        <c:v>1.9768627932794525</c:v>
                      </c:pt>
                      <c:pt idx="6">
                        <c:v>1.584220779108731</c:v>
                      </c:pt>
                      <c:pt idx="7">
                        <c:v>1.1915787649380096</c:v>
                      </c:pt>
                      <c:pt idx="8">
                        <c:v>1.0069075148669009</c:v>
                      </c:pt>
                      <c:pt idx="9">
                        <c:v>0.80608186368465451</c:v>
                      </c:pt>
                      <c:pt idx="10">
                        <c:v>0.60725621250240813</c:v>
                      </c:pt>
                      <c:pt idx="11">
                        <c:v>0.45843056132016174</c:v>
                      </c:pt>
                      <c:pt idx="12">
                        <c:v>0.35460491013791534</c:v>
                      </c:pt>
                      <c:pt idx="13">
                        <c:v>0.24677925895566893</c:v>
                      </c:pt>
                      <c:pt idx="14">
                        <c:v>0.24677925895566893</c:v>
                      </c:pt>
                    </c:numCache>
                  </c:numRef>
                </c:yVal>
                <c:smooth val="1"/>
              </c15:ser>
            </c15:filteredScatterSeries>
            <c15:filteredScatterSeries>
              <c15:ser>
                <c:idx val="8"/>
                <c:order val="8"/>
                <c:tx>
                  <c:strRef>
                    <c:extLst xmlns:c15="http://schemas.microsoft.com/office/drawing/2012/chart">
                      <c:ext xmlns:c15="http://schemas.microsoft.com/office/drawing/2012/chart" uri="{02D57815-91ED-43cb-92C2-25804820EDAC}">
                        <c15:formulaRef>
                          <c15:sqref>ReadMBSec!$A$37</c15:sqref>
                        </c15:formulaRef>
                      </c:ext>
                    </c:extLst>
                    <c:strCache>
                      <c:ptCount val="1"/>
                      <c:pt idx="0">
                        <c:v>XrootDDavixLazy</c:v>
                      </c:pt>
                    </c:strCache>
                  </c:strRef>
                </c:tx>
                <c:spPr>
                  <a:ln w="9525" cap="rnd">
                    <a:solidFill>
                      <a:schemeClr val="accent3">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cap="rnd">
                      <a:solidFill>
                        <a:schemeClr val="accent3">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ReadMBSec!$B$37:$P$37</c15:sqref>
                        </c15:formulaRef>
                      </c:ext>
                    </c:extLst>
                    <c:numCache>
                      <c:formatCode>General</c:formatCode>
                      <c:ptCount val="15"/>
                      <c:pt idx="0">
                        <c:v>825.40857612065338</c:v>
                      </c:pt>
                      <c:pt idx="1">
                        <c:v>509.47775912196482</c:v>
                      </c:pt>
                      <c:pt idx="2">
                        <c:v>430.19041879734488</c:v>
                      </c:pt>
                      <c:pt idx="3">
                        <c:v>243.65747117878456</c:v>
                      </c:pt>
                      <c:pt idx="4">
                        <c:v>171.28880116337817</c:v>
                      </c:pt>
                      <c:pt idx="5">
                        <c:v>131.77676410200036</c:v>
                      </c:pt>
                      <c:pt idx="6">
                        <c:v>103.43799119059227</c:v>
                      </c:pt>
                      <c:pt idx="7">
                        <c:v>83.797422021422534</c:v>
                      </c:pt>
                      <c:pt idx="8">
                        <c:v>66.050756630623056</c:v>
                      </c:pt>
                      <c:pt idx="9">
                        <c:v>34.390287042986252</c:v>
                      </c:pt>
                      <c:pt idx="10">
                        <c:v>45.639126666320522</c:v>
                      </c:pt>
                      <c:pt idx="11">
                        <c:v>40.066696986075655</c:v>
                      </c:pt>
                      <c:pt idx="12">
                        <c:v>34.365032229190334</c:v>
                      </c:pt>
                      <c:pt idx="13">
                        <c:v>30.132694682747999</c:v>
                      </c:pt>
                      <c:pt idx="14">
                        <c:v>18.309423878322995</c:v>
                      </c:pt>
                    </c:numCache>
                  </c:numRef>
                </c:yVal>
                <c:smooth val="1"/>
              </c15:ser>
            </c15:filteredScatterSeries>
            <c15:filteredScatterSeries>
              <c15:ser>
                <c:idx val="10"/>
                <c:order val="10"/>
                <c:tx>
                  <c:strRef>
                    <c:extLst xmlns:c15="http://schemas.microsoft.com/office/drawing/2012/chart">
                      <c:ext xmlns:c15="http://schemas.microsoft.com/office/drawing/2012/chart" uri="{02D57815-91ED-43cb-92C2-25804820EDAC}">
                        <c15:formulaRef>
                          <c15:sqref>ReadMBSec!$A$39</c15:sqref>
                        </c15:formulaRef>
                      </c:ext>
                    </c:extLst>
                    <c:strCache>
                      <c:ptCount val="1"/>
                      <c:pt idx="0">
                        <c:v>ApacheCurlLazy</c:v>
                      </c:pt>
                    </c:strCache>
                  </c:strRef>
                </c:tx>
                <c:spPr>
                  <a:ln w="9525" cap="rnd">
                    <a:solidFill>
                      <a:schemeClr val="accent5">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w="9525" cap="rnd">
                      <a:solidFill>
                        <a:schemeClr val="accent5">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ReadMBSec!$B$39:$P$39</c15:sqref>
                        </c15:formulaRef>
                      </c:ext>
                    </c:extLst>
                    <c:numCache>
                      <c:formatCode>General</c:formatCode>
                      <c:ptCount val="15"/>
                      <c:pt idx="0">
                        <c:v>471.45913981567236</c:v>
                      </c:pt>
                      <c:pt idx="1">
                        <c:v>478.03524049029767</c:v>
                      </c:pt>
                      <c:pt idx="2">
                        <c:v>454.13400589280593</c:v>
                      </c:pt>
                      <c:pt idx="3">
                        <c:v>284.72519572319368</c:v>
                      </c:pt>
                      <c:pt idx="4">
                        <c:v>203.36883916863374</c:v>
                      </c:pt>
                      <c:pt idx="5">
                        <c:v>147.80093915431019</c:v>
                      </c:pt>
                      <c:pt idx="6">
                        <c:v>126.96503475701454</c:v>
                      </c:pt>
                      <c:pt idx="7">
                        <c:v>88.604255970157169</c:v>
                      </c:pt>
                      <c:pt idx="8">
                        <c:v>64.977227101235073</c:v>
                      </c:pt>
                      <c:pt idx="9">
                        <c:v>52.96386816222369</c:v>
                      </c:pt>
                      <c:pt idx="10">
                        <c:v>40.541473234757291</c:v>
                      </c:pt>
                      <c:pt idx="11">
                        <c:v>38.59210635394512</c:v>
                      </c:pt>
                      <c:pt idx="12">
                        <c:v>34.458450824670493</c:v>
                      </c:pt>
                      <c:pt idx="13">
                        <c:v>29.928821869631108</c:v>
                      </c:pt>
                      <c:pt idx="14">
                        <c:v>27.442515205142538</c:v>
                      </c:pt>
                    </c:numCache>
                  </c:numRef>
                </c:yVal>
                <c:smooth val="1"/>
              </c15:ser>
            </c15:filteredScatterSeries>
            <c15:filteredScatterSeries>
              <c15:ser>
                <c:idx val="11"/>
                <c:order val="11"/>
                <c:tx>
                  <c:strRef>
                    <c:extLst xmlns:c15="http://schemas.microsoft.com/office/drawing/2012/chart">
                      <c:ext xmlns:c15="http://schemas.microsoft.com/office/drawing/2012/chart" uri="{02D57815-91ED-43cb-92C2-25804820EDAC}">
                        <c15:formulaRef>
                          <c15:sqref>ReadMBSec!$A$40</c15:sqref>
                        </c15:formulaRef>
                      </c:ext>
                    </c:extLst>
                    <c:strCache>
                      <c:ptCount val="1"/>
                      <c:pt idx="0">
                        <c:v>LocalLocal</c:v>
                      </c:pt>
                    </c:strCache>
                  </c:strRef>
                </c:tx>
                <c:spPr>
                  <a:ln w="9525" cap="rnd">
                    <a:solidFill>
                      <a:schemeClr val="accent6">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w="9525" cap="rnd">
                      <a:solidFill>
                        <a:schemeClr val="accent6">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ReadMBSec!$B$40:$P$40</c15:sqref>
                        </c15:formulaRef>
                      </c:ext>
                    </c:extLst>
                    <c:numCache>
                      <c:formatCode>General</c:formatCode>
                      <c:ptCount val="15"/>
                    </c:numCache>
                  </c:numRef>
                </c:yVal>
                <c:smooth val="1"/>
              </c15:ser>
            </c15:filteredScatterSeries>
            <c15:filteredScatterSeries>
              <c15:ser>
                <c:idx val="12"/>
                <c:order val="12"/>
                <c:tx>
                  <c:strRef>
                    <c:extLst xmlns:c15="http://schemas.microsoft.com/office/drawing/2012/chart">
                      <c:ext xmlns:c15="http://schemas.microsoft.com/office/drawing/2012/chart" uri="{02D57815-91ED-43cb-92C2-25804820EDAC}">
                        <c15:formulaRef>
                          <c15:sqref>ReadMBSec!$A$41</c15:sqref>
                        </c15:formulaRef>
                      </c:ext>
                    </c:extLst>
                    <c:strCache>
                      <c:ptCount val="1"/>
                      <c:pt idx="0">
                        <c:v>LocalHDFS</c:v>
                      </c:pt>
                    </c:strCache>
                  </c:strRef>
                </c:tx>
                <c:spPr>
                  <a:ln w="9525" cap="rnd">
                    <a:solidFill>
                      <a:schemeClr val="accent1">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w="9525" cap="rnd">
                      <a:solidFill>
                        <a:schemeClr val="accent1">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ReadMBSec!$B$41:$P$41</c15:sqref>
                        </c15:formulaRef>
                      </c:ext>
                    </c:extLst>
                    <c:numCache>
                      <c:formatCode>General</c:formatCode>
                      <c:ptCount val="15"/>
                    </c:numCache>
                  </c:numRef>
                </c:yVal>
                <c:smooth val="1"/>
              </c15:ser>
            </c15:filteredScatterSeries>
            <c15:filteredScatterSeries>
              <c15:ser>
                <c:idx val="13"/>
                <c:order val="13"/>
                <c:tx>
                  <c:strRef>
                    <c:extLst xmlns:c15="http://schemas.microsoft.com/office/drawing/2012/chart">
                      <c:ext xmlns:c15="http://schemas.microsoft.com/office/drawing/2012/chart" uri="{02D57815-91ED-43cb-92C2-25804820EDAC}">
                        <c15:formulaRef>
                          <c15:sqref>ReadMBSec!$A$42</c15:sqref>
                        </c15:formulaRef>
                      </c:ext>
                    </c:extLst>
                    <c:strCache>
                      <c:ptCount val="1"/>
                      <c:pt idx="0">
                        <c:v>NginxDavixStorage</c:v>
                      </c:pt>
                    </c:strCache>
                  </c:strRef>
                </c:tx>
                <c:spPr>
                  <a:ln w="9525" cap="rnd">
                    <a:solidFill>
                      <a:schemeClr val="accent2">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w="9525" cap="rnd">
                      <a:solidFill>
                        <a:schemeClr val="accent2">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ReadMBSec!$B$42:$P$42</c15:sqref>
                        </c15:formulaRef>
                      </c:ext>
                    </c:extLst>
                    <c:numCache>
                      <c:formatCode>General</c:formatCode>
                      <c:ptCount val="15"/>
                      <c:pt idx="0">
                        <c:v>101.61611419908913</c:v>
                      </c:pt>
                      <c:pt idx="1">
                        <c:v>12.820724626655885</c:v>
                      </c:pt>
                      <c:pt idx="2">
                        <c:v>5.7738045262385702</c:v>
                      </c:pt>
                      <c:pt idx="3">
                        <c:v>3.0277459072011053</c:v>
                      </c:pt>
                      <c:pt idx="4">
                        <c:v>2.0526513605077681</c:v>
                      </c:pt>
                      <c:pt idx="5">
                        <c:v>1.5569056484377695</c:v>
                      </c:pt>
                      <c:pt idx="6">
                        <c:v>1.2455245187502155</c:v>
                      </c:pt>
                      <c:pt idx="7">
                        <c:v>0.98072796751985469</c:v>
                      </c:pt>
                      <c:pt idx="8">
                        <c:v>0.83112539620326675</c:v>
                      </c:pt>
                      <c:pt idx="9">
                        <c:v>0.65962333032005294</c:v>
                      </c:pt>
                      <c:pt idx="10">
                        <c:v>0.49595739121808491</c:v>
                      </c:pt>
                      <c:pt idx="11">
                        <c:v>0.4203028739136313</c:v>
                      </c:pt>
                      <c:pt idx="12">
                        <c:v>0.3389539305755091</c:v>
                      </c:pt>
                      <c:pt idx="13">
                        <c:v>0.211846206609693</c:v>
                      </c:pt>
                      <c:pt idx="14">
                        <c:v>0.12461541565276069</c:v>
                      </c:pt>
                    </c:numCache>
                  </c:numRef>
                </c:yVal>
                <c:smooth val="1"/>
              </c15:ser>
            </c15:filteredScatterSeries>
            <c15:filteredScatterSeries>
              <c15:ser>
                <c:idx val="14"/>
                <c:order val="14"/>
                <c:tx>
                  <c:strRef>
                    <c:extLst xmlns:c15="http://schemas.microsoft.com/office/drawing/2012/chart">
                      <c:ext xmlns:c15="http://schemas.microsoft.com/office/drawing/2012/chart" uri="{02D57815-91ED-43cb-92C2-25804820EDAC}">
                        <c15:formulaRef>
                          <c15:sqref>ReadMBSec!$A$43</c15:sqref>
                        </c15:formulaRef>
                      </c:ext>
                    </c:extLst>
                    <c:strCache>
                      <c:ptCount val="1"/>
                      <c:pt idx="0">
                        <c:v>NginxDavixLazy</c:v>
                      </c:pt>
                    </c:strCache>
                  </c:strRef>
                </c:tx>
                <c:spPr>
                  <a:ln w="9525" cap="rnd">
                    <a:solidFill>
                      <a:schemeClr val="accent3">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w="9525" cap="rnd">
                      <a:solidFill>
                        <a:schemeClr val="accent3">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ReadMBSec!$B$43:$P$43</c15:sqref>
                        </c15:formulaRef>
                      </c:ext>
                    </c:extLst>
                    <c:numCache>
                      <c:formatCode>General</c:formatCode>
                      <c:ptCount val="15"/>
                      <c:pt idx="0">
                        <c:v>767.20133366858693</c:v>
                      </c:pt>
                      <c:pt idx="1">
                        <c:v>641.14650205653822</c:v>
                      </c:pt>
                      <c:pt idx="2">
                        <c:v>426.37384782275649</c:v>
                      </c:pt>
                      <c:pt idx="3">
                        <c:v>226.71261426761916</c:v>
                      </c:pt>
                      <c:pt idx="4">
                        <c:v>158.89245091624758</c:v>
                      </c:pt>
                      <c:pt idx="5">
                        <c:v>123.76746430393821</c:v>
                      </c:pt>
                      <c:pt idx="6">
                        <c:v>87.587417235441137</c:v>
                      </c:pt>
                      <c:pt idx="7">
                        <c:v>85.968411354468799</c:v>
                      </c:pt>
                      <c:pt idx="8">
                        <c:v>65.654095391399935</c:v>
                      </c:pt>
                      <c:pt idx="9">
                        <c:v>53.798960332656399</c:v>
                      </c:pt>
                      <c:pt idx="10">
                        <c:v>45.883485405563754</c:v>
                      </c:pt>
                      <c:pt idx="11">
                        <c:v>39.991751388755375</c:v>
                      </c:pt>
                      <c:pt idx="12">
                        <c:v>34.552941029476024</c:v>
                      </c:pt>
                      <c:pt idx="13">
                        <c:v>28.829007746375737</c:v>
                      </c:pt>
                      <c:pt idx="14">
                        <c:v>24.85705994183034</c:v>
                      </c:pt>
                    </c:numCache>
                  </c:numRef>
                </c:yVal>
                <c:smooth val="1"/>
              </c15:ser>
            </c15:filteredScatterSeries>
            <c15:filteredScatterSeries>
              <c15:ser>
                <c:idx val="16"/>
                <c:order val="16"/>
                <c:tx>
                  <c:strRef>
                    <c:extLst xmlns:c15="http://schemas.microsoft.com/office/drawing/2012/chart">
                      <c:ext xmlns:c15="http://schemas.microsoft.com/office/drawing/2012/chart" uri="{02D57815-91ED-43cb-92C2-25804820EDAC}">
                        <c15:formulaRef>
                          <c15:sqref>ReadMBSec!$A$45</c15:sqref>
                        </c15:formulaRef>
                      </c:ext>
                    </c:extLst>
                    <c:strCache>
                      <c:ptCount val="1"/>
                      <c:pt idx="0">
                        <c:v>NginxCurlLazy</c:v>
                      </c:pt>
                    </c:strCache>
                  </c:strRef>
                </c:tx>
                <c:spPr>
                  <a:ln w="9525" cap="rnd">
                    <a:solidFill>
                      <a:schemeClr val="accent5">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w="9525" cap="rnd">
                      <a:solidFill>
                        <a:schemeClr val="accent5">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ReadMBSec!$B$45:$P$45</c15:sqref>
                        </c15:formulaRef>
                      </c:ext>
                    </c:extLst>
                    <c:numCache>
                      <c:formatCode>General</c:formatCode>
                      <c:ptCount val="15"/>
                      <c:pt idx="0">
                        <c:v>485.2287840148532</c:v>
                      </c:pt>
                      <c:pt idx="1">
                        <c:v>470.42646115299607</c:v>
                      </c:pt>
                      <c:pt idx="2">
                        <c:v>441.39838730282702</c:v>
                      </c:pt>
                      <c:pt idx="3">
                        <c:v>273.26676649954265</c:v>
                      </c:pt>
                      <c:pt idx="4">
                        <c:v>194.31100149964161</c:v>
                      </c:pt>
                      <c:pt idx="5">
                        <c:v>151.04869795296878</c:v>
                      </c:pt>
                      <c:pt idx="6">
                        <c:v>123.61945286227616</c:v>
                      </c:pt>
                      <c:pt idx="7">
                        <c:v>102.66240614752962</c:v>
                      </c:pt>
                      <c:pt idx="8">
                        <c:v>64.251783633650163</c:v>
                      </c:pt>
                      <c:pt idx="9">
                        <c:v>48.190745675122891</c:v>
                      </c:pt>
                      <c:pt idx="10">
                        <c:v>40.347964614973129</c:v>
                      </c:pt>
                      <c:pt idx="11">
                        <c:v>36.26578556166011</c:v>
                      </c:pt>
                      <c:pt idx="12">
                        <c:v>33.27920592034117</c:v>
                      </c:pt>
                      <c:pt idx="13">
                        <c:v>29.885985549647412</c:v>
                      </c:pt>
                      <c:pt idx="14">
                        <c:v>26.42393663097587</c:v>
                      </c:pt>
                    </c:numCache>
                  </c:numRef>
                </c:yVal>
                <c:smooth val="1"/>
              </c15:ser>
            </c15:filteredScatterSeries>
          </c:ext>
        </c:extLst>
      </c:scatterChart>
      <c:valAx>
        <c:axId val="417957600"/>
        <c:scaling>
          <c:orientation val="minMax"/>
          <c:max val="100"/>
        </c:scaling>
        <c:delete val="0"/>
        <c:axPos val="b"/>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r>
                  <a:rPr lang="en-GB" dirty="0" smtClean="0"/>
                  <a:t>RTT</a:t>
                </a:r>
                <a:endParaRPr lang="en-GB" dirty="0"/>
              </a:p>
            </c:rich>
          </c:tx>
          <c:layout/>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crossAx val="419707616"/>
        <c:crosses val="autoZero"/>
        <c:crossBetween val="midCat"/>
        <c:majorUnit val="5"/>
      </c:valAx>
      <c:valAx>
        <c:axId val="419707616"/>
        <c:scaling>
          <c:logBase val="2"/>
          <c:orientation val="minMax"/>
        </c:scaling>
        <c:delete val="0"/>
        <c:axPos val="l"/>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540000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r>
                  <a:rPr lang="en-GB" dirty="0" smtClean="0"/>
                  <a:t>Mbytes/s</a:t>
                </a:r>
                <a:endParaRPr lang="en-GB" dirty="0"/>
              </a:p>
            </c:rich>
          </c:tx>
          <c:layout/>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crossAx val="417957600"/>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1"/>
          <c:order val="1"/>
          <c:tx>
            <c:strRef>
              <c:f>ReadMBSec!$A$30</c:f>
              <c:strCache>
                <c:ptCount val="1"/>
                <c:pt idx="0">
                  <c:v>ApacheDavixLazy</c:v>
                </c:pt>
              </c:strCache>
            </c:strRef>
          </c:tx>
          <c:spPr>
            <a:ln w="9525" cap="rnd">
              <a:solidFill>
                <a:schemeClr val="accent1">
                  <a:lumMod val="60000"/>
                  <a:lumOff val="40000"/>
                </a:schemeClr>
              </a:solidFill>
              <a:round/>
            </a:ln>
            <a:effectLst>
              <a:outerShdw blurRad="57150" dist="19050" dir="5400000" algn="ctr" rotWithShape="0">
                <a:srgbClr val="000000">
                  <a:alpha val="63000"/>
                </a:srgbClr>
              </a:outerShdw>
            </a:effectLst>
          </c:spPr>
          <c:marker>
            <c:symbol val="star"/>
            <c:size val="6"/>
            <c:spPr>
              <a:solidFill>
                <a:schemeClr val="accent1">
                  <a:lumMod val="60000"/>
                  <a:lumOff val="40000"/>
                  <a:alpha val="0"/>
                </a:schemeClr>
              </a:solidFill>
              <a:ln w="9525" cap="rnd">
                <a:solidFill>
                  <a:schemeClr val="accent1">
                    <a:lumMod val="60000"/>
                    <a:lumOff val="40000"/>
                  </a:schemeClr>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ReadMBSec!$B$30:$P$30</c:f>
              <c:numCache>
                <c:formatCode>General</c:formatCode>
                <c:ptCount val="15"/>
                <c:pt idx="0">
                  <c:v>728.07040475466067</c:v>
                </c:pt>
                <c:pt idx="1">
                  <c:v>481.9895094530911</c:v>
                </c:pt>
                <c:pt idx="2">
                  <c:v>300.67361431363611</c:v>
                </c:pt>
                <c:pt idx="3">
                  <c:v>174.23657551362325</c:v>
                </c:pt>
                <c:pt idx="4">
                  <c:v>114.2767595573537</c:v>
                </c:pt>
                <c:pt idx="5">
                  <c:v>102.26942157498759</c:v>
                </c:pt>
                <c:pt idx="6">
                  <c:v>90.12407198464399</c:v>
                </c:pt>
                <c:pt idx="7">
                  <c:v>73.818693976649058</c:v>
                </c:pt>
                <c:pt idx="8">
                  <c:v>57.312215266357747</c:v>
                </c:pt>
                <c:pt idx="9">
                  <c:v>46.950861699670732</c:v>
                </c:pt>
                <c:pt idx="10">
                  <c:v>39.204414537697311</c:v>
                </c:pt>
                <c:pt idx="11">
                  <c:v>31.260369809522878</c:v>
                </c:pt>
                <c:pt idx="12">
                  <c:v>28.290389738547649</c:v>
                </c:pt>
                <c:pt idx="13">
                  <c:v>24.821946136832622</c:v>
                </c:pt>
                <c:pt idx="14">
                  <c:v>13.452670272043143</c:v>
                </c:pt>
              </c:numCache>
            </c:numRef>
          </c:yVal>
          <c:smooth val="1"/>
        </c:ser>
        <c:ser>
          <c:idx val="4"/>
          <c:order val="4"/>
          <c:tx>
            <c:strRef>
              <c:f>ReadMBSec!$A$33</c:f>
              <c:strCache>
                <c:ptCount val="1"/>
                <c:pt idx="0">
                  <c:v>XrootDXrootdLazy</c:v>
                </c:pt>
              </c:strCache>
            </c:strRef>
          </c:tx>
          <c:spPr>
            <a:ln w="9525" cap="rnd">
              <a:solidFill>
                <a:schemeClr val="accent5"/>
              </a:solidFill>
              <a:round/>
            </a:ln>
            <a:effectLst>
              <a:outerShdw blurRad="57150" dist="19050" dir="5400000" algn="ctr" rotWithShape="0">
                <a:srgbClr val="000000">
                  <a:alpha val="63000"/>
                </a:srgbClr>
              </a:outerShdw>
            </a:effectLst>
          </c:spPr>
          <c:marker>
            <c:symbol val="x"/>
            <c:size val="6"/>
            <c:spPr>
              <a:noFill/>
              <a:ln w="9525" cap="rnd">
                <a:solidFill>
                  <a:schemeClr val="accent5"/>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ReadMBSec!$B$33:$P$33</c:f>
              <c:numCache>
                <c:formatCode>General</c:formatCode>
                <c:ptCount val="15"/>
                <c:pt idx="0">
                  <c:v>570.48449190092254</c:v>
                </c:pt>
                <c:pt idx="1">
                  <c:v>495.73623887666463</c:v>
                </c:pt>
                <c:pt idx="2">
                  <c:v>339.23528593630004</c:v>
                </c:pt>
                <c:pt idx="3">
                  <c:v>202.74068786954561</c:v>
                </c:pt>
                <c:pt idx="4">
                  <c:v>149.3266112980117</c:v>
                </c:pt>
                <c:pt idx="5">
                  <c:v>123.1180556094023</c:v>
                </c:pt>
                <c:pt idx="6">
                  <c:v>63.363351814826999</c:v>
                </c:pt>
                <c:pt idx="7">
                  <c:v>85.144769829116584</c:v>
                </c:pt>
                <c:pt idx="8">
                  <c:v>65.47719587201189</c:v>
                </c:pt>
                <c:pt idx="9">
                  <c:v>29.870020119836674</c:v>
                </c:pt>
                <c:pt idx="10">
                  <c:v>43.745966974938078</c:v>
                </c:pt>
                <c:pt idx="11">
                  <c:v>38.483337481121197</c:v>
                </c:pt>
                <c:pt idx="12">
                  <c:v>34.144111761660632</c:v>
                </c:pt>
                <c:pt idx="13">
                  <c:v>29.056034232717604</c:v>
                </c:pt>
                <c:pt idx="14">
                  <c:v>18.309423878322995</c:v>
                </c:pt>
              </c:numCache>
            </c:numRef>
          </c:yVal>
          <c:smooth val="1"/>
        </c:ser>
        <c:ser>
          <c:idx val="6"/>
          <c:order val="6"/>
          <c:tx>
            <c:strRef>
              <c:f>ReadMBSec!$A$35</c:f>
              <c:strCache>
                <c:ptCount val="1"/>
                <c:pt idx="0">
                  <c:v>XrootDCurlLazy</c:v>
                </c:pt>
              </c:strCache>
            </c:strRef>
          </c:tx>
          <c:spPr>
            <a:ln w="9525" cap="rnd">
              <a:solidFill>
                <a:schemeClr val="accent4">
                  <a:lumMod val="75000"/>
                </a:schemeClr>
              </a:solidFill>
              <a:round/>
            </a:ln>
            <a:effectLst>
              <a:outerShdw blurRad="57150" dist="19050" dir="5400000" algn="ctr" rotWithShape="0">
                <a:srgbClr val="000000">
                  <a:alpha val="63000"/>
                </a:srgbClr>
              </a:outerShdw>
            </a:effectLst>
          </c:spPr>
          <c:marker>
            <c:symbol val="square"/>
            <c:size val="6"/>
            <c:spPr>
              <a:solidFill>
                <a:schemeClr val="accent4">
                  <a:lumMod val="75000"/>
                </a:schemeClr>
              </a:solidFill>
              <a:ln w="9525" cap="rnd">
                <a:solidFill>
                  <a:schemeClr val="accent4">
                    <a:lumMod val="75000"/>
                  </a:schemeClr>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ReadMBSec!$B$35:$P$35</c:f>
              <c:numCache>
                <c:formatCode>General</c:formatCode>
                <c:ptCount val="15"/>
                <c:pt idx="0">
                  <c:v>507.6245857779345</c:v>
                </c:pt>
                <c:pt idx="1">
                  <c:v>408.09624233686725</c:v>
                </c:pt>
                <c:pt idx="2">
                  <c:v>445.43007428901365</c:v>
                </c:pt>
                <c:pt idx="3">
                  <c:v>269.25884902731104</c:v>
                </c:pt>
                <c:pt idx="4">
                  <c:v>200.13315979600264</c:v>
                </c:pt>
                <c:pt idx="5">
                  <c:v>149.62587054591233</c:v>
                </c:pt>
                <c:pt idx="6">
                  <c:v>125.68599562282867</c:v>
                </c:pt>
                <c:pt idx="7">
                  <c:v>99.723018422392272</c:v>
                </c:pt>
                <c:pt idx="8">
                  <c:v>62.536470264471525</c:v>
                </c:pt>
                <c:pt idx="9">
                  <c:v>45.213651162993301</c:v>
                </c:pt>
                <c:pt idx="10">
                  <c:v>38.831291570220174</c:v>
                </c:pt>
                <c:pt idx="11">
                  <c:v>36.067311546030751</c:v>
                </c:pt>
                <c:pt idx="12">
                  <c:v>32.845994892271797</c:v>
                </c:pt>
                <c:pt idx="13">
                  <c:v>29.858314968374504</c:v>
                </c:pt>
                <c:pt idx="14">
                  <c:v>27.608614811408181</c:v>
                </c:pt>
              </c:numCache>
            </c:numRef>
          </c:yVal>
          <c:smooth val="1"/>
        </c:ser>
        <c:ser>
          <c:idx val="8"/>
          <c:order val="8"/>
          <c:tx>
            <c:strRef>
              <c:f>ReadMBSec!$A$37</c:f>
              <c:strCache>
                <c:ptCount val="1"/>
                <c:pt idx="0">
                  <c:v>XrootDDavixLazy</c:v>
                </c:pt>
              </c:strCache>
            </c:strRef>
          </c:tx>
          <c:spPr>
            <a:ln w="9525" cap="rnd">
              <a:solidFill>
                <a:srgbClr val="92D050"/>
              </a:solidFill>
              <a:round/>
            </a:ln>
            <a:effectLst>
              <a:outerShdw blurRad="57150" dist="19050" dir="5400000" algn="ctr" rotWithShape="0">
                <a:srgbClr val="000000">
                  <a:alpha val="63000"/>
                </a:srgbClr>
              </a:outerShdw>
            </a:effectLst>
          </c:spPr>
          <c:marker>
            <c:symbol val="circle"/>
            <c:size val="6"/>
            <c:spPr>
              <a:solidFill>
                <a:schemeClr val="accent6">
                  <a:lumMod val="60000"/>
                  <a:lumOff val="40000"/>
                </a:schemeClr>
              </a:solidFill>
              <a:ln w="9525" cap="rnd">
                <a:solidFill>
                  <a:schemeClr val="accent6">
                    <a:lumMod val="60000"/>
                    <a:lumOff val="40000"/>
                  </a:schemeClr>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ReadMBSec!$B$37:$P$37</c:f>
              <c:numCache>
                <c:formatCode>General</c:formatCode>
                <c:ptCount val="15"/>
                <c:pt idx="0">
                  <c:v>825.40857612065338</c:v>
                </c:pt>
                <c:pt idx="1">
                  <c:v>509.47775912196482</c:v>
                </c:pt>
                <c:pt idx="2">
                  <c:v>430.19041879734488</c:v>
                </c:pt>
                <c:pt idx="3">
                  <c:v>243.65747117878456</c:v>
                </c:pt>
                <c:pt idx="4">
                  <c:v>171.28880116337817</c:v>
                </c:pt>
                <c:pt idx="5">
                  <c:v>131.77676410200036</c:v>
                </c:pt>
                <c:pt idx="6">
                  <c:v>103.43799119059227</c:v>
                </c:pt>
                <c:pt idx="7">
                  <c:v>83.797422021422534</c:v>
                </c:pt>
                <c:pt idx="8">
                  <c:v>66.050756630623056</c:v>
                </c:pt>
                <c:pt idx="9">
                  <c:v>34.390287042986252</c:v>
                </c:pt>
                <c:pt idx="10">
                  <c:v>45.639126666320522</c:v>
                </c:pt>
                <c:pt idx="11">
                  <c:v>40.066696986075655</c:v>
                </c:pt>
                <c:pt idx="12">
                  <c:v>34.365032229190334</c:v>
                </c:pt>
                <c:pt idx="13">
                  <c:v>30.132694682747999</c:v>
                </c:pt>
                <c:pt idx="14">
                  <c:v>18.309423878322995</c:v>
                </c:pt>
              </c:numCache>
            </c:numRef>
          </c:yVal>
          <c:smooth val="1"/>
        </c:ser>
        <c:ser>
          <c:idx val="10"/>
          <c:order val="10"/>
          <c:tx>
            <c:strRef>
              <c:f>ReadMBSec!$A$39</c:f>
              <c:strCache>
                <c:ptCount val="1"/>
                <c:pt idx="0">
                  <c:v>ApacheCurlLazy</c:v>
                </c:pt>
              </c:strCache>
            </c:strRef>
          </c:tx>
          <c:spPr>
            <a:ln w="9525" cap="rnd">
              <a:solidFill>
                <a:schemeClr val="accent5">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w="9525" cap="rnd">
                <a:solidFill>
                  <a:schemeClr val="accent5">
                    <a:lumMod val="60000"/>
                  </a:schemeClr>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ReadMBSec!$B$39:$P$39</c:f>
              <c:numCache>
                <c:formatCode>General</c:formatCode>
                <c:ptCount val="15"/>
                <c:pt idx="0">
                  <c:v>471.45913981567236</c:v>
                </c:pt>
                <c:pt idx="1">
                  <c:v>478.03524049029767</c:v>
                </c:pt>
                <c:pt idx="2">
                  <c:v>454.13400589280593</c:v>
                </c:pt>
                <c:pt idx="3">
                  <c:v>284.72519572319368</c:v>
                </c:pt>
                <c:pt idx="4">
                  <c:v>203.36883916863374</c:v>
                </c:pt>
                <c:pt idx="5">
                  <c:v>147.80093915431019</c:v>
                </c:pt>
                <c:pt idx="6">
                  <c:v>126.96503475701454</c:v>
                </c:pt>
                <c:pt idx="7">
                  <c:v>88.604255970157169</c:v>
                </c:pt>
                <c:pt idx="8">
                  <c:v>64.977227101235073</c:v>
                </c:pt>
                <c:pt idx="9">
                  <c:v>52.96386816222369</c:v>
                </c:pt>
                <c:pt idx="10">
                  <c:v>40.541473234757291</c:v>
                </c:pt>
                <c:pt idx="11">
                  <c:v>38.59210635394512</c:v>
                </c:pt>
                <c:pt idx="12">
                  <c:v>34.458450824670493</c:v>
                </c:pt>
                <c:pt idx="13">
                  <c:v>29.928821869631108</c:v>
                </c:pt>
                <c:pt idx="14">
                  <c:v>27.442515205142538</c:v>
                </c:pt>
              </c:numCache>
            </c:numRef>
          </c:yVal>
          <c:smooth val="1"/>
        </c:ser>
        <c:ser>
          <c:idx val="14"/>
          <c:order val="14"/>
          <c:tx>
            <c:strRef>
              <c:f>ReadMBSec!$A$43</c:f>
              <c:strCache>
                <c:ptCount val="1"/>
                <c:pt idx="0">
                  <c:v>NginxDavixLazy</c:v>
                </c:pt>
              </c:strCache>
            </c:strRef>
          </c:tx>
          <c:spPr>
            <a:ln w="9525" cap="rnd">
              <a:solidFill>
                <a:srgbClr val="FF0000"/>
              </a:solidFill>
              <a:round/>
            </a:ln>
            <a:effectLst>
              <a:outerShdw blurRad="57150" dist="19050" dir="5400000" algn="ctr" rotWithShape="0">
                <a:srgbClr val="000000">
                  <a:alpha val="63000"/>
                </a:srgbClr>
              </a:outerShdw>
            </a:effectLst>
          </c:spPr>
          <c:marker>
            <c:symbol val="triangle"/>
            <c:size val="6"/>
            <c:spPr>
              <a:solidFill>
                <a:srgbClr val="FF0000"/>
              </a:solidFill>
              <a:ln w="9525" cap="rnd">
                <a:solidFill>
                  <a:srgbClr val="FF0000"/>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ReadMBSec!$B$43:$P$43</c:f>
              <c:numCache>
                <c:formatCode>General</c:formatCode>
                <c:ptCount val="15"/>
                <c:pt idx="0">
                  <c:v>767.20133366858693</c:v>
                </c:pt>
                <c:pt idx="1">
                  <c:v>641.14650205653822</c:v>
                </c:pt>
                <c:pt idx="2">
                  <c:v>426.37384782275649</c:v>
                </c:pt>
                <c:pt idx="3">
                  <c:v>226.71261426761916</c:v>
                </c:pt>
                <c:pt idx="4">
                  <c:v>158.89245091624758</c:v>
                </c:pt>
                <c:pt idx="5">
                  <c:v>123.76746430393821</c:v>
                </c:pt>
                <c:pt idx="6">
                  <c:v>87.587417235441137</c:v>
                </c:pt>
                <c:pt idx="7">
                  <c:v>85.968411354468799</c:v>
                </c:pt>
                <c:pt idx="8">
                  <c:v>65.654095391399935</c:v>
                </c:pt>
                <c:pt idx="9">
                  <c:v>53.798960332656399</c:v>
                </c:pt>
                <c:pt idx="10">
                  <c:v>45.883485405563754</c:v>
                </c:pt>
                <c:pt idx="11">
                  <c:v>39.991751388755375</c:v>
                </c:pt>
                <c:pt idx="12">
                  <c:v>34.552941029476024</c:v>
                </c:pt>
                <c:pt idx="13">
                  <c:v>28.829007746375737</c:v>
                </c:pt>
                <c:pt idx="14">
                  <c:v>24.85705994183034</c:v>
                </c:pt>
              </c:numCache>
            </c:numRef>
          </c:yVal>
          <c:smooth val="1"/>
        </c:ser>
        <c:ser>
          <c:idx val="16"/>
          <c:order val="16"/>
          <c:tx>
            <c:strRef>
              <c:f>ReadMBSec!$A$45</c:f>
              <c:strCache>
                <c:ptCount val="1"/>
                <c:pt idx="0">
                  <c:v>NginxCurlLazy</c:v>
                </c:pt>
              </c:strCache>
            </c:strRef>
          </c:tx>
          <c:spPr>
            <a:ln w="9525" cap="rnd">
              <a:solidFill>
                <a:srgbClr val="FFFF00"/>
              </a:solidFill>
              <a:round/>
            </a:ln>
            <a:effectLst>
              <a:outerShdw blurRad="57150" dist="19050" dir="5400000" algn="ctr" rotWithShape="0">
                <a:srgbClr val="000000">
                  <a:alpha val="63000"/>
                </a:srgbClr>
              </a:outerShdw>
            </a:effectLst>
          </c:spPr>
          <c:marker>
            <c:symbol val="circle"/>
            <c:size val="6"/>
            <c:spPr>
              <a:solidFill>
                <a:srgbClr val="FFFF00"/>
              </a:solidFill>
              <a:ln w="9525" cap="rnd">
                <a:solidFill>
                  <a:srgbClr val="FFFF00"/>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ReadMBSec!$B$45:$P$45</c:f>
              <c:numCache>
                <c:formatCode>General</c:formatCode>
                <c:ptCount val="15"/>
                <c:pt idx="0">
                  <c:v>485.2287840148532</c:v>
                </c:pt>
                <c:pt idx="1">
                  <c:v>470.42646115299607</c:v>
                </c:pt>
                <c:pt idx="2">
                  <c:v>441.39838730282702</c:v>
                </c:pt>
                <c:pt idx="3">
                  <c:v>273.26676649954265</c:v>
                </c:pt>
                <c:pt idx="4">
                  <c:v>194.31100149964161</c:v>
                </c:pt>
                <c:pt idx="5">
                  <c:v>151.04869795296878</c:v>
                </c:pt>
                <c:pt idx="6">
                  <c:v>123.61945286227616</c:v>
                </c:pt>
                <c:pt idx="7">
                  <c:v>102.66240614752962</c:v>
                </c:pt>
                <c:pt idx="8">
                  <c:v>64.251783633650163</c:v>
                </c:pt>
                <c:pt idx="9">
                  <c:v>48.190745675122891</c:v>
                </c:pt>
                <c:pt idx="10">
                  <c:v>40.347964614973129</c:v>
                </c:pt>
                <c:pt idx="11">
                  <c:v>36.26578556166011</c:v>
                </c:pt>
                <c:pt idx="12">
                  <c:v>33.27920592034117</c:v>
                </c:pt>
                <c:pt idx="13">
                  <c:v>29.885985549647412</c:v>
                </c:pt>
                <c:pt idx="14">
                  <c:v>26.42393663097587</c:v>
                </c:pt>
              </c:numCache>
            </c:numRef>
          </c:yVal>
          <c:smooth val="1"/>
        </c:ser>
        <c:dLbls>
          <c:showLegendKey val="0"/>
          <c:showVal val="0"/>
          <c:showCatName val="0"/>
          <c:showSerName val="0"/>
          <c:showPercent val="0"/>
          <c:showBubbleSize val="0"/>
        </c:dLbls>
        <c:axId val="895231640"/>
        <c:axId val="895241048"/>
        <c:extLst>
          <c:ext xmlns:c15="http://schemas.microsoft.com/office/drawing/2012/chart" uri="{02D57815-91ED-43cb-92C2-25804820EDAC}">
            <c15:filteredScatterSeries>
              <c15:ser>
                <c:idx val="0"/>
                <c:order val="0"/>
                <c:tx>
                  <c:strRef>
                    <c:extLst>
                      <c:ext uri="{02D57815-91ED-43cb-92C2-25804820EDAC}">
                        <c15:formulaRef>
                          <c15:sqref>ReadMBSec!$A$29</c15:sqref>
                        </c15:formulaRef>
                      </c:ext>
                    </c:extLst>
                    <c:strCache>
                      <c:ptCount val="1"/>
                      <c:pt idx="0">
                        <c:v>ApacheDavixStorage</c:v>
                      </c:pt>
                    </c:strCache>
                  </c:strRef>
                </c:tx>
                <c:spPr>
                  <a:ln w="95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rnd">
                      <a:solidFill>
                        <a:schemeClr val="accent1"/>
                      </a:solidFill>
                      <a:round/>
                    </a:ln>
                    <a:effectLst>
                      <a:outerShdw blurRad="57150" dist="19050" dir="5400000" algn="ctr" rotWithShape="0">
                        <a:srgbClr val="000000">
                          <a:alpha val="63000"/>
                        </a:srgbClr>
                      </a:outerShdw>
                    </a:effectLst>
                  </c:spPr>
                </c:marker>
                <c:xVal>
                  <c:numRef>
                    <c:extLst>
                      <c:ex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c:ext uri="{02D57815-91ED-43cb-92C2-25804820EDAC}">
                        <c15:formulaRef>
                          <c15:sqref>ReadMBSec!$B$29:$P$29</c15:sqref>
                        </c15:formulaRef>
                      </c:ext>
                    </c:extLst>
                    <c:numCache>
                      <c:formatCode>General</c:formatCode>
                      <c:ptCount val="15"/>
                      <c:pt idx="0">
                        <c:v>89.429039021352907</c:v>
                      </c:pt>
                      <c:pt idx="1">
                        <c:v>12.695161204804007</c:v>
                      </c:pt>
                      <c:pt idx="2">
                        <c:v>5.7582019168686287</c:v>
                      </c:pt>
                      <c:pt idx="3">
                        <c:v>3.0191093184645497</c:v>
                      </c:pt>
                      <c:pt idx="4">
                        <c:v>2.0633792122447456</c:v>
                      </c:pt>
                      <c:pt idx="5">
                        <c:v>1.5595732334796373</c:v>
                      </c:pt>
                      <c:pt idx="6">
                        <c:v>1.255334031536802</c:v>
                      </c:pt>
                      <c:pt idx="7">
                        <c:v>0.98845199333606459</c:v>
                      </c:pt>
                      <c:pt idx="8">
                        <c:v>0.83767118079327507</c:v>
                      </c:pt>
                      <c:pt idx="9">
                        <c:v>0.66481839745498017</c:v>
                      </c:pt>
                      <c:pt idx="10">
                        <c:v>0.49986345673306776</c:v>
                      </c:pt>
                      <c:pt idx="11">
                        <c:v>0.42361309892632865</c:v>
                      </c:pt>
                      <c:pt idx="12">
                        <c:v>0.34162346687607148</c:v>
                      </c:pt>
                      <c:pt idx="13">
                        <c:v>0.21351466679754449</c:v>
                      </c:pt>
                      <c:pt idx="14">
                        <c:v>0.1255968628220851</c:v>
                      </c:pt>
                    </c:numCache>
                  </c:numRef>
                </c:yVal>
                <c:smooth val="1"/>
              </c15:ser>
            </c15:filteredScatterSeries>
            <c15:filteredScatterSeries>
              <c15:ser>
                <c:idx val="2"/>
                <c:order val="2"/>
                <c:tx>
                  <c:strRef>
                    <c:extLst xmlns:c15="http://schemas.microsoft.com/office/drawing/2012/chart">
                      <c:ext xmlns:c15="http://schemas.microsoft.com/office/drawing/2012/chart" uri="{02D57815-91ED-43cb-92C2-25804820EDAC}">
                        <c15:formulaRef>
                          <c15:sqref>ReadMBSec!$A$31</c15:sqref>
                        </c15:formulaRef>
                      </c:ext>
                    </c:extLst>
                    <c:strCache>
                      <c:ptCount val="1"/>
                      <c:pt idx="0">
                        <c:v>ApacheDavixApplication</c:v>
                      </c:pt>
                    </c:strCache>
                  </c:strRef>
                </c:tx>
                <c:spPr>
                  <a:ln w="9525" cap="rnd">
                    <a:solidFill>
                      <a:schemeClr val="accent3"/>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cap="rnd">
                      <a:solidFill>
                        <a:schemeClr val="accent3"/>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ReadMBSec!$B$31:$P$31</c15:sqref>
                        </c15:formulaRef>
                      </c:ext>
                    </c:extLst>
                    <c:numCache>
                      <c:formatCode>General</c:formatCode>
                      <c:ptCount val="15"/>
                      <c:pt idx="0">
                        <c:v>603.75877400800778</c:v>
                      </c:pt>
                      <c:pt idx="1">
                        <c:v>346.04563202535655</c:v>
                      </c:pt>
                      <c:pt idx="2">
                        <c:v>229.81039454033052</c:v>
                      </c:pt>
                      <c:pt idx="3">
                        <c:v>110.69580009769325</c:v>
                      </c:pt>
                      <c:pt idx="4">
                        <c:v>41.441252707919887</c:v>
                      </c:pt>
                      <c:pt idx="5">
                        <c:v>77.977551563709383</c:v>
                      </c:pt>
                      <c:pt idx="6">
                        <c:v>23.214836842760832</c:v>
                      </c:pt>
                      <c:pt idx="7">
                        <c:v>32.287954298948925</c:v>
                      </c:pt>
                      <c:pt idx="8">
                        <c:v>15.456807276755281</c:v>
                      </c:pt>
                      <c:pt idx="9">
                        <c:v>40.703793019311028</c:v>
                      </c:pt>
                      <c:pt idx="10">
                        <c:v>34.172674389251675</c:v>
                      </c:pt>
                      <c:pt idx="11">
                        <c:v>30.73269829092828</c:v>
                      </c:pt>
                      <c:pt idx="12">
                        <c:v>25.108560148288042</c:v>
                      </c:pt>
                      <c:pt idx="13">
                        <c:v>24.544780035385163</c:v>
                      </c:pt>
                      <c:pt idx="14">
                        <c:v>4.5361511427650365</c:v>
                      </c:pt>
                    </c:numCache>
                  </c:numRef>
                </c:yVal>
                <c:smooth val="1"/>
              </c15:ser>
            </c15:filteredScatterSeries>
            <c15:filteredScatterSeries>
              <c15:ser>
                <c:idx val="3"/>
                <c:order val="3"/>
                <c:tx>
                  <c:strRef>
                    <c:extLst xmlns:c15="http://schemas.microsoft.com/office/drawing/2012/chart">
                      <c:ext xmlns:c15="http://schemas.microsoft.com/office/drawing/2012/chart" uri="{02D57815-91ED-43cb-92C2-25804820EDAC}">
                        <c15:formulaRef>
                          <c15:sqref>ReadMBSec!$A$32</c15:sqref>
                        </c15:formulaRef>
                      </c:ext>
                    </c:extLst>
                    <c:strCache>
                      <c:ptCount val="1"/>
                      <c:pt idx="0">
                        <c:v>XrootDXrootdStorage</c:v>
                      </c:pt>
                    </c:strCache>
                  </c:strRef>
                </c:tx>
                <c:spPr>
                  <a:ln w="9525" cap="rnd">
                    <a:solidFill>
                      <a:schemeClr val="accent4"/>
                    </a:solid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cap="rnd">
                      <a:solidFill>
                        <a:schemeClr val="accent4"/>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ReadMBSec!$B$32:$P$32</c15:sqref>
                        </c15:formulaRef>
                      </c:ext>
                    </c:extLst>
                    <c:numCache>
                      <c:formatCode>General</c:formatCode>
                      <c:ptCount val="15"/>
                      <c:pt idx="0">
                        <c:v>123.0356857130691</c:v>
                      </c:pt>
                      <c:pt idx="1">
                        <c:v>15.31389005301472</c:v>
                      </c:pt>
                      <c:pt idx="2">
                        <c:v>7.4185977083494636</c:v>
                      </c:pt>
                      <c:pt idx="3">
                        <c:v>3.71971023939212</c:v>
                      </c:pt>
                      <c:pt idx="4">
                        <c:v>2.4713804343808348</c:v>
                      </c:pt>
                      <c:pt idx="5">
                        <c:v>1.8746375567636839</c:v>
                      </c:pt>
                      <c:pt idx="6">
                        <c:v>1.4977227022395043</c:v>
                      </c:pt>
                      <c:pt idx="7">
                        <c:v>1.1208078477153247</c:v>
                      </c:pt>
                      <c:pt idx="8">
                        <c:v>0.94598142676700958</c:v>
                      </c:pt>
                      <c:pt idx="9">
                        <c:v>0.75622737951933294</c:v>
                      </c:pt>
                      <c:pt idx="10">
                        <c:v>0.56847333227165631</c:v>
                      </c:pt>
                      <c:pt idx="11">
                        <c:v>0.43071928502397966</c:v>
                      </c:pt>
                      <c:pt idx="12">
                        <c:v>0.337965237776303</c:v>
                      </c:pt>
                      <c:pt idx="13">
                        <c:v>0.24121119052862633</c:v>
                      </c:pt>
                      <c:pt idx="14">
                        <c:v>0.13245714328094965</c:v>
                      </c:pt>
                    </c:numCache>
                  </c:numRef>
                </c:yVal>
                <c:smooth val="1"/>
              </c15:ser>
            </c15:filteredScatterSeries>
            <c15:filteredScatterSeries>
              <c15:ser>
                <c:idx val="5"/>
                <c:order val="5"/>
                <c:tx>
                  <c:strRef>
                    <c:extLst xmlns:c15="http://schemas.microsoft.com/office/drawing/2012/chart">
                      <c:ext xmlns:c15="http://schemas.microsoft.com/office/drawing/2012/chart" uri="{02D57815-91ED-43cb-92C2-25804820EDAC}">
                        <c15:formulaRef>
                          <c15:sqref>ReadMBSec!$A$34</c15:sqref>
                        </c15:formulaRef>
                      </c:ext>
                    </c:extLst>
                    <c:strCache>
                      <c:ptCount val="1"/>
                      <c:pt idx="0">
                        <c:v>XrootdXrootDApplication</c:v>
                      </c:pt>
                    </c:strCache>
                  </c:strRef>
                </c:tx>
                <c:spPr>
                  <a:ln w="9525" cap="rnd">
                    <a:solidFill>
                      <a:schemeClr val="accent6"/>
                    </a:solidFill>
                    <a:round/>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cap="rnd">
                      <a:solidFill>
                        <a:schemeClr val="accent6"/>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ReadMBSec!$B$34:$P$34</c15:sqref>
                        </c15:formulaRef>
                      </c:ext>
                    </c:extLst>
                    <c:numCache>
                      <c:formatCode>General</c:formatCode>
                      <c:ptCount val="15"/>
                      <c:pt idx="0">
                        <c:v>671.07965301162778</c:v>
                      </c:pt>
                      <c:pt idx="1">
                        <c:v>314.63725261568902</c:v>
                      </c:pt>
                      <c:pt idx="2">
                        <c:v>301.17455110185483</c:v>
                      </c:pt>
                      <c:pt idx="3">
                        <c:v>182.89288131227281</c:v>
                      </c:pt>
                      <c:pt idx="4">
                        <c:v>125.66304515011733</c:v>
                      </c:pt>
                      <c:pt idx="5">
                        <c:v>103.3338176777046</c:v>
                      </c:pt>
                      <c:pt idx="6">
                        <c:v>76.76567234111107</c:v>
                      </c:pt>
                      <c:pt idx="7">
                        <c:v>73.090248925817718</c:v>
                      </c:pt>
                      <c:pt idx="8">
                        <c:v>56.815441889696842</c:v>
                      </c:pt>
                      <c:pt idx="9">
                        <c:v>42.724266041281332</c:v>
                      </c:pt>
                      <c:pt idx="10">
                        <c:v>38.703354236813482</c:v>
                      </c:pt>
                      <c:pt idx="11">
                        <c:v>31.493937544228835</c:v>
                      </c:pt>
                      <c:pt idx="12">
                        <c:v>29.640695239201488</c:v>
                      </c:pt>
                      <c:pt idx="13">
                        <c:v>27.345256445779203</c:v>
                      </c:pt>
                      <c:pt idx="14">
                        <c:v>3.9793645254493097</c:v>
                      </c:pt>
                    </c:numCache>
                  </c:numRef>
                </c:yVal>
                <c:smooth val="1"/>
              </c15:ser>
            </c15:filteredScatterSeries>
            <c15:filteredScatterSeries>
              <c15:ser>
                <c:idx val="7"/>
                <c:order val="7"/>
                <c:tx>
                  <c:strRef>
                    <c:extLst xmlns:c15="http://schemas.microsoft.com/office/drawing/2012/chart">
                      <c:ext xmlns:c15="http://schemas.microsoft.com/office/drawing/2012/chart" uri="{02D57815-91ED-43cb-92C2-25804820EDAC}">
                        <c15:formulaRef>
                          <c15:sqref>ReadMBSec!$A$36</c15:sqref>
                        </c15:formulaRef>
                      </c:ext>
                    </c:extLst>
                    <c:strCache>
                      <c:ptCount val="1"/>
                      <c:pt idx="0">
                        <c:v>XrootDDavixStorage</c:v>
                      </c:pt>
                    </c:strCache>
                  </c:strRef>
                </c:tx>
                <c:spPr>
                  <a:ln w="9525" cap="rnd">
                    <a:solidFill>
                      <a:schemeClr val="accent2">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cap="rnd">
                      <a:solidFill>
                        <a:schemeClr val="accent2">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ReadMBSec!$B$36:$P$36</c15:sqref>
                        </c15:formulaRef>
                      </c:ext>
                    </c:extLst>
                    <c:numCache>
                      <c:formatCode>General</c:formatCode>
                      <c:ptCount val="15"/>
                      <c:pt idx="0">
                        <c:v>95.14317104182949</c:v>
                      </c:pt>
                      <c:pt idx="1">
                        <c:v>14.169802536397611</c:v>
                      </c:pt>
                      <c:pt idx="2">
                        <c:v>7.2920034936145619</c:v>
                      </c:pt>
                      <c:pt idx="3">
                        <c:v>3.7346267754064373</c:v>
                      </c:pt>
                      <c:pt idx="4">
                        <c:v>2.5218441161272218</c:v>
                      </c:pt>
                      <c:pt idx="5">
                        <c:v>1.9768627932794525</c:v>
                      </c:pt>
                      <c:pt idx="6">
                        <c:v>1.584220779108731</c:v>
                      </c:pt>
                      <c:pt idx="7">
                        <c:v>1.1915787649380096</c:v>
                      </c:pt>
                      <c:pt idx="8">
                        <c:v>1.0069075148669009</c:v>
                      </c:pt>
                      <c:pt idx="9">
                        <c:v>0.80608186368465451</c:v>
                      </c:pt>
                      <c:pt idx="10">
                        <c:v>0.60725621250240813</c:v>
                      </c:pt>
                      <c:pt idx="11">
                        <c:v>0.45843056132016174</c:v>
                      </c:pt>
                      <c:pt idx="12">
                        <c:v>0.35460491013791534</c:v>
                      </c:pt>
                      <c:pt idx="13">
                        <c:v>0.24677925895566893</c:v>
                      </c:pt>
                      <c:pt idx="14">
                        <c:v>0.24677925895566893</c:v>
                      </c:pt>
                    </c:numCache>
                  </c:numRef>
                </c:yVal>
                <c:smooth val="1"/>
              </c15:ser>
            </c15:filteredScatterSeries>
            <c15:filteredScatterSeries>
              <c15:ser>
                <c:idx val="9"/>
                <c:order val="9"/>
                <c:tx>
                  <c:strRef>
                    <c:extLst xmlns:c15="http://schemas.microsoft.com/office/drawing/2012/chart">
                      <c:ext xmlns:c15="http://schemas.microsoft.com/office/drawing/2012/chart" uri="{02D57815-91ED-43cb-92C2-25804820EDAC}">
                        <c15:formulaRef>
                          <c15:sqref>ReadMBSec!$A$38</c15:sqref>
                        </c15:formulaRef>
                      </c:ext>
                    </c:extLst>
                    <c:strCache>
                      <c:ptCount val="1"/>
                      <c:pt idx="0">
                        <c:v>XrootDDavixApplication</c:v>
                      </c:pt>
                    </c:strCache>
                  </c:strRef>
                </c:tx>
                <c:spPr>
                  <a:ln w="9525" cap="rnd">
                    <a:solidFill>
                      <a:schemeClr val="accent4">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w="9525" cap="rnd">
                      <a:solidFill>
                        <a:schemeClr val="accent4">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ReadMBSec!$B$38:$P$38</c15:sqref>
                        </c15:formulaRef>
                      </c:ext>
                    </c:extLst>
                    <c:numCache>
                      <c:formatCode>General</c:formatCode>
                      <c:ptCount val="15"/>
                      <c:pt idx="0">
                        <c:v>472.02504024474308</c:v>
                      </c:pt>
                      <c:pt idx="1">
                        <c:v>60.431034501095695</c:v>
                      </c:pt>
                      <c:pt idx="2">
                        <c:v>74.579197239318148</c:v>
                      </c:pt>
                      <c:pt idx="3">
                        <c:v>41.175942770849957</c:v>
                      </c:pt>
                      <c:pt idx="4">
                        <c:v>26.803781298523546</c:v>
                      </c:pt>
                      <c:pt idx="5">
                        <c:v>19.739266344741864</c:v>
                      </c:pt>
                      <c:pt idx="6">
                        <c:v>16.297908825690442</c:v>
                      </c:pt>
                      <c:pt idx="7">
                        <c:v>13.019524115336749</c:v>
                      </c:pt>
                      <c:pt idx="8">
                        <c:v>10.114041708844551</c:v>
                      </c:pt>
                      <c:pt idx="9">
                        <c:v>5.5174519613555111</c:v>
                      </c:pt>
                      <c:pt idx="10">
                        <c:v>6.8024290614829175</c:v>
                      </c:pt>
                      <c:pt idx="11">
                        <c:v>6.005659792538613</c:v>
                      </c:pt>
                      <c:pt idx="12">
                        <c:v>4.9017534422797784</c:v>
                      </c:pt>
                      <c:pt idx="13">
                        <c:v>4.6754041681661445</c:v>
                      </c:pt>
                      <c:pt idx="14">
                        <c:v>3.8776548349967355</c:v>
                      </c:pt>
                    </c:numCache>
                  </c:numRef>
                </c:yVal>
                <c:smooth val="1"/>
              </c15:ser>
            </c15:filteredScatterSeries>
            <c15:filteredScatterSeries>
              <c15:ser>
                <c:idx val="11"/>
                <c:order val="11"/>
                <c:tx>
                  <c:strRef>
                    <c:extLst xmlns:c15="http://schemas.microsoft.com/office/drawing/2012/chart">
                      <c:ext xmlns:c15="http://schemas.microsoft.com/office/drawing/2012/chart" uri="{02D57815-91ED-43cb-92C2-25804820EDAC}">
                        <c15:formulaRef>
                          <c15:sqref>ReadMBSec!$A$40</c15:sqref>
                        </c15:formulaRef>
                      </c:ext>
                    </c:extLst>
                    <c:strCache>
                      <c:ptCount val="1"/>
                      <c:pt idx="0">
                        <c:v>LocalLocal</c:v>
                      </c:pt>
                    </c:strCache>
                  </c:strRef>
                </c:tx>
                <c:spPr>
                  <a:ln w="9525" cap="rnd">
                    <a:solidFill>
                      <a:schemeClr val="accent6">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w="9525" cap="rnd">
                      <a:solidFill>
                        <a:schemeClr val="accent6">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ReadMBSec!$B$40:$P$40</c15:sqref>
                        </c15:formulaRef>
                      </c:ext>
                    </c:extLst>
                    <c:numCache>
                      <c:formatCode>General</c:formatCode>
                      <c:ptCount val="15"/>
                    </c:numCache>
                  </c:numRef>
                </c:yVal>
                <c:smooth val="1"/>
              </c15:ser>
            </c15:filteredScatterSeries>
            <c15:filteredScatterSeries>
              <c15:ser>
                <c:idx val="12"/>
                <c:order val="12"/>
                <c:tx>
                  <c:strRef>
                    <c:extLst xmlns:c15="http://schemas.microsoft.com/office/drawing/2012/chart">
                      <c:ext xmlns:c15="http://schemas.microsoft.com/office/drawing/2012/chart" uri="{02D57815-91ED-43cb-92C2-25804820EDAC}">
                        <c15:formulaRef>
                          <c15:sqref>ReadMBSec!$A$41</c15:sqref>
                        </c15:formulaRef>
                      </c:ext>
                    </c:extLst>
                    <c:strCache>
                      <c:ptCount val="1"/>
                      <c:pt idx="0">
                        <c:v>LocalHDFS</c:v>
                      </c:pt>
                    </c:strCache>
                  </c:strRef>
                </c:tx>
                <c:spPr>
                  <a:ln w="9525" cap="rnd">
                    <a:solidFill>
                      <a:schemeClr val="accent1">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w="9525" cap="rnd">
                      <a:solidFill>
                        <a:schemeClr val="accent1">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ReadMBSec!$B$41:$P$41</c15:sqref>
                        </c15:formulaRef>
                      </c:ext>
                    </c:extLst>
                    <c:numCache>
                      <c:formatCode>General</c:formatCode>
                      <c:ptCount val="15"/>
                    </c:numCache>
                  </c:numRef>
                </c:yVal>
                <c:smooth val="1"/>
              </c15:ser>
            </c15:filteredScatterSeries>
            <c15:filteredScatterSeries>
              <c15:ser>
                <c:idx val="13"/>
                <c:order val="13"/>
                <c:tx>
                  <c:strRef>
                    <c:extLst xmlns:c15="http://schemas.microsoft.com/office/drawing/2012/chart">
                      <c:ext xmlns:c15="http://schemas.microsoft.com/office/drawing/2012/chart" uri="{02D57815-91ED-43cb-92C2-25804820EDAC}">
                        <c15:formulaRef>
                          <c15:sqref>ReadMBSec!$A$42</c15:sqref>
                        </c15:formulaRef>
                      </c:ext>
                    </c:extLst>
                    <c:strCache>
                      <c:ptCount val="1"/>
                      <c:pt idx="0">
                        <c:v>NginxDavixStorage</c:v>
                      </c:pt>
                    </c:strCache>
                  </c:strRef>
                </c:tx>
                <c:spPr>
                  <a:ln w="9525" cap="rnd">
                    <a:solidFill>
                      <a:schemeClr val="accent2">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w="9525" cap="rnd">
                      <a:solidFill>
                        <a:schemeClr val="accent2">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ReadMBSec!$B$42:$P$42</c15:sqref>
                        </c15:formulaRef>
                      </c:ext>
                    </c:extLst>
                    <c:numCache>
                      <c:formatCode>General</c:formatCode>
                      <c:ptCount val="15"/>
                      <c:pt idx="0">
                        <c:v>101.61611419908913</c:v>
                      </c:pt>
                      <c:pt idx="1">
                        <c:v>12.820724626655885</c:v>
                      </c:pt>
                      <c:pt idx="2">
                        <c:v>5.7738045262385702</c:v>
                      </c:pt>
                      <c:pt idx="3">
                        <c:v>3.0277459072011053</c:v>
                      </c:pt>
                      <c:pt idx="4">
                        <c:v>2.0526513605077681</c:v>
                      </c:pt>
                      <c:pt idx="5">
                        <c:v>1.5569056484377695</c:v>
                      </c:pt>
                      <c:pt idx="6">
                        <c:v>1.2455245187502155</c:v>
                      </c:pt>
                      <c:pt idx="7">
                        <c:v>0.98072796751985469</c:v>
                      </c:pt>
                      <c:pt idx="8">
                        <c:v>0.83112539620326675</c:v>
                      </c:pt>
                      <c:pt idx="9">
                        <c:v>0.65962333032005294</c:v>
                      </c:pt>
                      <c:pt idx="10">
                        <c:v>0.49595739121808491</c:v>
                      </c:pt>
                      <c:pt idx="11">
                        <c:v>0.4203028739136313</c:v>
                      </c:pt>
                      <c:pt idx="12">
                        <c:v>0.3389539305755091</c:v>
                      </c:pt>
                      <c:pt idx="13">
                        <c:v>0.211846206609693</c:v>
                      </c:pt>
                      <c:pt idx="14">
                        <c:v>0.12461541565276069</c:v>
                      </c:pt>
                    </c:numCache>
                  </c:numRef>
                </c:yVal>
                <c:smooth val="1"/>
              </c15:ser>
            </c15:filteredScatterSeries>
            <c15:filteredScatterSeries>
              <c15:ser>
                <c:idx val="15"/>
                <c:order val="15"/>
                <c:tx>
                  <c:strRef>
                    <c:extLst xmlns:c15="http://schemas.microsoft.com/office/drawing/2012/chart">
                      <c:ext xmlns:c15="http://schemas.microsoft.com/office/drawing/2012/chart" uri="{02D57815-91ED-43cb-92C2-25804820EDAC}">
                        <c15:formulaRef>
                          <c15:sqref>ReadMBSec!$A$44</c15:sqref>
                        </c15:formulaRef>
                      </c:ext>
                    </c:extLst>
                    <c:strCache>
                      <c:ptCount val="1"/>
                      <c:pt idx="0">
                        <c:v>NginxDavixApplication</c:v>
                      </c:pt>
                    </c:strCache>
                  </c:strRef>
                </c:tx>
                <c:spPr>
                  <a:ln w="9525" cap="rnd">
                    <a:solidFill>
                      <a:schemeClr val="accent4">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w="9525" cap="rnd">
                      <a:solidFill>
                        <a:schemeClr val="accent4">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ReadMBSec!$B$44:$P$44</c15:sqref>
                        </c15:formulaRef>
                      </c:ext>
                    </c:extLst>
                    <c:numCache>
                      <c:formatCode>General</c:formatCode>
                      <c:ptCount val="15"/>
                      <c:pt idx="0">
                        <c:v>515.67842072455835</c:v>
                      </c:pt>
                      <c:pt idx="1">
                        <c:v>171.23599357315487</c:v>
                      </c:pt>
                      <c:pt idx="2">
                        <c:v>239.83341628864031</c:v>
                      </c:pt>
                      <c:pt idx="3">
                        <c:v>146.57760340117702</c:v>
                      </c:pt>
                      <c:pt idx="4">
                        <c:v>97.465280610378642</c:v>
                      </c:pt>
                      <c:pt idx="5">
                        <c:v>77.837252991968526</c:v>
                      </c:pt>
                      <c:pt idx="6">
                        <c:v>22.395597584066774</c:v>
                      </c:pt>
                      <c:pt idx="7">
                        <c:v>18.342368429514917</c:v>
                      </c:pt>
                      <c:pt idx="8">
                        <c:v>28.540891417757656</c:v>
                      </c:pt>
                      <c:pt idx="9">
                        <c:v>36.207569959555428</c:v>
                      </c:pt>
                      <c:pt idx="10">
                        <c:v>30.030165359081114</c:v>
                      </c:pt>
                      <c:pt idx="11">
                        <c:v>25.408617217928473</c:v>
                      </c:pt>
                      <c:pt idx="12">
                        <c:v>24.268534818300544</c:v>
                      </c:pt>
                      <c:pt idx="13">
                        <c:v>21.706538166148949</c:v>
                      </c:pt>
                      <c:pt idx="14">
                        <c:v>5.7559698547374083</c:v>
                      </c:pt>
                    </c:numCache>
                  </c:numRef>
                </c:yVal>
                <c:smooth val="1"/>
              </c15:ser>
            </c15:filteredScatterSeries>
          </c:ext>
        </c:extLst>
      </c:scatterChart>
      <c:valAx>
        <c:axId val="895231640"/>
        <c:scaling>
          <c:orientation val="minMax"/>
          <c:max val="100"/>
        </c:scaling>
        <c:delete val="0"/>
        <c:axPos val="b"/>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0" spcFirstLastPara="1" vertOverflow="ellipsis" vert="horz" wrap="square" anchor="ctr" anchorCtr="1"/>
              <a:lstStyle/>
              <a:p>
                <a:pPr>
                  <a:defRPr sz="1400" b="1" i="0" u="none" strike="noStrike" kern="1200" cap="all" baseline="0">
                    <a:solidFill>
                      <a:schemeClr val="lt1">
                        <a:lumMod val="75000"/>
                      </a:schemeClr>
                    </a:solidFill>
                    <a:latin typeface="+mn-lt"/>
                    <a:ea typeface="+mn-ea"/>
                    <a:cs typeface="+mn-cs"/>
                  </a:defRPr>
                </a:pPr>
                <a:r>
                  <a:rPr lang="en-GB" dirty="0" smtClean="0"/>
                  <a:t>RTT</a:t>
                </a:r>
                <a:endParaRPr lang="en-GB" dirty="0"/>
              </a:p>
            </c:rich>
          </c:tx>
          <c:layout>
            <c:manualLayout>
              <c:xMode val="edge"/>
              <c:yMode val="edge"/>
              <c:x val="0.41898475006172853"/>
              <c:y val="0.92899258136010054"/>
            </c:manualLayout>
          </c:layout>
          <c:overlay val="0"/>
          <c:spPr>
            <a:noFill/>
            <a:ln>
              <a:noFill/>
            </a:ln>
            <a:effectLst/>
          </c:spPr>
          <c:txPr>
            <a:bodyPr rot="0" spcFirstLastPara="1" vertOverflow="ellipsis" vert="horz" wrap="square" anchor="ctr" anchorCtr="1"/>
            <a:lstStyle/>
            <a:p>
              <a:pPr>
                <a:defRPr sz="14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400" b="1" i="0" u="none" strike="noStrike" kern="1200" baseline="0">
                <a:solidFill>
                  <a:schemeClr val="lt1">
                    <a:lumMod val="75000"/>
                  </a:schemeClr>
                </a:solidFill>
                <a:latin typeface="+mn-lt"/>
                <a:ea typeface="+mn-ea"/>
                <a:cs typeface="+mn-cs"/>
              </a:defRPr>
            </a:pPr>
            <a:endParaRPr lang="en-US"/>
          </a:p>
        </c:txPr>
        <c:crossAx val="895241048"/>
        <c:crosses val="autoZero"/>
        <c:crossBetween val="midCat"/>
        <c:majorUnit val="5"/>
      </c:valAx>
      <c:valAx>
        <c:axId val="895241048"/>
        <c:scaling>
          <c:logBase val="2"/>
          <c:orientation val="minMax"/>
          <c:min val="10"/>
        </c:scaling>
        <c:delete val="0"/>
        <c:axPos val="l"/>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5400000" spcFirstLastPara="1" vertOverflow="ellipsis" vert="horz" wrap="square" anchor="ctr" anchorCtr="1"/>
              <a:lstStyle/>
              <a:p>
                <a:pPr>
                  <a:defRPr sz="1400" b="1" i="0" u="none" strike="noStrike" kern="1200" cap="all" baseline="0">
                    <a:solidFill>
                      <a:schemeClr val="lt1">
                        <a:lumMod val="75000"/>
                      </a:schemeClr>
                    </a:solidFill>
                    <a:latin typeface="+mn-lt"/>
                    <a:ea typeface="+mn-ea"/>
                    <a:cs typeface="+mn-cs"/>
                  </a:defRPr>
                </a:pPr>
                <a:r>
                  <a:rPr lang="en-GB" dirty="0" smtClean="0"/>
                  <a:t>Mbytes/s</a:t>
                </a:r>
                <a:endParaRPr lang="en-GB" dirty="0"/>
              </a:p>
            </c:rich>
          </c:tx>
          <c:layout/>
          <c:overlay val="0"/>
          <c:spPr>
            <a:noFill/>
            <a:ln>
              <a:noFill/>
            </a:ln>
            <a:effectLst/>
          </c:spPr>
          <c:txPr>
            <a:bodyPr rot="-5400000" spcFirstLastPara="1" vertOverflow="ellipsis" vert="horz" wrap="square" anchor="ctr" anchorCtr="1"/>
            <a:lstStyle/>
            <a:p>
              <a:pPr>
                <a:defRPr sz="14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400" b="1" i="0" u="none" strike="noStrike" kern="1200" baseline="0">
                <a:solidFill>
                  <a:schemeClr val="lt1">
                    <a:lumMod val="75000"/>
                  </a:schemeClr>
                </a:solidFill>
                <a:latin typeface="+mn-lt"/>
                <a:ea typeface="+mn-ea"/>
                <a:cs typeface="+mn-cs"/>
              </a:defRPr>
            </a:pPr>
            <a:endParaRPr lang="en-US"/>
          </a:p>
        </c:txPr>
        <c:crossAx val="895231640"/>
        <c:crosses val="autoZero"/>
        <c:crossBetween val="midCat"/>
      </c:valAx>
      <c:spPr>
        <a:noFill/>
        <a:ln>
          <a:noFill/>
        </a:ln>
        <a:effectLst/>
      </c:spPr>
    </c:plotArea>
    <c:legend>
      <c:legendPos val="r"/>
      <c:layout>
        <c:manualLayout>
          <c:xMode val="edge"/>
          <c:yMode val="edge"/>
          <c:x val="0.84512975639460908"/>
          <c:y val="0.47438238545995498"/>
          <c:w val="0.14529363125115885"/>
          <c:h val="0.36641754433164264"/>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400" b="1"/>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Sheet8!$A$58</c:f>
              <c:strCache>
                <c:ptCount val="1"/>
                <c:pt idx="0">
                  <c:v>xrdcp1stream</c:v>
                </c:pt>
              </c:strCache>
            </c:strRef>
          </c:tx>
          <c:spPr>
            <a:ln w="9525" cap="rnd">
              <a:solidFill>
                <a:srgbClr val="92D050"/>
              </a:solidFill>
              <a:round/>
            </a:ln>
            <a:effectLst>
              <a:outerShdw blurRad="57150" dist="19050" dir="5400000" algn="ctr" rotWithShape="0">
                <a:srgbClr val="000000">
                  <a:alpha val="63000"/>
                </a:srgbClr>
              </a:outerShdw>
            </a:effectLst>
          </c:spPr>
          <c:marker>
            <c:symbol val="triangle"/>
            <c:size val="6"/>
            <c:spPr>
              <a:solidFill>
                <a:schemeClr val="tx1"/>
              </a:solidFill>
              <a:ln w="9525" cap="rnd">
                <a:solidFill>
                  <a:schemeClr val="tx1"/>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Sheet8!$B$58:$P$58</c:f>
              <c:numCache>
                <c:formatCode>0</c:formatCode>
                <c:ptCount val="15"/>
                <c:pt idx="0">
                  <c:v>854.08</c:v>
                </c:pt>
                <c:pt idx="1">
                  <c:v>981.7</c:v>
                </c:pt>
                <c:pt idx="2">
                  <c:v>561</c:v>
                </c:pt>
                <c:pt idx="3">
                  <c:v>327.2</c:v>
                </c:pt>
                <c:pt idx="4">
                  <c:v>216.6</c:v>
                </c:pt>
                <c:pt idx="5">
                  <c:v>172.4</c:v>
                </c:pt>
                <c:pt idx="6">
                  <c:v>114.12542787286064</c:v>
                </c:pt>
                <c:pt idx="7">
                  <c:v>90.83667481662593</c:v>
                </c:pt>
                <c:pt idx="8">
                  <c:v>83.55</c:v>
                </c:pt>
                <c:pt idx="9">
                  <c:v>74.257056153443614</c:v>
                </c:pt>
                <c:pt idx="10">
                  <c:v>65.186624215064001</c:v>
                </c:pt>
                <c:pt idx="11">
                  <c:v>45.676225477669554</c:v>
                </c:pt>
                <c:pt idx="12">
                  <c:v>42.23</c:v>
                </c:pt>
                <c:pt idx="13">
                  <c:v>35.380000000000003</c:v>
                </c:pt>
                <c:pt idx="14">
                  <c:v>33.380000000000003</c:v>
                </c:pt>
              </c:numCache>
            </c:numRef>
          </c:yVal>
          <c:smooth val="1"/>
        </c:ser>
        <c:ser>
          <c:idx val="1"/>
          <c:order val="1"/>
          <c:tx>
            <c:strRef>
              <c:f>Sheet8!$A$59</c:f>
              <c:strCache>
                <c:ptCount val="1"/>
                <c:pt idx="0">
                  <c:v>xrdcp2streams</c:v>
                </c:pt>
              </c:strCache>
            </c:strRef>
          </c:tx>
          <c:spPr>
            <a:ln w="9525" cap="rnd">
              <a:solidFill>
                <a:srgbClr val="92D050"/>
              </a:solidFill>
              <a:round/>
            </a:ln>
            <a:effectLst>
              <a:outerShdw blurRad="57150" dist="19050" dir="5400000" algn="ctr" rotWithShape="0">
                <a:srgbClr val="000000">
                  <a:alpha val="63000"/>
                </a:srgbClr>
              </a:outerShdw>
            </a:effectLst>
          </c:spPr>
          <c:marker>
            <c:symbol val="square"/>
            <c:size val="6"/>
            <c:spPr>
              <a:solidFill>
                <a:schemeClr val="accent4">
                  <a:lumMod val="60000"/>
                  <a:lumOff val="40000"/>
                </a:schemeClr>
              </a:solidFill>
              <a:ln w="9525" cap="rnd">
                <a:solidFill>
                  <a:schemeClr val="accent4">
                    <a:lumMod val="60000"/>
                    <a:lumOff val="40000"/>
                  </a:schemeClr>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Sheet8!$B$59:$P$59</c:f>
              <c:numCache>
                <c:formatCode>0</c:formatCode>
                <c:ptCount val="15"/>
                <c:pt idx="0">
                  <c:v>813.88</c:v>
                </c:pt>
                <c:pt idx="1">
                  <c:v>1129.8499999999999</c:v>
                </c:pt>
                <c:pt idx="2">
                  <c:v>561</c:v>
                </c:pt>
                <c:pt idx="3">
                  <c:v>302.10000000000002</c:v>
                </c:pt>
                <c:pt idx="4">
                  <c:v>218.2</c:v>
                </c:pt>
                <c:pt idx="5">
                  <c:v>178.5</c:v>
                </c:pt>
                <c:pt idx="6">
                  <c:v>128.92651439920553</c:v>
                </c:pt>
                <c:pt idx="7">
                  <c:v>105.46921549155907</c:v>
                </c:pt>
                <c:pt idx="8">
                  <c:v>85.37</c:v>
                </c:pt>
                <c:pt idx="9">
                  <c:v>69.837511457378568</c:v>
                </c:pt>
                <c:pt idx="10">
                  <c:v>56.528611930308351</c:v>
                </c:pt>
                <c:pt idx="11">
                  <c:v>46.243617000733465</c:v>
                </c:pt>
                <c:pt idx="12">
                  <c:v>43.15</c:v>
                </c:pt>
                <c:pt idx="13">
                  <c:v>37.049999999999997</c:v>
                </c:pt>
                <c:pt idx="14">
                  <c:v>34.590000000000003</c:v>
                </c:pt>
              </c:numCache>
            </c:numRef>
          </c:yVal>
          <c:smooth val="1"/>
        </c:ser>
        <c:ser>
          <c:idx val="2"/>
          <c:order val="2"/>
          <c:tx>
            <c:strRef>
              <c:f>Sheet8!$A$60</c:f>
              <c:strCache>
                <c:ptCount val="1"/>
                <c:pt idx="0">
                  <c:v>xrdcp4streams</c:v>
                </c:pt>
              </c:strCache>
            </c:strRef>
          </c:tx>
          <c:spPr>
            <a:ln w="9525" cap="rnd">
              <a:solidFill>
                <a:srgbClr val="92D050"/>
              </a:solidFill>
              <a:round/>
            </a:ln>
            <a:effectLst>
              <a:outerShdw blurRad="57150" dist="19050" dir="5400000" algn="ctr" rotWithShape="0">
                <a:srgbClr val="000000">
                  <a:alpha val="63000"/>
                </a:srgbClr>
              </a:outerShdw>
            </a:effectLst>
          </c:spPr>
          <c:marker>
            <c:symbol val="diamond"/>
            <c:size val="6"/>
            <c:spPr>
              <a:solidFill>
                <a:schemeClr val="accent1">
                  <a:lumMod val="75000"/>
                </a:schemeClr>
              </a:solidFill>
              <a:ln w="9525" cap="rnd">
                <a:solidFill>
                  <a:schemeClr val="accent1">
                    <a:lumMod val="75000"/>
                  </a:schemeClr>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Sheet8!$B$60:$P$60</c:f>
              <c:numCache>
                <c:formatCode>0</c:formatCode>
                <c:ptCount val="15"/>
                <c:pt idx="0">
                  <c:v>1046</c:v>
                </c:pt>
                <c:pt idx="1">
                  <c:v>1129.8499999999999</c:v>
                </c:pt>
                <c:pt idx="2">
                  <c:v>981.7</c:v>
                </c:pt>
                <c:pt idx="3">
                  <c:v>561</c:v>
                </c:pt>
                <c:pt idx="4">
                  <c:v>357</c:v>
                </c:pt>
                <c:pt idx="5">
                  <c:v>302.10000000000002</c:v>
                </c:pt>
                <c:pt idx="6">
                  <c:v>192.24545454545458</c:v>
                </c:pt>
                <c:pt idx="7">
                  <c:v>162.68165775401073</c:v>
                </c:pt>
                <c:pt idx="8">
                  <c:v>157.1</c:v>
                </c:pt>
                <c:pt idx="9">
                  <c:v>132.9409243697479</c:v>
                </c:pt>
                <c:pt idx="10">
                  <c:v>128.37968033290772</c:v>
                </c:pt>
                <c:pt idx="11">
                  <c:v>108.63725890356142</c:v>
                </c:pt>
                <c:pt idx="12">
                  <c:v>80.14</c:v>
                </c:pt>
                <c:pt idx="13">
                  <c:v>64.38</c:v>
                </c:pt>
                <c:pt idx="14">
                  <c:v>62.33</c:v>
                </c:pt>
              </c:numCache>
            </c:numRef>
          </c:yVal>
          <c:smooth val="1"/>
        </c:ser>
        <c:ser>
          <c:idx val="3"/>
          <c:order val="3"/>
          <c:tx>
            <c:strRef>
              <c:f>Sheet8!$A$61</c:f>
              <c:strCache>
                <c:ptCount val="1"/>
                <c:pt idx="0">
                  <c:v>xrdcp8streams</c:v>
                </c:pt>
              </c:strCache>
            </c:strRef>
          </c:tx>
          <c:spPr>
            <a:ln w="9525" cap="rnd">
              <a:solidFill>
                <a:srgbClr val="92D050"/>
              </a:solidFill>
              <a:round/>
            </a:ln>
            <a:effectLst>
              <a:outerShdw blurRad="57150" dist="19050" dir="5400000" algn="ctr" rotWithShape="0">
                <a:srgbClr val="000000">
                  <a:alpha val="63000"/>
                </a:srgbClr>
              </a:outerShdw>
            </a:effectLst>
          </c:spPr>
          <c:marker>
            <c:symbol val="circle"/>
            <c:size val="6"/>
            <c:spPr>
              <a:solidFill>
                <a:schemeClr val="bg1">
                  <a:lumMod val="50000"/>
                </a:schemeClr>
              </a:solidFill>
              <a:ln w="9525" cap="rnd">
                <a:solidFill>
                  <a:schemeClr val="bg1">
                    <a:lumMod val="50000"/>
                  </a:schemeClr>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Sheet8!$B$61:$P$61</c:f>
              <c:numCache>
                <c:formatCode>0</c:formatCode>
                <c:ptCount val="15"/>
                <c:pt idx="0">
                  <c:v>1046</c:v>
                </c:pt>
                <c:pt idx="1">
                  <c:v>1129.8499999999999</c:v>
                </c:pt>
                <c:pt idx="2">
                  <c:v>981.7</c:v>
                </c:pt>
                <c:pt idx="3">
                  <c:v>654.5</c:v>
                </c:pt>
                <c:pt idx="4">
                  <c:v>392.7</c:v>
                </c:pt>
                <c:pt idx="5">
                  <c:v>327.2</c:v>
                </c:pt>
                <c:pt idx="6">
                  <c:v>196.32</c:v>
                </c:pt>
                <c:pt idx="7">
                  <c:v>163.57500381970971</c:v>
                </c:pt>
                <c:pt idx="8">
                  <c:v>163.6</c:v>
                </c:pt>
                <c:pt idx="9">
                  <c:v>136.31250318309142</c:v>
                </c:pt>
                <c:pt idx="10">
                  <c:v>136.33333333333331</c:v>
                </c:pt>
                <c:pt idx="11">
                  <c:v>113.59375265257617</c:v>
                </c:pt>
                <c:pt idx="12">
                  <c:v>75.52</c:v>
                </c:pt>
                <c:pt idx="13">
                  <c:v>72.47</c:v>
                </c:pt>
                <c:pt idx="14">
                  <c:v>58.61</c:v>
                </c:pt>
              </c:numCache>
            </c:numRef>
          </c:yVal>
          <c:smooth val="1"/>
        </c:ser>
        <c:ser>
          <c:idx val="4"/>
          <c:order val="4"/>
          <c:tx>
            <c:strRef>
              <c:f>Sheet8!$A$62</c:f>
              <c:strCache>
                <c:ptCount val="1"/>
                <c:pt idx="0">
                  <c:v>xrdcp15streams</c:v>
                </c:pt>
              </c:strCache>
            </c:strRef>
          </c:tx>
          <c:spPr>
            <a:ln w="9525" cap="rnd">
              <a:solidFill>
                <a:srgbClr val="92D050"/>
              </a:solidFill>
              <a:round/>
            </a:ln>
            <a:effectLst>
              <a:outerShdw blurRad="57150" dist="19050" dir="5400000" algn="ctr" rotWithShape="0">
                <a:srgbClr val="000000">
                  <a:alpha val="63000"/>
                </a:srgbClr>
              </a:outerShdw>
            </a:effectLst>
          </c:spPr>
          <c:marker>
            <c:symbol val="dash"/>
            <c:size val="6"/>
            <c:spPr>
              <a:solidFill>
                <a:schemeClr val="bg1">
                  <a:lumMod val="65000"/>
                </a:schemeClr>
              </a:solidFill>
              <a:ln w="9525" cap="rnd">
                <a:solidFill>
                  <a:schemeClr val="bg1">
                    <a:lumMod val="65000"/>
                  </a:schemeClr>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Sheet8!$B$62:$P$62</c:f>
              <c:numCache>
                <c:formatCode>0</c:formatCode>
                <c:ptCount val="15"/>
                <c:pt idx="0">
                  <c:v>1046</c:v>
                </c:pt>
                <c:pt idx="1">
                  <c:v>1129.8499999999999</c:v>
                </c:pt>
                <c:pt idx="2">
                  <c:v>981.7</c:v>
                </c:pt>
                <c:pt idx="3">
                  <c:v>654.5</c:v>
                </c:pt>
                <c:pt idx="4">
                  <c:v>436.3</c:v>
                </c:pt>
                <c:pt idx="5">
                  <c:v>392.7</c:v>
                </c:pt>
                <c:pt idx="6">
                  <c:v>261.77999999999997</c:v>
                </c:pt>
                <c:pt idx="7">
                  <c:v>235.61999999999998</c:v>
                </c:pt>
                <c:pt idx="8">
                  <c:v>130.9</c:v>
                </c:pt>
                <c:pt idx="9">
                  <c:v>117.81900068760028</c:v>
                </c:pt>
                <c:pt idx="10">
                  <c:v>65.455000382000165</c:v>
                </c:pt>
                <c:pt idx="11">
                  <c:v>58.914001031426693</c:v>
                </c:pt>
                <c:pt idx="12">
                  <c:v>78.540000000000006</c:v>
                </c:pt>
                <c:pt idx="13">
                  <c:v>74.09</c:v>
                </c:pt>
                <c:pt idx="14">
                  <c:v>65.45</c:v>
                </c:pt>
              </c:numCache>
            </c:numRef>
          </c:yVal>
          <c:smooth val="1"/>
        </c:ser>
        <c:ser>
          <c:idx val="5"/>
          <c:order val="5"/>
          <c:tx>
            <c:strRef>
              <c:f>Sheet8!$A$63</c:f>
              <c:strCache>
                <c:ptCount val="1"/>
                <c:pt idx="0">
                  <c:v>fdt1stream</c:v>
                </c:pt>
              </c:strCache>
            </c:strRef>
          </c:tx>
          <c:spPr>
            <a:ln w="9525" cap="rnd">
              <a:solidFill>
                <a:srgbClr val="FF0000"/>
              </a:solidFill>
              <a:round/>
            </a:ln>
            <a:effectLst>
              <a:outerShdw blurRad="57150" dist="19050" dir="5400000" algn="ctr" rotWithShape="0">
                <a:srgbClr val="000000">
                  <a:alpha val="63000"/>
                </a:srgbClr>
              </a:outerShdw>
            </a:effectLst>
          </c:spPr>
          <c:marker>
            <c:symbol val="triangle"/>
            <c:size val="6"/>
            <c:spPr>
              <a:solidFill>
                <a:schemeClr val="tx1">
                  <a:lumMod val="95000"/>
                  <a:lumOff val="5000"/>
                </a:schemeClr>
              </a:solidFill>
              <a:ln w="9525" cap="rnd">
                <a:solidFill>
                  <a:schemeClr val="tx1">
                    <a:lumMod val="95000"/>
                    <a:lumOff val="5000"/>
                  </a:schemeClr>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Sheet8!$B$63:$P$63</c:f>
              <c:numCache>
                <c:formatCode>0</c:formatCode>
                <c:ptCount val="15"/>
                <c:pt idx="0">
                  <c:v>873.75900000000001</c:v>
                </c:pt>
                <c:pt idx="1">
                  <c:v>872.51</c:v>
                </c:pt>
                <c:pt idx="2">
                  <c:v>801.15</c:v>
                </c:pt>
                <c:pt idx="3">
                  <c:v>745.45</c:v>
                </c:pt>
                <c:pt idx="4">
                  <c:v>704.86</c:v>
                </c:pt>
                <c:pt idx="5">
                  <c:v>687.54</c:v>
                </c:pt>
                <c:pt idx="6">
                  <c:v>671.36755954768341</c:v>
                </c:pt>
                <c:pt idx="7">
                  <c:v>553.58885405806802</c:v>
                </c:pt>
                <c:pt idx="8">
                  <c:v>456.47218871253602</c:v>
                </c:pt>
                <c:pt idx="9">
                  <c:v>376.39280043408667</c:v>
                </c:pt>
                <c:pt idx="10">
                  <c:v>310.36182208207219</c:v>
                </c:pt>
                <c:pt idx="11">
                  <c:v>255.91472657026026</c:v>
                </c:pt>
                <c:pt idx="12">
                  <c:v>211.0193413486671</c:v>
                </c:pt>
                <c:pt idx="13">
                  <c:v>174</c:v>
                </c:pt>
                <c:pt idx="14">
                  <c:v>160.875</c:v>
                </c:pt>
              </c:numCache>
            </c:numRef>
          </c:yVal>
          <c:smooth val="1"/>
        </c:ser>
        <c:ser>
          <c:idx val="6"/>
          <c:order val="6"/>
          <c:tx>
            <c:strRef>
              <c:f>Sheet8!$A$64</c:f>
              <c:strCache>
                <c:ptCount val="1"/>
                <c:pt idx="0">
                  <c:v>fdt2streams</c:v>
                </c:pt>
              </c:strCache>
            </c:strRef>
          </c:tx>
          <c:spPr>
            <a:ln w="9525" cap="rnd">
              <a:solidFill>
                <a:srgbClr val="FF0000"/>
              </a:solidFill>
              <a:round/>
            </a:ln>
            <a:effectLst>
              <a:outerShdw blurRad="57150" dist="19050" dir="5400000" algn="ctr" rotWithShape="0">
                <a:srgbClr val="000000">
                  <a:alpha val="63000"/>
                </a:srgbClr>
              </a:outerShdw>
            </a:effectLst>
          </c:spPr>
          <c:marker>
            <c:symbol val="square"/>
            <c:size val="6"/>
            <c:spPr>
              <a:solidFill>
                <a:schemeClr val="accent4">
                  <a:lumMod val="60000"/>
                  <a:lumOff val="40000"/>
                </a:schemeClr>
              </a:solidFill>
              <a:ln w="9525" cap="rnd">
                <a:solidFill>
                  <a:schemeClr val="accent4">
                    <a:lumMod val="60000"/>
                    <a:lumOff val="40000"/>
                  </a:schemeClr>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Sheet8!$B$64:$P$64</c:f>
              <c:numCache>
                <c:formatCode>0</c:formatCode>
                <c:ptCount val="15"/>
                <c:pt idx="0">
                  <c:v>901.25199999999995</c:v>
                </c:pt>
                <c:pt idx="1">
                  <c:v>900.21100000000001</c:v>
                </c:pt>
                <c:pt idx="2">
                  <c:v>850.41</c:v>
                </c:pt>
                <c:pt idx="3">
                  <c:v>842.15</c:v>
                </c:pt>
                <c:pt idx="4">
                  <c:v>805.45</c:v>
                </c:pt>
                <c:pt idx="5">
                  <c:v>776.99</c:v>
                </c:pt>
                <c:pt idx="6">
                  <c:v>732.43</c:v>
                </c:pt>
                <c:pt idx="7">
                  <c:v>683.81208309702401</c:v>
                </c:pt>
                <c:pt idx="8">
                  <c:v>547.80630502046517</c:v>
                </c:pt>
                <c:pt idx="9">
                  <c:v>438.85119207171982</c:v>
                </c:pt>
                <c:pt idx="10">
                  <c:v>351.56654280489647</c:v>
                </c:pt>
                <c:pt idx="11">
                  <c:v>281.64224286666121</c:v>
                </c:pt>
                <c:pt idx="12">
                  <c:v>225.62543162983425</c:v>
                </c:pt>
                <c:pt idx="13">
                  <c:v>180.75</c:v>
                </c:pt>
                <c:pt idx="14">
                  <c:v>162.875</c:v>
                </c:pt>
              </c:numCache>
            </c:numRef>
          </c:yVal>
          <c:smooth val="1"/>
        </c:ser>
        <c:ser>
          <c:idx val="7"/>
          <c:order val="7"/>
          <c:tx>
            <c:strRef>
              <c:f>Sheet8!$A$65</c:f>
              <c:strCache>
                <c:ptCount val="1"/>
                <c:pt idx="0">
                  <c:v>fdt4streams</c:v>
                </c:pt>
              </c:strCache>
            </c:strRef>
          </c:tx>
          <c:spPr>
            <a:ln w="9525" cap="rnd">
              <a:solidFill>
                <a:srgbClr val="FF0000"/>
              </a:solidFill>
              <a:round/>
            </a:ln>
            <a:effectLst>
              <a:outerShdw blurRad="57150" dist="19050" dir="5400000" algn="ctr" rotWithShape="0">
                <a:srgbClr val="000000">
                  <a:alpha val="63000"/>
                </a:srgbClr>
              </a:outerShdw>
            </a:effectLst>
          </c:spPr>
          <c:marker>
            <c:symbol val="diamond"/>
            <c:size val="6"/>
            <c:spPr>
              <a:solidFill>
                <a:schemeClr val="accent1">
                  <a:lumMod val="75000"/>
                </a:schemeClr>
              </a:solidFill>
              <a:ln w="9525" cap="rnd">
                <a:solidFill>
                  <a:schemeClr val="accent1">
                    <a:lumMod val="75000"/>
                  </a:schemeClr>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Sheet8!$B$65:$P$65</c:f>
              <c:numCache>
                <c:formatCode>0</c:formatCode>
                <c:ptCount val="15"/>
                <c:pt idx="0">
                  <c:v>1075.76</c:v>
                </c:pt>
                <c:pt idx="1">
                  <c:v>1052</c:v>
                </c:pt>
                <c:pt idx="2">
                  <c:v>950.4</c:v>
                </c:pt>
                <c:pt idx="3">
                  <c:v>904.21</c:v>
                </c:pt>
                <c:pt idx="4">
                  <c:v>853.11</c:v>
                </c:pt>
                <c:pt idx="5">
                  <c:v>818.14</c:v>
                </c:pt>
                <c:pt idx="6">
                  <c:v>788.23610403788132</c:v>
                </c:pt>
                <c:pt idx="7">
                  <c:v>638.05407195935504</c:v>
                </c:pt>
                <c:pt idx="8">
                  <c:v>516.48610950247541</c:v>
                </c:pt>
                <c:pt idx="9">
                  <c:v>418.08039950256114</c:v>
                </c:pt>
                <c:pt idx="10">
                  <c:v>338.42385541906503</c:v>
                </c:pt>
                <c:pt idx="11">
                  <c:v>273.94421277097592</c:v>
                </c:pt>
                <c:pt idx="12">
                  <c:v>221.74982794218843</c:v>
                </c:pt>
                <c:pt idx="13">
                  <c:v>179.5</c:v>
                </c:pt>
                <c:pt idx="14">
                  <c:v>163.25</c:v>
                </c:pt>
              </c:numCache>
            </c:numRef>
          </c:yVal>
          <c:smooth val="1"/>
        </c:ser>
        <c:ser>
          <c:idx val="8"/>
          <c:order val="8"/>
          <c:tx>
            <c:strRef>
              <c:f>Sheet8!$A$66</c:f>
              <c:strCache>
                <c:ptCount val="1"/>
                <c:pt idx="0">
                  <c:v>fdt8streams</c:v>
                </c:pt>
              </c:strCache>
            </c:strRef>
          </c:tx>
          <c:spPr>
            <a:ln w="9525" cap="rnd">
              <a:solidFill>
                <a:srgbClr val="FF0000"/>
              </a:solidFill>
              <a:round/>
            </a:ln>
            <a:effectLst>
              <a:outerShdw blurRad="57150" dist="19050" dir="5400000" algn="ctr" rotWithShape="0">
                <a:srgbClr val="000000">
                  <a:alpha val="63000"/>
                </a:srgbClr>
              </a:outerShdw>
            </a:effectLst>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cap="rnd">
                <a:solidFill>
                  <a:schemeClr val="accent3">
                    <a:lumMod val="60000"/>
                  </a:schemeClr>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Sheet8!$B$66:$P$66</c:f>
              <c:numCache>
                <c:formatCode>0</c:formatCode>
                <c:ptCount val="15"/>
                <c:pt idx="0">
                  <c:v>1121.26</c:v>
                </c:pt>
                <c:pt idx="1">
                  <c:v>1075</c:v>
                </c:pt>
                <c:pt idx="2">
                  <c:v>687.26198454824669</c:v>
                </c:pt>
                <c:pt idx="3">
                  <c:v>610.75200612185631</c:v>
                </c:pt>
                <c:pt idx="4">
                  <c:v>542.75956093667162</c:v>
                </c:pt>
                <c:pt idx="5">
                  <c:v>482.33642793699283</c:v>
                </c:pt>
                <c:pt idx="6">
                  <c:v>428.63994751842421</c:v>
                </c:pt>
                <c:pt idx="7">
                  <c:v>380.92126981667292</c:v>
                </c:pt>
                <c:pt idx="8">
                  <c:v>338.51491126479681</c:v>
                </c:pt>
                <c:pt idx="9">
                  <c:v>300.82947377489171</c:v>
                </c:pt>
                <c:pt idx="10">
                  <c:v>267.33939711414263</c:v>
                </c:pt>
                <c:pt idx="11">
                  <c:v>237.57762945406722</c:v>
                </c:pt>
                <c:pt idx="12">
                  <c:v>211.12911387660245</c:v>
                </c:pt>
                <c:pt idx="13">
                  <c:v>187.625</c:v>
                </c:pt>
                <c:pt idx="14">
                  <c:v>185.5</c:v>
                </c:pt>
              </c:numCache>
            </c:numRef>
          </c:yVal>
          <c:smooth val="1"/>
        </c:ser>
        <c:ser>
          <c:idx val="9"/>
          <c:order val="9"/>
          <c:tx>
            <c:strRef>
              <c:f>Sheet8!$A$67</c:f>
              <c:strCache>
                <c:ptCount val="1"/>
                <c:pt idx="0">
                  <c:v>fdt15streams</c:v>
                </c:pt>
              </c:strCache>
            </c:strRef>
          </c:tx>
          <c:spPr>
            <a:ln w="9525" cap="rnd">
              <a:solidFill>
                <a:srgbClr val="FF0000"/>
              </a:solidFill>
              <a:round/>
            </a:ln>
            <a:effectLst>
              <a:outerShdw blurRad="57150" dist="19050" dir="5400000" algn="ctr" rotWithShape="0">
                <a:srgbClr val="000000">
                  <a:alpha val="63000"/>
                </a:srgbClr>
              </a:outerShdw>
            </a:effectLst>
          </c:spPr>
          <c:marker>
            <c:symbol val="dash"/>
            <c:size val="6"/>
            <c:spPr>
              <a:solidFill>
                <a:schemeClr val="bg1">
                  <a:lumMod val="50000"/>
                </a:schemeClr>
              </a:solidFill>
              <a:ln w="9525" cap="rnd">
                <a:solidFill>
                  <a:schemeClr val="bg1">
                    <a:lumMod val="50000"/>
                  </a:schemeClr>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Sheet8!$B$67:$P$67</c:f>
              <c:numCache>
                <c:formatCode>0</c:formatCode>
                <c:ptCount val="15"/>
                <c:pt idx="0">
                  <c:v>1123.1400000000001</c:v>
                </c:pt>
                <c:pt idx="1">
                  <c:v>1074</c:v>
                </c:pt>
                <c:pt idx="2">
                  <c:v>1022.850543755635</c:v>
                </c:pt>
                <c:pt idx="3">
                  <c:v>880.04361480317129</c:v>
                </c:pt>
                <c:pt idx="4">
                  <c:v>757.17490564375112</c:v>
                </c:pt>
                <c:pt idx="5">
                  <c:v>651.4607095522756</c:v>
                </c:pt>
                <c:pt idx="6">
                  <c:v>560.50597150935425</c:v>
                </c:pt>
                <c:pt idx="7">
                  <c:v>482.25002596635517</c:v>
                </c:pt>
                <c:pt idx="8">
                  <c:v>414.91991051993449</c:v>
                </c:pt>
                <c:pt idx="9">
                  <c:v>356.99019777322172</c:v>
                </c:pt>
                <c:pt idx="10">
                  <c:v>307.14843533651322</c:v>
                </c:pt>
                <c:pt idx="11">
                  <c:v>264.26541097802885</c:v>
                </c:pt>
                <c:pt idx="12">
                  <c:v>227.36956925362043</c:v>
                </c:pt>
                <c:pt idx="13">
                  <c:v>195.625</c:v>
                </c:pt>
                <c:pt idx="14">
                  <c:v>187.875</c:v>
                </c:pt>
              </c:numCache>
            </c:numRef>
          </c:yVal>
          <c:smooth val="1"/>
        </c:ser>
        <c:ser>
          <c:idx val="10"/>
          <c:order val="10"/>
          <c:tx>
            <c:strRef>
              <c:f>Sheet8!$A$68</c:f>
              <c:strCache>
                <c:ptCount val="1"/>
                <c:pt idx="0">
                  <c:v>Curl</c:v>
                </c:pt>
              </c:strCache>
            </c:strRef>
          </c:tx>
          <c:spPr>
            <a:ln w="9525" cap="rnd">
              <a:solidFill>
                <a:srgbClr val="FFFF00"/>
              </a:solidFill>
              <a:round/>
            </a:ln>
            <a:effectLst>
              <a:outerShdw blurRad="57150" dist="19050" dir="5400000" algn="ctr" rotWithShape="0">
                <a:srgbClr val="000000">
                  <a:alpha val="63000"/>
                </a:srgbClr>
              </a:outerShdw>
            </a:effectLst>
          </c:spPr>
          <c:marker>
            <c:symbol val="circle"/>
            <c:size val="6"/>
            <c:spPr>
              <a:solidFill>
                <a:srgbClr val="FFFF00"/>
              </a:solidFill>
              <a:ln w="9525" cap="rnd">
                <a:solidFill>
                  <a:schemeClr val="accent5">
                    <a:lumMod val="60000"/>
                  </a:schemeClr>
                </a:solidFill>
                <a:round/>
              </a:ln>
              <a:effectLst>
                <a:outerShdw blurRad="57150" dist="19050" dir="5400000" algn="ctr" rotWithShape="0">
                  <a:srgbClr val="000000">
                    <a:alpha val="63000"/>
                  </a:srgbClr>
                </a:outerShdw>
              </a:effectLst>
            </c:spPr>
          </c:marker>
          <c:xVal>
            <c:numRef>
              <c:f>Sheet8!$B$57:$P$57</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Sheet8!$B$68:$P$68</c:f>
              <c:numCache>
                <c:formatCode>0</c:formatCode>
                <c:ptCount val="15"/>
                <c:pt idx="0">
                  <c:v>507.6245857779345</c:v>
                </c:pt>
                <c:pt idx="1">
                  <c:v>408.09624233686725</c:v>
                </c:pt>
                <c:pt idx="2">
                  <c:v>445.43007428901365</c:v>
                </c:pt>
                <c:pt idx="3">
                  <c:v>269.25884902731104</c:v>
                </c:pt>
                <c:pt idx="4">
                  <c:v>200.13315979600264</c:v>
                </c:pt>
                <c:pt idx="5">
                  <c:v>149.62587054591233</c:v>
                </c:pt>
                <c:pt idx="6">
                  <c:v>125.68599562282867</c:v>
                </c:pt>
                <c:pt idx="7">
                  <c:v>99.723018422392272</c:v>
                </c:pt>
                <c:pt idx="8">
                  <c:v>62.536470264471525</c:v>
                </c:pt>
                <c:pt idx="9">
                  <c:v>45</c:v>
                </c:pt>
                <c:pt idx="10">
                  <c:v>38.831291570220174</c:v>
                </c:pt>
                <c:pt idx="11">
                  <c:v>36.067311546030751</c:v>
                </c:pt>
                <c:pt idx="12">
                  <c:v>32.845994892271797</c:v>
                </c:pt>
                <c:pt idx="13">
                  <c:v>29.858314968374504</c:v>
                </c:pt>
                <c:pt idx="14">
                  <c:v>27.608614811408181</c:v>
                </c:pt>
              </c:numCache>
            </c:numRef>
          </c:yVal>
          <c:smooth val="1"/>
        </c:ser>
        <c:dLbls>
          <c:showLegendKey val="0"/>
          <c:showVal val="0"/>
          <c:showCatName val="0"/>
          <c:showSerName val="0"/>
          <c:showPercent val="0"/>
          <c:showBubbleSize val="0"/>
        </c:dLbls>
        <c:axId val="693854240"/>
        <c:axId val="693850320"/>
      </c:scatterChart>
      <c:valAx>
        <c:axId val="693854240"/>
        <c:scaling>
          <c:orientation val="minMax"/>
        </c:scaling>
        <c:delete val="0"/>
        <c:axPos val="b"/>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r>
                  <a:rPr lang="en-US"/>
                  <a:t>RTT</a:t>
                </a:r>
              </a:p>
            </c:rich>
          </c:tx>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200" b="1" i="0" u="none" strike="noStrike" kern="1200" baseline="0">
                <a:solidFill>
                  <a:schemeClr val="lt1">
                    <a:lumMod val="75000"/>
                  </a:schemeClr>
                </a:solidFill>
                <a:latin typeface="+mn-lt"/>
                <a:ea typeface="+mn-ea"/>
                <a:cs typeface="+mn-cs"/>
              </a:defRPr>
            </a:pPr>
            <a:endParaRPr lang="en-US"/>
          </a:p>
        </c:txPr>
        <c:crossAx val="693850320"/>
        <c:crosses val="autoZero"/>
        <c:crossBetween val="midCat"/>
        <c:majorUnit val="5"/>
      </c:valAx>
      <c:valAx>
        <c:axId val="693850320"/>
        <c:scaling>
          <c:logBase val="2"/>
          <c:orientation val="minMax"/>
          <c:max val="1200"/>
          <c:min val="25"/>
        </c:scaling>
        <c:delete val="0"/>
        <c:axPos val="l"/>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540000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r>
                  <a:rPr lang="en-US"/>
                  <a:t>MBytes/s</a:t>
                </a:r>
              </a:p>
            </c:rich>
          </c:tx>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endParaRPr lang="en-US"/>
            </a:p>
          </c:txPr>
        </c:title>
        <c:numFmt formatCode="0" sourceLinked="1"/>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100" b="1" i="0" u="none" strike="noStrike" kern="1200" baseline="0">
                <a:solidFill>
                  <a:schemeClr val="lt1">
                    <a:lumMod val="75000"/>
                  </a:schemeClr>
                </a:solidFill>
                <a:latin typeface="+mn-lt"/>
                <a:ea typeface="+mn-ea"/>
                <a:cs typeface="+mn-cs"/>
              </a:defRPr>
            </a:pPr>
            <a:endParaRPr lang="en-US"/>
          </a:p>
        </c:txPr>
        <c:crossAx val="693854240"/>
        <c:crosses val="autoZero"/>
        <c:crossBetween val="midCat"/>
        <c:majorUnit val="2"/>
      </c:valAx>
      <c:spPr>
        <a:noFill/>
        <a:ln>
          <a:noFill/>
        </a:ln>
        <a:effectLst/>
      </c:spPr>
    </c:plotArea>
    <c:legend>
      <c:legendPos val="r"/>
      <c:layout>
        <c:manualLayout>
          <c:xMode val="edge"/>
          <c:yMode val="edge"/>
          <c:x val="0.88300009568234672"/>
          <c:y val="0.32458072324456794"/>
          <c:w val="0.10955142741806968"/>
          <c:h val="0.48275613195500827"/>
        </c:manualLayout>
      </c:layout>
      <c:overlay val="0"/>
      <c:spPr>
        <a:noFill/>
        <a:ln>
          <a:noFill/>
        </a:ln>
        <a:effectLst/>
      </c:spPr>
      <c:txPr>
        <a:bodyPr rot="0" spcFirstLastPara="1" vertOverflow="ellipsis" vert="horz" wrap="square" anchor="ctr" anchorCtr="1"/>
        <a:lstStyle/>
        <a:p>
          <a:pPr>
            <a:defRPr sz="1100" b="1"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ReadMBSec!$A$29</c:f>
              <c:strCache>
                <c:ptCount val="1"/>
                <c:pt idx="0">
                  <c:v>ApacheDavixStorage</c:v>
                </c:pt>
              </c:strCache>
            </c:strRef>
          </c:tx>
          <c:spPr>
            <a:ln w="95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rnd">
                <a:solidFill>
                  <a:schemeClr val="accent1"/>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ReadMBSec!$B$29:$P$29</c:f>
              <c:numCache>
                <c:formatCode>General</c:formatCode>
                <c:ptCount val="15"/>
                <c:pt idx="0">
                  <c:v>89.429039021352907</c:v>
                </c:pt>
                <c:pt idx="1">
                  <c:v>12.695161204804007</c:v>
                </c:pt>
                <c:pt idx="2">
                  <c:v>5.7582019168686287</c:v>
                </c:pt>
                <c:pt idx="3">
                  <c:v>3.0191093184645497</c:v>
                </c:pt>
                <c:pt idx="4">
                  <c:v>2.0633792122447456</c:v>
                </c:pt>
                <c:pt idx="5">
                  <c:v>1.5595732334796373</c:v>
                </c:pt>
                <c:pt idx="6">
                  <c:v>1.255334031536802</c:v>
                </c:pt>
                <c:pt idx="7">
                  <c:v>0.98845199333606459</c:v>
                </c:pt>
                <c:pt idx="8">
                  <c:v>0.83767118079327507</c:v>
                </c:pt>
                <c:pt idx="9">
                  <c:v>0.66481839745498017</c:v>
                </c:pt>
                <c:pt idx="10">
                  <c:v>0.49986345673306776</c:v>
                </c:pt>
                <c:pt idx="11">
                  <c:v>0.42361309892632865</c:v>
                </c:pt>
                <c:pt idx="12">
                  <c:v>0.34162346687607148</c:v>
                </c:pt>
                <c:pt idx="13">
                  <c:v>0.21351466679754449</c:v>
                </c:pt>
                <c:pt idx="14">
                  <c:v>0.1255968628220851</c:v>
                </c:pt>
              </c:numCache>
            </c:numRef>
          </c:yVal>
          <c:smooth val="1"/>
        </c:ser>
        <c:ser>
          <c:idx val="3"/>
          <c:order val="3"/>
          <c:tx>
            <c:strRef>
              <c:f>ReadMBSec!$A$32</c:f>
              <c:strCache>
                <c:ptCount val="1"/>
                <c:pt idx="0">
                  <c:v>XrootDXrootdStorage</c:v>
                </c:pt>
              </c:strCache>
            </c:strRef>
          </c:tx>
          <c:spPr>
            <a:ln w="9525" cap="rnd">
              <a:solidFill>
                <a:schemeClr val="accent4">
                  <a:lumMod val="60000"/>
                  <a:lumOff val="40000"/>
                </a:schemeClr>
              </a:solidFill>
              <a:round/>
            </a:ln>
            <a:effectLst>
              <a:outerShdw blurRad="57150" dist="19050" dir="5400000" algn="ctr" rotWithShape="0">
                <a:srgbClr val="000000">
                  <a:alpha val="63000"/>
                </a:srgbClr>
              </a:outerShdw>
            </a:effectLst>
          </c:spPr>
          <c:marker>
            <c:symbol val="circle"/>
            <c:size val="6"/>
            <c:spPr>
              <a:solidFill>
                <a:schemeClr val="accent4">
                  <a:lumMod val="60000"/>
                  <a:lumOff val="40000"/>
                </a:schemeClr>
              </a:solidFill>
              <a:ln w="9525" cap="rnd">
                <a:solidFill>
                  <a:schemeClr val="accent4">
                    <a:lumMod val="60000"/>
                    <a:lumOff val="40000"/>
                  </a:schemeClr>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ReadMBSec!$B$32:$P$32</c:f>
              <c:numCache>
                <c:formatCode>General</c:formatCode>
                <c:ptCount val="15"/>
                <c:pt idx="0">
                  <c:v>123.0356857130691</c:v>
                </c:pt>
                <c:pt idx="1">
                  <c:v>15.31389005301472</c:v>
                </c:pt>
                <c:pt idx="2">
                  <c:v>7.4185977083494636</c:v>
                </c:pt>
                <c:pt idx="3">
                  <c:v>3.71971023939212</c:v>
                </c:pt>
                <c:pt idx="4">
                  <c:v>2.4713804343808348</c:v>
                </c:pt>
                <c:pt idx="5">
                  <c:v>1.8746375567636839</c:v>
                </c:pt>
                <c:pt idx="6">
                  <c:v>1.4977227022395043</c:v>
                </c:pt>
                <c:pt idx="7">
                  <c:v>1.1208078477153247</c:v>
                </c:pt>
                <c:pt idx="8">
                  <c:v>0.94598142676700958</c:v>
                </c:pt>
                <c:pt idx="9">
                  <c:v>0.75622737951933294</c:v>
                </c:pt>
                <c:pt idx="10">
                  <c:v>0.56847333227165631</c:v>
                </c:pt>
                <c:pt idx="11">
                  <c:v>0.43071928502397966</c:v>
                </c:pt>
                <c:pt idx="12">
                  <c:v>0.337965237776303</c:v>
                </c:pt>
                <c:pt idx="13">
                  <c:v>0.24121119052862633</c:v>
                </c:pt>
                <c:pt idx="14">
                  <c:v>0.13245714328094965</c:v>
                </c:pt>
              </c:numCache>
            </c:numRef>
          </c:yVal>
          <c:smooth val="1"/>
        </c:ser>
        <c:ser>
          <c:idx val="7"/>
          <c:order val="7"/>
          <c:tx>
            <c:strRef>
              <c:f>ReadMBSec!$A$36</c:f>
              <c:strCache>
                <c:ptCount val="1"/>
                <c:pt idx="0">
                  <c:v>XrootDDavixStorage</c:v>
                </c:pt>
              </c:strCache>
            </c:strRef>
          </c:tx>
          <c:spPr>
            <a:ln w="9525" cap="rnd">
              <a:solidFill>
                <a:srgbClr val="FF0000"/>
              </a:solidFill>
              <a:round/>
            </a:ln>
            <a:effectLst>
              <a:outerShdw blurRad="57150" dist="19050" dir="5400000" algn="ctr" rotWithShape="0">
                <a:srgbClr val="000000">
                  <a:alpha val="63000"/>
                </a:srgbClr>
              </a:outerShdw>
            </a:effectLst>
          </c:spPr>
          <c:marker>
            <c:symbol val="circle"/>
            <c:size val="6"/>
            <c:spPr>
              <a:solidFill>
                <a:srgbClr val="FF0000"/>
              </a:solidFill>
              <a:ln w="9525" cap="rnd">
                <a:solidFill>
                  <a:srgbClr val="FF0000"/>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ReadMBSec!$B$36:$P$36</c:f>
              <c:numCache>
                <c:formatCode>General</c:formatCode>
                <c:ptCount val="15"/>
                <c:pt idx="0">
                  <c:v>95.14317104182949</c:v>
                </c:pt>
                <c:pt idx="1">
                  <c:v>14.169802536397611</c:v>
                </c:pt>
                <c:pt idx="2">
                  <c:v>7.2920034936145619</c:v>
                </c:pt>
                <c:pt idx="3">
                  <c:v>3.7346267754064373</c:v>
                </c:pt>
                <c:pt idx="4">
                  <c:v>2.5218441161272218</c:v>
                </c:pt>
                <c:pt idx="5">
                  <c:v>1.9768627932794525</c:v>
                </c:pt>
                <c:pt idx="6">
                  <c:v>1.584220779108731</c:v>
                </c:pt>
                <c:pt idx="7">
                  <c:v>1.1915787649380096</c:v>
                </c:pt>
                <c:pt idx="8">
                  <c:v>1.0069075148669009</c:v>
                </c:pt>
                <c:pt idx="9">
                  <c:v>0.80608186368465451</c:v>
                </c:pt>
                <c:pt idx="10">
                  <c:v>0.60725621250240813</c:v>
                </c:pt>
                <c:pt idx="11">
                  <c:v>0.45843056132016174</c:v>
                </c:pt>
                <c:pt idx="12">
                  <c:v>0.35460491013791534</c:v>
                </c:pt>
                <c:pt idx="13">
                  <c:v>0.24677925895566893</c:v>
                </c:pt>
                <c:pt idx="14">
                  <c:v>0.24677925895566893</c:v>
                </c:pt>
              </c:numCache>
            </c:numRef>
          </c:yVal>
          <c:smooth val="1"/>
        </c:ser>
        <c:ser>
          <c:idx val="13"/>
          <c:order val="13"/>
          <c:tx>
            <c:strRef>
              <c:f>ReadMBSec!$A$42</c:f>
              <c:strCache>
                <c:ptCount val="1"/>
                <c:pt idx="0">
                  <c:v>NginxDavixStorage</c:v>
                </c:pt>
              </c:strCache>
            </c:strRef>
          </c:tx>
          <c:spPr>
            <a:ln w="9525" cap="rnd">
              <a:solidFill>
                <a:schemeClr val="accent6">
                  <a:lumMod val="60000"/>
                  <a:lumOff val="40000"/>
                </a:schemeClr>
              </a:solidFill>
              <a:round/>
            </a:ln>
            <a:effectLst>
              <a:outerShdw blurRad="57150" dist="19050" dir="5400000" algn="ctr" rotWithShape="0">
                <a:srgbClr val="000000">
                  <a:alpha val="63000"/>
                </a:srgbClr>
              </a:outerShdw>
            </a:effectLst>
          </c:spPr>
          <c:marker>
            <c:symbol val="circle"/>
            <c:size val="6"/>
            <c:spPr>
              <a:solidFill>
                <a:srgbClr val="92D050"/>
              </a:solidFill>
              <a:ln w="9525" cap="rnd">
                <a:solidFill>
                  <a:srgbClr val="92D050"/>
                </a:solidFill>
                <a:round/>
              </a:ln>
              <a:effectLst>
                <a:outerShdw blurRad="57150" dist="19050" dir="5400000" algn="ctr" rotWithShape="0">
                  <a:srgbClr val="000000">
                    <a:alpha val="63000"/>
                  </a:srgbClr>
                </a:outerShdw>
              </a:effectLst>
            </c:spPr>
          </c:marker>
          <c:xVal>
            <c:numRef>
              <c:f>ReadMBSec!$B$28:$P$28</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ReadMBSec!$B$42:$P$42</c:f>
              <c:numCache>
                <c:formatCode>General</c:formatCode>
                <c:ptCount val="15"/>
                <c:pt idx="0">
                  <c:v>101.61611419908913</c:v>
                </c:pt>
                <c:pt idx="1">
                  <c:v>12.820724626655885</c:v>
                </c:pt>
                <c:pt idx="2">
                  <c:v>5.7738045262385702</c:v>
                </c:pt>
                <c:pt idx="3">
                  <c:v>3.0277459072011053</c:v>
                </c:pt>
                <c:pt idx="4">
                  <c:v>2.0526513605077681</c:v>
                </c:pt>
                <c:pt idx="5">
                  <c:v>1.5569056484377695</c:v>
                </c:pt>
                <c:pt idx="6">
                  <c:v>1.2455245187502155</c:v>
                </c:pt>
                <c:pt idx="7">
                  <c:v>0.98072796751985469</c:v>
                </c:pt>
                <c:pt idx="8">
                  <c:v>0.83112539620326675</c:v>
                </c:pt>
                <c:pt idx="9">
                  <c:v>0.65962333032005294</c:v>
                </c:pt>
                <c:pt idx="10">
                  <c:v>0.49595739121808491</c:v>
                </c:pt>
                <c:pt idx="11">
                  <c:v>0.4203028739136313</c:v>
                </c:pt>
                <c:pt idx="12">
                  <c:v>0.3389539305755091</c:v>
                </c:pt>
                <c:pt idx="13">
                  <c:v>0.211846206609693</c:v>
                </c:pt>
                <c:pt idx="14">
                  <c:v>0.12461541565276069</c:v>
                </c:pt>
              </c:numCache>
            </c:numRef>
          </c:yVal>
          <c:smooth val="1"/>
        </c:ser>
        <c:dLbls>
          <c:showLegendKey val="0"/>
          <c:showVal val="0"/>
          <c:showCatName val="0"/>
          <c:showSerName val="0"/>
          <c:showPercent val="0"/>
          <c:showBubbleSize val="0"/>
        </c:dLbls>
        <c:axId val="419703304"/>
        <c:axId val="419701736"/>
        <c:extLst>
          <c:ext xmlns:c15="http://schemas.microsoft.com/office/drawing/2012/chart" uri="{02D57815-91ED-43cb-92C2-25804820EDAC}">
            <c15:filteredScatterSeries>
              <c15:ser>
                <c:idx val="1"/>
                <c:order val="1"/>
                <c:tx>
                  <c:strRef>
                    <c:extLst>
                      <c:ext uri="{02D57815-91ED-43cb-92C2-25804820EDAC}">
                        <c15:formulaRef>
                          <c15:sqref>ReadMBSec!$A$30</c15:sqref>
                        </c15:formulaRef>
                      </c:ext>
                    </c:extLst>
                    <c:strCache>
                      <c:ptCount val="1"/>
                      <c:pt idx="0">
                        <c:v>ApacheDavixLazy</c:v>
                      </c:pt>
                    </c:strCache>
                  </c:strRef>
                </c:tx>
                <c:spPr>
                  <a:ln w="95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cap="rnd">
                      <a:solidFill>
                        <a:schemeClr val="accent2"/>
                      </a:solidFill>
                      <a:round/>
                    </a:ln>
                    <a:effectLst>
                      <a:outerShdw blurRad="57150" dist="19050" dir="5400000" algn="ctr" rotWithShape="0">
                        <a:srgbClr val="000000">
                          <a:alpha val="63000"/>
                        </a:srgbClr>
                      </a:outerShdw>
                    </a:effectLst>
                  </c:spPr>
                </c:marker>
                <c:xVal>
                  <c:numRef>
                    <c:extLst>
                      <c:ex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c:ext uri="{02D57815-91ED-43cb-92C2-25804820EDAC}">
                        <c15:formulaRef>
                          <c15:sqref>ReadMBSec!$B$30:$P$30</c15:sqref>
                        </c15:formulaRef>
                      </c:ext>
                    </c:extLst>
                    <c:numCache>
                      <c:formatCode>General</c:formatCode>
                      <c:ptCount val="15"/>
                      <c:pt idx="0">
                        <c:v>728.07040475466067</c:v>
                      </c:pt>
                      <c:pt idx="1">
                        <c:v>481.9895094530911</c:v>
                      </c:pt>
                      <c:pt idx="2">
                        <c:v>300.67361431363611</c:v>
                      </c:pt>
                      <c:pt idx="3">
                        <c:v>174.23657551362325</c:v>
                      </c:pt>
                      <c:pt idx="4">
                        <c:v>114.2767595573537</c:v>
                      </c:pt>
                      <c:pt idx="5">
                        <c:v>102.26942157498759</c:v>
                      </c:pt>
                      <c:pt idx="6">
                        <c:v>90.12407198464399</c:v>
                      </c:pt>
                      <c:pt idx="7">
                        <c:v>73.818693976649058</c:v>
                      </c:pt>
                      <c:pt idx="8">
                        <c:v>57.312215266357747</c:v>
                      </c:pt>
                      <c:pt idx="9">
                        <c:v>46.950861699670732</c:v>
                      </c:pt>
                      <c:pt idx="10">
                        <c:v>39.204414537697311</c:v>
                      </c:pt>
                      <c:pt idx="11">
                        <c:v>31.260369809522878</c:v>
                      </c:pt>
                      <c:pt idx="12">
                        <c:v>28.290389738547649</c:v>
                      </c:pt>
                      <c:pt idx="13">
                        <c:v>24.821946136832622</c:v>
                      </c:pt>
                      <c:pt idx="14">
                        <c:v>13.452670272043143</c:v>
                      </c:pt>
                    </c:numCache>
                  </c:numRef>
                </c:yVal>
                <c:smooth val="1"/>
              </c15:ser>
            </c15:filteredScatterSeries>
            <c15:filteredScatterSeries>
              <c15:ser>
                <c:idx val="2"/>
                <c:order val="2"/>
                <c:tx>
                  <c:strRef>
                    <c:extLst xmlns:c15="http://schemas.microsoft.com/office/drawing/2012/chart">
                      <c:ext xmlns:c15="http://schemas.microsoft.com/office/drawing/2012/chart" uri="{02D57815-91ED-43cb-92C2-25804820EDAC}">
                        <c15:formulaRef>
                          <c15:sqref>ReadMBSec!$A$31</c15:sqref>
                        </c15:formulaRef>
                      </c:ext>
                    </c:extLst>
                    <c:strCache>
                      <c:ptCount val="1"/>
                      <c:pt idx="0">
                        <c:v>ApacheDavixApplication</c:v>
                      </c:pt>
                    </c:strCache>
                  </c:strRef>
                </c:tx>
                <c:spPr>
                  <a:ln w="9525" cap="rnd">
                    <a:solidFill>
                      <a:schemeClr val="accent3"/>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cap="rnd">
                      <a:solidFill>
                        <a:schemeClr val="accent3"/>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ReadMBSec!$B$31:$P$31</c15:sqref>
                        </c15:formulaRef>
                      </c:ext>
                    </c:extLst>
                    <c:numCache>
                      <c:formatCode>General</c:formatCode>
                      <c:ptCount val="15"/>
                      <c:pt idx="0">
                        <c:v>603.75877400800778</c:v>
                      </c:pt>
                      <c:pt idx="1">
                        <c:v>346.04563202535655</c:v>
                      </c:pt>
                      <c:pt idx="2">
                        <c:v>229.81039454033052</c:v>
                      </c:pt>
                      <c:pt idx="3">
                        <c:v>110.69580009769325</c:v>
                      </c:pt>
                      <c:pt idx="4">
                        <c:v>41.441252707919887</c:v>
                      </c:pt>
                      <c:pt idx="5">
                        <c:v>77.977551563709383</c:v>
                      </c:pt>
                      <c:pt idx="6">
                        <c:v>23.214836842760832</c:v>
                      </c:pt>
                      <c:pt idx="7">
                        <c:v>32.287954298948925</c:v>
                      </c:pt>
                      <c:pt idx="8">
                        <c:v>15.456807276755281</c:v>
                      </c:pt>
                      <c:pt idx="9">
                        <c:v>40.703793019311028</c:v>
                      </c:pt>
                      <c:pt idx="10">
                        <c:v>34.172674389251675</c:v>
                      </c:pt>
                      <c:pt idx="11">
                        <c:v>30.73269829092828</c:v>
                      </c:pt>
                      <c:pt idx="12">
                        <c:v>25.108560148288042</c:v>
                      </c:pt>
                      <c:pt idx="13">
                        <c:v>24.544780035385163</c:v>
                      </c:pt>
                      <c:pt idx="14">
                        <c:v>4.5361511427650365</c:v>
                      </c:pt>
                    </c:numCache>
                  </c:numRef>
                </c:yVal>
                <c:smooth val="1"/>
              </c15:ser>
            </c15:filteredScatterSeries>
            <c15:filteredScatterSeries>
              <c15:ser>
                <c:idx val="4"/>
                <c:order val="4"/>
                <c:tx>
                  <c:strRef>
                    <c:extLst xmlns:c15="http://schemas.microsoft.com/office/drawing/2012/chart">
                      <c:ext xmlns:c15="http://schemas.microsoft.com/office/drawing/2012/chart" uri="{02D57815-91ED-43cb-92C2-25804820EDAC}">
                        <c15:formulaRef>
                          <c15:sqref>ReadMBSec!$A$33</c15:sqref>
                        </c15:formulaRef>
                      </c:ext>
                    </c:extLst>
                    <c:strCache>
                      <c:ptCount val="1"/>
                      <c:pt idx="0">
                        <c:v>XrootDXrootdLazy</c:v>
                      </c:pt>
                    </c:strCache>
                  </c:strRef>
                </c:tx>
                <c:spPr>
                  <a:ln w="9525" cap="rnd">
                    <a:solidFill>
                      <a:schemeClr val="accent5"/>
                    </a:solid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cap="rnd">
                      <a:solidFill>
                        <a:schemeClr val="accent5"/>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ReadMBSec!$B$33:$P$33</c15:sqref>
                        </c15:formulaRef>
                      </c:ext>
                    </c:extLst>
                    <c:numCache>
                      <c:formatCode>General</c:formatCode>
                      <c:ptCount val="15"/>
                      <c:pt idx="0">
                        <c:v>570.48449190092254</c:v>
                      </c:pt>
                      <c:pt idx="1">
                        <c:v>495.73623887666463</c:v>
                      </c:pt>
                      <c:pt idx="2">
                        <c:v>339.23528593630004</c:v>
                      </c:pt>
                      <c:pt idx="3">
                        <c:v>202.74068786954561</c:v>
                      </c:pt>
                      <c:pt idx="4">
                        <c:v>149.3266112980117</c:v>
                      </c:pt>
                      <c:pt idx="5">
                        <c:v>123.1180556094023</c:v>
                      </c:pt>
                      <c:pt idx="6">
                        <c:v>63.363351814826999</c:v>
                      </c:pt>
                      <c:pt idx="7">
                        <c:v>85.144769829116584</c:v>
                      </c:pt>
                      <c:pt idx="8">
                        <c:v>65.47719587201189</c:v>
                      </c:pt>
                      <c:pt idx="9">
                        <c:v>29.870020119836674</c:v>
                      </c:pt>
                      <c:pt idx="10">
                        <c:v>43.745966974938078</c:v>
                      </c:pt>
                      <c:pt idx="11">
                        <c:v>38.483337481121197</c:v>
                      </c:pt>
                      <c:pt idx="12">
                        <c:v>34.144111761660632</c:v>
                      </c:pt>
                      <c:pt idx="13">
                        <c:v>29.056034232717604</c:v>
                      </c:pt>
                      <c:pt idx="14">
                        <c:v>18.309423878322995</c:v>
                      </c:pt>
                    </c:numCache>
                  </c:numRef>
                </c:yVal>
                <c:smooth val="1"/>
              </c15:ser>
            </c15:filteredScatterSeries>
            <c15:filteredScatterSeries>
              <c15:ser>
                <c:idx val="5"/>
                <c:order val="5"/>
                <c:tx>
                  <c:strRef>
                    <c:extLst xmlns:c15="http://schemas.microsoft.com/office/drawing/2012/chart">
                      <c:ext xmlns:c15="http://schemas.microsoft.com/office/drawing/2012/chart" uri="{02D57815-91ED-43cb-92C2-25804820EDAC}">
                        <c15:formulaRef>
                          <c15:sqref>ReadMBSec!$A$34</c15:sqref>
                        </c15:formulaRef>
                      </c:ext>
                    </c:extLst>
                    <c:strCache>
                      <c:ptCount val="1"/>
                      <c:pt idx="0">
                        <c:v>XrootdXrootDApplication</c:v>
                      </c:pt>
                    </c:strCache>
                  </c:strRef>
                </c:tx>
                <c:spPr>
                  <a:ln w="9525" cap="rnd">
                    <a:solidFill>
                      <a:schemeClr val="accent6"/>
                    </a:solidFill>
                    <a:round/>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cap="rnd">
                      <a:solidFill>
                        <a:schemeClr val="accent6"/>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ReadMBSec!$B$34:$P$34</c15:sqref>
                        </c15:formulaRef>
                      </c:ext>
                    </c:extLst>
                    <c:numCache>
                      <c:formatCode>General</c:formatCode>
                      <c:ptCount val="15"/>
                      <c:pt idx="0">
                        <c:v>671.07965301162778</c:v>
                      </c:pt>
                      <c:pt idx="1">
                        <c:v>314.63725261568902</c:v>
                      </c:pt>
                      <c:pt idx="2">
                        <c:v>301.17455110185483</c:v>
                      </c:pt>
                      <c:pt idx="3">
                        <c:v>182.89288131227281</c:v>
                      </c:pt>
                      <c:pt idx="4">
                        <c:v>125.66304515011733</c:v>
                      </c:pt>
                      <c:pt idx="5">
                        <c:v>103.3338176777046</c:v>
                      </c:pt>
                      <c:pt idx="6">
                        <c:v>76.76567234111107</c:v>
                      </c:pt>
                      <c:pt idx="7">
                        <c:v>73.090248925817718</c:v>
                      </c:pt>
                      <c:pt idx="8">
                        <c:v>56.815441889696842</c:v>
                      </c:pt>
                      <c:pt idx="9">
                        <c:v>42.724266041281332</c:v>
                      </c:pt>
                      <c:pt idx="10">
                        <c:v>38.703354236813482</c:v>
                      </c:pt>
                      <c:pt idx="11">
                        <c:v>31.493937544228835</c:v>
                      </c:pt>
                      <c:pt idx="12">
                        <c:v>29.640695239201488</c:v>
                      </c:pt>
                      <c:pt idx="13">
                        <c:v>27.345256445779203</c:v>
                      </c:pt>
                      <c:pt idx="14">
                        <c:v>3.9793645254493097</c:v>
                      </c:pt>
                    </c:numCache>
                  </c:numRef>
                </c:yVal>
                <c:smooth val="1"/>
              </c15:ser>
            </c15:filteredScatterSeries>
            <c15:filteredScatterSeries>
              <c15:ser>
                <c:idx val="6"/>
                <c:order val="6"/>
                <c:tx>
                  <c:strRef>
                    <c:extLst xmlns:c15="http://schemas.microsoft.com/office/drawing/2012/chart">
                      <c:ext xmlns:c15="http://schemas.microsoft.com/office/drawing/2012/chart" uri="{02D57815-91ED-43cb-92C2-25804820EDAC}">
                        <c15:formulaRef>
                          <c15:sqref>ReadMBSec!$A$35</c15:sqref>
                        </c15:formulaRef>
                      </c:ext>
                    </c:extLst>
                    <c:strCache>
                      <c:ptCount val="1"/>
                      <c:pt idx="0">
                        <c:v>XrootDCurlLazy</c:v>
                      </c:pt>
                    </c:strCache>
                  </c:strRef>
                </c:tx>
                <c:spPr>
                  <a:ln w="9525" cap="rnd">
                    <a:solidFill>
                      <a:schemeClr val="accent1">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w="9525" cap="rnd">
                      <a:solidFill>
                        <a:schemeClr val="accent1">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ReadMBSec!$B$35:$P$35</c15:sqref>
                        </c15:formulaRef>
                      </c:ext>
                    </c:extLst>
                    <c:numCache>
                      <c:formatCode>General</c:formatCode>
                      <c:ptCount val="15"/>
                      <c:pt idx="0">
                        <c:v>507.6245857779345</c:v>
                      </c:pt>
                      <c:pt idx="1">
                        <c:v>408.09624233686725</c:v>
                      </c:pt>
                      <c:pt idx="2">
                        <c:v>445.43007428901365</c:v>
                      </c:pt>
                      <c:pt idx="3">
                        <c:v>269.25884902731104</c:v>
                      </c:pt>
                      <c:pt idx="4">
                        <c:v>200.13315979600264</c:v>
                      </c:pt>
                      <c:pt idx="5">
                        <c:v>149.62587054591233</c:v>
                      </c:pt>
                      <c:pt idx="6">
                        <c:v>125.68599562282867</c:v>
                      </c:pt>
                      <c:pt idx="7">
                        <c:v>99.723018422392272</c:v>
                      </c:pt>
                      <c:pt idx="8">
                        <c:v>62.536470264471525</c:v>
                      </c:pt>
                      <c:pt idx="9">
                        <c:v>22.213651162993298</c:v>
                      </c:pt>
                      <c:pt idx="10">
                        <c:v>38.831291570220174</c:v>
                      </c:pt>
                      <c:pt idx="11">
                        <c:v>36.067311546030751</c:v>
                      </c:pt>
                      <c:pt idx="12">
                        <c:v>32.845994892271797</c:v>
                      </c:pt>
                      <c:pt idx="13">
                        <c:v>29.858314968374504</c:v>
                      </c:pt>
                      <c:pt idx="14">
                        <c:v>27.608614811408181</c:v>
                      </c:pt>
                    </c:numCache>
                  </c:numRef>
                </c:yVal>
                <c:smooth val="1"/>
              </c15:ser>
            </c15:filteredScatterSeries>
            <c15:filteredScatterSeries>
              <c15:ser>
                <c:idx val="8"/>
                <c:order val="8"/>
                <c:tx>
                  <c:strRef>
                    <c:extLst xmlns:c15="http://schemas.microsoft.com/office/drawing/2012/chart">
                      <c:ext xmlns:c15="http://schemas.microsoft.com/office/drawing/2012/chart" uri="{02D57815-91ED-43cb-92C2-25804820EDAC}">
                        <c15:formulaRef>
                          <c15:sqref>ReadMBSec!$A$37</c15:sqref>
                        </c15:formulaRef>
                      </c:ext>
                    </c:extLst>
                    <c:strCache>
                      <c:ptCount val="1"/>
                      <c:pt idx="0">
                        <c:v>XrootDDavixLazy</c:v>
                      </c:pt>
                    </c:strCache>
                  </c:strRef>
                </c:tx>
                <c:spPr>
                  <a:ln w="9525" cap="rnd">
                    <a:solidFill>
                      <a:schemeClr val="accent3">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cap="rnd">
                      <a:solidFill>
                        <a:schemeClr val="accent3">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ReadMBSec!$B$37:$P$37</c15:sqref>
                        </c15:formulaRef>
                      </c:ext>
                    </c:extLst>
                    <c:numCache>
                      <c:formatCode>General</c:formatCode>
                      <c:ptCount val="15"/>
                      <c:pt idx="0">
                        <c:v>825.40857612065338</c:v>
                      </c:pt>
                      <c:pt idx="1">
                        <c:v>509.47775912196482</c:v>
                      </c:pt>
                      <c:pt idx="2">
                        <c:v>430.19041879734488</c:v>
                      </c:pt>
                      <c:pt idx="3">
                        <c:v>243.65747117878456</c:v>
                      </c:pt>
                      <c:pt idx="4">
                        <c:v>171.28880116337817</c:v>
                      </c:pt>
                      <c:pt idx="5">
                        <c:v>131.77676410200036</c:v>
                      </c:pt>
                      <c:pt idx="6">
                        <c:v>103.43799119059227</c:v>
                      </c:pt>
                      <c:pt idx="7">
                        <c:v>83.797422021422534</c:v>
                      </c:pt>
                      <c:pt idx="8">
                        <c:v>66.050756630623056</c:v>
                      </c:pt>
                      <c:pt idx="9">
                        <c:v>34.390287042986252</c:v>
                      </c:pt>
                      <c:pt idx="10">
                        <c:v>45.639126666320522</c:v>
                      </c:pt>
                      <c:pt idx="11">
                        <c:v>40.066696986075655</c:v>
                      </c:pt>
                      <c:pt idx="12">
                        <c:v>34.365032229190334</c:v>
                      </c:pt>
                      <c:pt idx="13">
                        <c:v>30.132694682747999</c:v>
                      </c:pt>
                      <c:pt idx="14">
                        <c:v>18.309423878322995</c:v>
                      </c:pt>
                    </c:numCache>
                  </c:numRef>
                </c:yVal>
                <c:smooth val="1"/>
              </c15:ser>
            </c15:filteredScatterSeries>
            <c15:filteredScatterSeries>
              <c15:ser>
                <c:idx val="9"/>
                <c:order val="9"/>
                <c:tx>
                  <c:strRef>
                    <c:extLst xmlns:c15="http://schemas.microsoft.com/office/drawing/2012/chart">
                      <c:ext xmlns:c15="http://schemas.microsoft.com/office/drawing/2012/chart" uri="{02D57815-91ED-43cb-92C2-25804820EDAC}">
                        <c15:formulaRef>
                          <c15:sqref>ReadMBSec!$A$38</c15:sqref>
                        </c15:formulaRef>
                      </c:ext>
                    </c:extLst>
                    <c:strCache>
                      <c:ptCount val="1"/>
                      <c:pt idx="0">
                        <c:v>XrootDDavixApplication</c:v>
                      </c:pt>
                    </c:strCache>
                  </c:strRef>
                </c:tx>
                <c:spPr>
                  <a:ln w="9525" cap="rnd">
                    <a:solidFill>
                      <a:schemeClr val="accent4">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w="9525" cap="rnd">
                      <a:solidFill>
                        <a:schemeClr val="accent4">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ReadMBSec!$B$38:$P$38</c15:sqref>
                        </c15:formulaRef>
                      </c:ext>
                    </c:extLst>
                    <c:numCache>
                      <c:formatCode>General</c:formatCode>
                      <c:ptCount val="15"/>
                      <c:pt idx="0">
                        <c:v>472.02504024474308</c:v>
                      </c:pt>
                      <c:pt idx="1">
                        <c:v>60.431034501095695</c:v>
                      </c:pt>
                      <c:pt idx="2">
                        <c:v>74.579197239318148</c:v>
                      </c:pt>
                      <c:pt idx="3">
                        <c:v>41.175942770849957</c:v>
                      </c:pt>
                      <c:pt idx="4">
                        <c:v>26.803781298523546</c:v>
                      </c:pt>
                      <c:pt idx="5">
                        <c:v>19.739266344741864</c:v>
                      </c:pt>
                      <c:pt idx="6">
                        <c:v>16.297908825690442</c:v>
                      </c:pt>
                      <c:pt idx="7">
                        <c:v>13.019524115336749</c:v>
                      </c:pt>
                      <c:pt idx="8">
                        <c:v>10.114041708844551</c:v>
                      </c:pt>
                      <c:pt idx="9">
                        <c:v>5.5174519613555111</c:v>
                      </c:pt>
                      <c:pt idx="10">
                        <c:v>6.8024290614829175</c:v>
                      </c:pt>
                      <c:pt idx="11">
                        <c:v>6.005659792538613</c:v>
                      </c:pt>
                      <c:pt idx="12">
                        <c:v>4.9017534422797784</c:v>
                      </c:pt>
                      <c:pt idx="13">
                        <c:v>4.6754041681661445</c:v>
                      </c:pt>
                      <c:pt idx="14">
                        <c:v>3.8776548349967355</c:v>
                      </c:pt>
                    </c:numCache>
                  </c:numRef>
                </c:yVal>
                <c:smooth val="1"/>
              </c15:ser>
            </c15:filteredScatterSeries>
            <c15:filteredScatterSeries>
              <c15:ser>
                <c:idx val="10"/>
                <c:order val="10"/>
                <c:tx>
                  <c:strRef>
                    <c:extLst xmlns:c15="http://schemas.microsoft.com/office/drawing/2012/chart">
                      <c:ext xmlns:c15="http://schemas.microsoft.com/office/drawing/2012/chart" uri="{02D57815-91ED-43cb-92C2-25804820EDAC}">
                        <c15:formulaRef>
                          <c15:sqref>ReadMBSec!$A$39</c15:sqref>
                        </c15:formulaRef>
                      </c:ext>
                    </c:extLst>
                    <c:strCache>
                      <c:ptCount val="1"/>
                      <c:pt idx="0">
                        <c:v>ApacheCurlLazy</c:v>
                      </c:pt>
                    </c:strCache>
                  </c:strRef>
                </c:tx>
                <c:spPr>
                  <a:ln w="9525" cap="rnd">
                    <a:solidFill>
                      <a:schemeClr val="accent5">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w="9525" cap="rnd">
                      <a:solidFill>
                        <a:schemeClr val="accent5">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ReadMBSec!$B$39:$P$39</c15:sqref>
                        </c15:formulaRef>
                      </c:ext>
                    </c:extLst>
                    <c:numCache>
                      <c:formatCode>General</c:formatCode>
                      <c:ptCount val="15"/>
                      <c:pt idx="0">
                        <c:v>471.45913981567236</c:v>
                      </c:pt>
                      <c:pt idx="1">
                        <c:v>478.03524049029767</c:v>
                      </c:pt>
                      <c:pt idx="2">
                        <c:v>454.13400589280593</c:v>
                      </c:pt>
                      <c:pt idx="3">
                        <c:v>284.72519572319368</c:v>
                      </c:pt>
                      <c:pt idx="4">
                        <c:v>203.36883916863374</c:v>
                      </c:pt>
                      <c:pt idx="5">
                        <c:v>147.80093915431019</c:v>
                      </c:pt>
                      <c:pt idx="6">
                        <c:v>126.96503475701454</c:v>
                      </c:pt>
                      <c:pt idx="7">
                        <c:v>88.604255970157169</c:v>
                      </c:pt>
                      <c:pt idx="8">
                        <c:v>64.977227101235073</c:v>
                      </c:pt>
                      <c:pt idx="9">
                        <c:v>52.96386816222369</c:v>
                      </c:pt>
                      <c:pt idx="10">
                        <c:v>40.541473234757291</c:v>
                      </c:pt>
                      <c:pt idx="11">
                        <c:v>38.59210635394512</c:v>
                      </c:pt>
                      <c:pt idx="12">
                        <c:v>34.458450824670493</c:v>
                      </c:pt>
                      <c:pt idx="13">
                        <c:v>29.928821869631108</c:v>
                      </c:pt>
                      <c:pt idx="14">
                        <c:v>27.442515205142538</c:v>
                      </c:pt>
                    </c:numCache>
                  </c:numRef>
                </c:yVal>
                <c:smooth val="1"/>
              </c15:ser>
            </c15:filteredScatterSeries>
            <c15:filteredScatterSeries>
              <c15:ser>
                <c:idx val="11"/>
                <c:order val="11"/>
                <c:tx>
                  <c:strRef>
                    <c:extLst xmlns:c15="http://schemas.microsoft.com/office/drawing/2012/chart">
                      <c:ext xmlns:c15="http://schemas.microsoft.com/office/drawing/2012/chart" uri="{02D57815-91ED-43cb-92C2-25804820EDAC}">
                        <c15:formulaRef>
                          <c15:sqref>ReadMBSec!$A$40</c15:sqref>
                        </c15:formulaRef>
                      </c:ext>
                    </c:extLst>
                    <c:strCache>
                      <c:ptCount val="1"/>
                      <c:pt idx="0">
                        <c:v>LocalLocal</c:v>
                      </c:pt>
                    </c:strCache>
                  </c:strRef>
                </c:tx>
                <c:spPr>
                  <a:ln w="9525" cap="rnd">
                    <a:solidFill>
                      <a:schemeClr val="accent6">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w="9525" cap="rnd">
                      <a:solidFill>
                        <a:schemeClr val="accent6">
                          <a:lumMod val="6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ReadMBSec!$B$40:$P$40</c15:sqref>
                        </c15:formulaRef>
                      </c:ext>
                    </c:extLst>
                    <c:numCache>
                      <c:formatCode>General</c:formatCode>
                      <c:ptCount val="15"/>
                    </c:numCache>
                  </c:numRef>
                </c:yVal>
                <c:smooth val="1"/>
              </c15:ser>
            </c15:filteredScatterSeries>
            <c15:filteredScatterSeries>
              <c15:ser>
                <c:idx val="12"/>
                <c:order val="12"/>
                <c:tx>
                  <c:strRef>
                    <c:extLst xmlns:c15="http://schemas.microsoft.com/office/drawing/2012/chart">
                      <c:ext xmlns:c15="http://schemas.microsoft.com/office/drawing/2012/chart" uri="{02D57815-91ED-43cb-92C2-25804820EDAC}">
                        <c15:formulaRef>
                          <c15:sqref>ReadMBSec!$A$41</c15:sqref>
                        </c15:formulaRef>
                      </c:ext>
                    </c:extLst>
                    <c:strCache>
                      <c:ptCount val="1"/>
                      <c:pt idx="0">
                        <c:v>LocalHDFS</c:v>
                      </c:pt>
                    </c:strCache>
                  </c:strRef>
                </c:tx>
                <c:spPr>
                  <a:ln w="9525" cap="rnd">
                    <a:solidFill>
                      <a:schemeClr val="accent1">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w="9525" cap="rnd">
                      <a:solidFill>
                        <a:schemeClr val="accent1">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ReadMBSec!$B$41:$P$41</c15:sqref>
                        </c15:formulaRef>
                      </c:ext>
                    </c:extLst>
                    <c:numCache>
                      <c:formatCode>General</c:formatCode>
                      <c:ptCount val="15"/>
                    </c:numCache>
                  </c:numRef>
                </c:yVal>
                <c:smooth val="1"/>
              </c15:ser>
            </c15:filteredScatterSeries>
            <c15:filteredScatterSeries>
              <c15:ser>
                <c:idx val="14"/>
                <c:order val="14"/>
                <c:tx>
                  <c:strRef>
                    <c:extLst xmlns:c15="http://schemas.microsoft.com/office/drawing/2012/chart">
                      <c:ext xmlns:c15="http://schemas.microsoft.com/office/drawing/2012/chart" uri="{02D57815-91ED-43cb-92C2-25804820EDAC}">
                        <c15:formulaRef>
                          <c15:sqref>ReadMBSec!$A$43</c15:sqref>
                        </c15:formulaRef>
                      </c:ext>
                    </c:extLst>
                    <c:strCache>
                      <c:ptCount val="1"/>
                      <c:pt idx="0">
                        <c:v>NginxDavixLazy</c:v>
                      </c:pt>
                    </c:strCache>
                  </c:strRef>
                </c:tx>
                <c:spPr>
                  <a:ln w="9525" cap="rnd">
                    <a:solidFill>
                      <a:schemeClr val="accent3">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w="9525" cap="rnd">
                      <a:solidFill>
                        <a:schemeClr val="accent3">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ReadMBSec!$B$43:$P$43</c15:sqref>
                        </c15:formulaRef>
                      </c:ext>
                    </c:extLst>
                    <c:numCache>
                      <c:formatCode>General</c:formatCode>
                      <c:ptCount val="15"/>
                      <c:pt idx="0">
                        <c:v>767.20133366858693</c:v>
                      </c:pt>
                      <c:pt idx="1">
                        <c:v>641.14650205653822</c:v>
                      </c:pt>
                      <c:pt idx="2">
                        <c:v>426.37384782275649</c:v>
                      </c:pt>
                      <c:pt idx="3">
                        <c:v>226.71261426761916</c:v>
                      </c:pt>
                      <c:pt idx="4">
                        <c:v>158.89245091624758</c:v>
                      </c:pt>
                      <c:pt idx="5">
                        <c:v>123.76746430393821</c:v>
                      </c:pt>
                      <c:pt idx="6">
                        <c:v>87.587417235441137</c:v>
                      </c:pt>
                      <c:pt idx="7">
                        <c:v>85.968411354468799</c:v>
                      </c:pt>
                      <c:pt idx="8">
                        <c:v>65.654095391399935</c:v>
                      </c:pt>
                      <c:pt idx="9">
                        <c:v>53.798960332656399</c:v>
                      </c:pt>
                      <c:pt idx="10">
                        <c:v>45.883485405563754</c:v>
                      </c:pt>
                      <c:pt idx="11">
                        <c:v>39.991751388755375</c:v>
                      </c:pt>
                      <c:pt idx="12">
                        <c:v>34.552941029476024</c:v>
                      </c:pt>
                      <c:pt idx="13">
                        <c:v>28.829007746375737</c:v>
                      </c:pt>
                      <c:pt idx="14">
                        <c:v>24.85705994183034</c:v>
                      </c:pt>
                    </c:numCache>
                  </c:numRef>
                </c:yVal>
                <c:smooth val="1"/>
              </c15:ser>
            </c15:filteredScatterSeries>
            <c15:filteredScatterSeries>
              <c15:ser>
                <c:idx val="15"/>
                <c:order val="15"/>
                <c:tx>
                  <c:strRef>
                    <c:extLst xmlns:c15="http://schemas.microsoft.com/office/drawing/2012/chart">
                      <c:ext xmlns:c15="http://schemas.microsoft.com/office/drawing/2012/chart" uri="{02D57815-91ED-43cb-92C2-25804820EDAC}">
                        <c15:formulaRef>
                          <c15:sqref>ReadMBSec!$A$44</c15:sqref>
                        </c15:formulaRef>
                      </c:ext>
                    </c:extLst>
                    <c:strCache>
                      <c:ptCount val="1"/>
                      <c:pt idx="0">
                        <c:v>NginxDavixApplication</c:v>
                      </c:pt>
                    </c:strCache>
                  </c:strRef>
                </c:tx>
                <c:spPr>
                  <a:ln w="9525" cap="rnd">
                    <a:solidFill>
                      <a:schemeClr val="accent4">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w="9525" cap="rnd">
                      <a:solidFill>
                        <a:schemeClr val="accent4">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ReadMBSec!$B$44:$P$44</c15:sqref>
                        </c15:formulaRef>
                      </c:ext>
                    </c:extLst>
                    <c:numCache>
                      <c:formatCode>General</c:formatCode>
                      <c:ptCount val="15"/>
                      <c:pt idx="0">
                        <c:v>515.67842072455835</c:v>
                      </c:pt>
                      <c:pt idx="1">
                        <c:v>171.23599357315487</c:v>
                      </c:pt>
                      <c:pt idx="2">
                        <c:v>239.83341628864031</c:v>
                      </c:pt>
                      <c:pt idx="3">
                        <c:v>146.57760340117702</c:v>
                      </c:pt>
                      <c:pt idx="4">
                        <c:v>97.465280610378642</c:v>
                      </c:pt>
                      <c:pt idx="5">
                        <c:v>77.837252991968526</c:v>
                      </c:pt>
                      <c:pt idx="6">
                        <c:v>22.395597584066774</c:v>
                      </c:pt>
                      <c:pt idx="7">
                        <c:v>18.342368429514917</c:v>
                      </c:pt>
                      <c:pt idx="8">
                        <c:v>28.540891417757656</c:v>
                      </c:pt>
                      <c:pt idx="9">
                        <c:v>36.207569959555428</c:v>
                      </c:pt>
                      <c:pt idx="10">
                        <c:v>30.030165359081114</c:v>
                      </c:pt>
                      <c:pt idx="11">
                        <c:v>25.408617217928473</c:v>
                      </c:pt>
                      <c:pt idx="12">
                        <c:v>24.268534818300544</c:v>
                      </c:pt>
                      <c:pt idx="13">
                        <c:v>21.706538166148949</c:v>
                      </c:pt>
                      <c:pt idx="14">
                        <c:v>5.7559698547374083</c:v>
                      </c:pt>
                    </c:numCache>
                  </c:numRef>
                </c:yVal>
                <c:smooth val="1"/>
              </c15:ser>
            </c15:filteredScatterSeries>
            <c15:filteredScatterSeries>
              <c15:ser>
                <c:idx val="16"/>
                <c:order val="16"/>
                <c:tx>
                  <c:strRef>
                    <c:extLst xmlns:c15="http://schemas.microsoft.com/office/drawing/2012/chart">
                      <c:ext xmlns:c15="http://schemas.microsoft.com/office/drawing/2012/chart" uri="{02D57815-91ED-43cb-92C2-25804820EDAC}">
                        <c15:formulaRef>
                          <c15:sqref>ReadMBSec!$A$45</c15:sqref>
                        </c15:formulaRef>
                      </c:ext>
                    </c:extLst>
                    <c:strCache>
                      <c:ptCount val="1"/>
                      <c:pt idx="0">
                        <c:v>NginxCurlLazy</c:v>
                      </c:pt>
                    </c:strCache>
                  </c:strRef>
                </c:tx>
                <c:spPr>
                  <a:ln w="9525" cap="rnd">
                    <a:solidFill>
                      <a:schemeClr val="accent5">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w="9525" cap="rnd">
                      <a:solidFill>
                        <a:schemeClr val="accent5">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ReadMBSec!$B$28:$P$28</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ReadMBSec!$B$45:$P$45</c15:sqref>
                        </c15:formulaRef>
                      </c:ext>
                    </c:extLst>
                    <c:numCache>
                      <c:formatCode>General</c:formatCode>
                      <c:ptCount val="15"/>
                      <c:pt idx="0">
                        <c:v>485.2287840148532</c:v>
                      </c:pt>
                      <c:pt idx="1">
                        <c:v>470.42646115299607</c:v>
                      </c:pt>
                      <c:pt idx="2">
                        <c:v>441.39838730282702</c:v>
                      </c:pt>
                      <c:pt idx="3">
                        <c:v>273.26676649954265</c:v>
                      </c:pt>
                      <c:pt idx="4">
                        <c:v>194.31100149964161</c:v>
                      </c:pt>
                      <c:pt idx="5">
                        <c:v>151.04869795296878</c:v>
                      </c:pt>
                      <c:pt idx="6">
                        <c:v>123.61945286227616</c:v>
                      </c:pt>
                      <c:pt idx="7">
                        <c:v>102.66240614752962</c:v>
                      </c:pt>
                      <c:pt idx="8">
                        <c:v>64.251783633650163</c:v>
                      </c:pt>
                      <c:pt idx="9">
                        <c:v>48.190745675122891</c:v>
                      </c:pt>
                      <c:pt idx="10">
                        <c:v>40.347964614973129</c:v>
                      </c:pt>
                      <c:pt idx="11">
                        <c:v>36.26578556166011</c:v>
                      </c:pt>
                      <c:pt idx="12">
                        <c:v>33.27920592034117</c:v>
                      </c:pt>
                      <c:pt idx="13">
                        <c:v>29.885985549647412</c:v>
                      </c:pt>
                      <c:pt idx="14">
                        <c:v>26.42393663097587</c:v>
                      </c:pt>
                    </c:numCache>
                  </c:numRef>
                </c:yVal>
                <c:smooth val="1"/>
              </c15:ser>
            </c15:filteredScatterSeries>
          </c:ext>
        </c:extLst>
      </c:scatterChart>
      <c:valAx>
        <c:axId val="419703304"/>
        <c:scaling>
          <c:orientation val="minMax"/>
          <c:max val="100"/>
        </c:scaling>
        <c:delete val="0"/>
        <c:axPos val="b"/>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0" spcFirstLastPara="1" vertOverflow="ellipsis" vert="horz" wrap="square" anchor="ctr" anchorCtr="1"/>
              <a:lstStyle/>
              <a:p>
                <a:pPr>
                  <a:defRPr sz="1400" b="1" i="0" u="none" strike="noStrike" kern="1200" cap="all" baseline="0">
                    <a:solidFill>
                      <a:schemeClr val="lt1">
                        <a:lumMod val="75000"/>
                      </a:schemeClr>
                    </a:solidFill>
                    <a:latin typeface="+mn-lt"/>
                    <a:ea typeface="+mn-ea"/>
                    <a:cs typeface="+mn-cs"/>
                  </a:defRPr>
                </a:pPr>
                <a:r>
                  <a:rPr lang="en-GB" dirty="0" smtClean="0"/>
                  <a:t>RTT</a:t>
                </a:r>
                <a:endParaRPr lang="en-GB" dirty="0"/>
              </a:p>
            </c:rich>
          </c:tx>
          <c:layout/>
          <c:overlay val="0"/>
          <c:spPr>
            <a:noFill/>
            <a:ln>
              <a:noFill/>
            </a:ln>
            <a:effectLst/>
          </c:spPr>
          <c:txPr>
            <a:bodyPr rot="0" spcFirstLastPara="1" vertOverflow="ellipsis" vert="horz" wrap="square" anchor="ctr" anchorCtr="1"/>
            <a:lstStyle/>
            <a:p>
              <a:pPr>
                <a:defRPr sz="14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out"/>
        <c:minorTickMark val="none"/>
        <c:tickLblPos val="low"/>
        <c:spPr>
          <a:noFill/>
          <a:ln w="9525" cap="flat" cmpd="sng" algn="ctr">
            <a:solidFill>
              <a:schemeClr val="lt1">
                <a:lumMod val="50000"/>
              </a:schemeClr>
            </a:solidFill>
          </a:ln>
          <a:effectLst/>
        </c:spPr>
        <c:txPr>
          <a:bodyPr rot="-60000000" spcFirstLastPara="1" vertOverflow="ellipsis" vert="horz" wrap="square" anchor="ctr" anchorCtr="1"/>
          <a:lstStyle/>
          <a:p>
            <a:pPr>
              <a:defRPr sz="1400" b="1" i="0" u="none" strike="noStrike" kern="1200" baseline="0">
                <a:solidFill>
                  <a:schemeClr val="lt1">
                    <a:lumMod val="75000"/>
                  </a:schemeClr>
                </a:solidFill>
                <a:latin typeface="+mn-lt"/>
                <a:ea typeface="+mn-ea"/>
                <a:cs typeface="+mn-cs"/>
              </a:defRPr>
            </a:pPr>
            <a:endParaRPr lang="en-US"/>
          </a:p>
        </c:txPr>
        <c:crossAx val="419701736"/>
        <c:crosses val="autoZero"/>
        <c:crossBetween val="midCat"/>
        <c:majorUnit val="5"/>
      </c:valAx>
      <c:valAx>
        <c:axId val="419701736"/>
        <c:scaling>
          <c:logBase val="2"/>
          <c:orientation val="minMax"/>
        </c:scaling>
        <c:delete val="0"/>
        <c:axPos val="l"/>
        <c:majorGridlines>
          <c:spPr>
            <a:ln w="9525" cap="flat" cmpd="sng" algn="ctr">
              <a:solidFill>
                <a:schemeClr val="lt1">
                  <a:lumMod val="95000"/>
                  <a:alpha val="10000"/>
                </a:schemeClr>
              </a:solidFill>
              <a:round/>
            </a:ln>
            <a:effectLst/>
          </c:spPr>
        </c:majorGridlines>
        <c:minorGridlines>
          <c:spPr>
            <a:ln>
              <a:solidFill>
                <a:schemeClr val="lt1">
                  <a:lumMod val="95000"/>
                  <a:alpha val="5000"/>
                </a:schemeClr>
              </a:solidFill>
            </a:ln>
            <a:effectLst/>
          </c:spPr>
        </c:minorGridlines>
        <c:title>
          <c:tx>
            <c:rich>
              <a:bodyPr rot="-5400000" spcFirstLastPara="1" vertOverflow="ellipsis" vert="horz" wrap="square" anchor="ctr" anchorCtr="1"/>
              <a:lstStyle/>
              <a:p>
                <a:pPr>
                  <a:defRPr sz="1400" b="1" i="0" u="none" strike="noStrike" kern="1200" cap="all" baseline="0">
                    <a:solidFill>
                      <a:schemeClr val="lt1">
                        <a:lumMod val="75000"/>
                      </a:schemeClr>
                    </a:solidFill>
                    <a:latin typeface="+mn-lt"/>
                    <a:ea typeface="+mn-ea"/>
                    <a:cs typeface="+mn-cs"/>
                  </a:defRPr>
                </a:pPr>
                <a:r>
                  <a:rPr lang="en-GB" dirty="0" smtClean="0"/>
                  <a:t>Mbytes/s</a:t>
                </a:r>
                <a:endParaRPr lang="en-GB" dirty="0"/>
              </a:p>
            </c:rich>
          </c:tx>
          <c:layout/>
          <c:overlay val="0"/>
          <c:spPr>
            <a:noFill/>
            <a:ln>
              <a:noFill/>
            </a:ln>
            <a:effectLst/>
          </c:spPr>
          <c:txPr>
            <a:bodyPr rot="-5400000" spcFirstLastPara="1" vertOverflow="ellipsis" vert="horz" wrap="square" anchor="ctr" anchorCtr="1"/>
            <a:lstStyle/>
            <a:p>
              <a:pPr>
                <a:defRPr sz="14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400" b="1" i="0" u="none" strike="noStrike" kern="1200" baseline="0">
                <a:solidFill>
                  <a:schemeClr val="lt1">
                    <a:lumMod val="75000"/>
                  </a:schemeClr>
                </a:solidFill>
                <a:latin typeface="+mn-lt"/>
                <a:ea typeface="+mn-ea"/>
                <a:cs typeface="+mn-cs"/>
              </a:defRPr>
            </a:pPr>
            <a:endParaRPr lang="en-US"/>
          </a:p>
        </c:txPr>
        <c:crossAx val="419703304"/>
        <c:crosses val="autoZero"/>
        <c:crossBetween val="midCat"/>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400" b="1"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400" b="1"/>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ReadTime!$A$2</c:f>
              <c:strCache>
                <c:ptCount val="1"/>
                <c:pt idx="0">
                  <c:v>ApacheDavixStorage</c:v>
                </c:pt>
              </c:strCache>
            </c:strRef>
          </c:tx>
          <c:spPr>
            <a:ln w="95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rnd">
                <a:solidFill>
                  <a:schemeClr val="accent1"/>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ReadTime!$B$2:$P$2</c:f>
              <c:numCache>
                <c:formatCode>General</c:formatCode>
                <c:ptCount val="15"/>
                <c:pt idx="0">
                  <c:v>43.90878</c:v>
                </c:pt>
                <c:pt idx="1">
                  <c:v>309.30840000000001</c:v>
                </c:pt>
                <c:pt idx="2">
                  <c:v>681.93509999999992</c:v>
                </c:pt>
                <c:pt idx="3">
                  <c:v>1300.6220000000001</c:v>
                </c:pt>
                <c:pt idx="4">
                  <c:v>1903.0530000000001</c:v>
                </c:pt>
                <c:pt idx="5">
                  <c:v>2517.817</c:v>
                </c:pt>
                <c:pt idx="6">
                  <c:v>3128.0279999999998</c:v>
                </c:pt>
                <c:pt idx="7">
                  <c:v>3915.2232643868142</c:v>
                </c:pt>
                <c:pt idx="8">
                  <c:v>4952.44242252412</c:v>
                </c:pt>
                <c:pt idx="9">
                  <c:v>6195.1189228544226</c:v>
                </c:pt>
                <c:pt idx="10">
                  <c:v>7672.7907568164992</c:v>
                </c:pt>
                <c:pt idx="11">
                  <c:v>9407.777149828722</c:v>
                </c:pt>
                <c:pt idx="12">
                  <c:v>11629.159817390202</c:v>
                </c:pt>
                <c:pt idx="13">
                  <c:v>14230.858106074362</c:v>
                </c:pt>
                <c:pt idx="14">
                  <c:v>17541.268041319549</c:v>
                </c:pt>
              </c:numCache>
            </c:numRef>
          </c:yVal>
          <c:smooth val="1"/>
        </c:ser>
        <c:ser>
          <c:idx val="1"/>
          <c:order val="1"/>
          <c:tx>
            <c:strRef>
              <c:f>ReadTime!$A$3</c:f>
              <c:strCache>
                <c:ptCount val="1"/>
                <c:pt idx="0">
                  <c:v>ApacheDavixLazy</c:v>
                </c:pt>
              </c:strCache>
            </c:strRef>
          </c:tx>
          <c:spPr>
            <a:ln w="95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cap="rnd">
                <a:solidFill>
                  <a:schemeClr val="accent2"/>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ReadTime!$B$3:$P$3</c:f>
              <c:numCache>
                <c:formatCode>General</c:formatCode>
                <c:ptCount val="15"/>
                <c:pt idx="0">
                  <c:v>5.3936130000000002</c:v>
                </c:pt>
                <c:pt idx="1">
                  <c:v>8.147335</c:v>
                </c:pt>
                <c:pt idx="2">
                  <c:v>13.060441000000001</c:v>
                </c:pt>
                <c:pt idx="3">
                  <c:v>22.53792</c:v>
                </c:pt>
                <c:pt idx="4">
                  <c:v>34.363330000000005</c:v>
                </c:pt>
                <c:pt idx="5">
                  <c:v>38.397889999999997</c:v>
                </c:pt>
                <c:pt idx="6">
                  <c:v>43.572487499999994</c:v>
                </c:pt>
                <c:pt idx="7">
                  <c:v>53.196958500000001</c:v>
                </c:pt>
                <c:pt idx="8">
                  <c:v>68.518203000000014</c:v>
                </c:pt>
                <c:pt idx="9">
                  <c:v>83.63914650000001</c:v>
                </c:pt>
                <c:pt idx="10">
                  <c:v>100.16550549999999</c:v>
                </c:pt>
                <c:pt idx="11">
                  <c:v>125.620075</c:v>
                </c:pt>
                <c:pt idx="12">
                  <c:v>138.80791450000001</c:v>
                </c:pt>
                <c:pt idx="13">
                  <c:v>158.20395300000001</c:v>
                </c:pt>
                <c:pt idx="14">
                  <c:v>291.90710249999995</c:v>
                </c:pt>
              </c:numCache>
            </c:numRef>
          </c:yVal>
          <c:smooth val="1"/>
        </c:ser>
        <c:ser>
          <c:idx val="2"/>
          <c:order val="2"/>
          <c:tx>
            <c:strRef>
              <c:f>ReadTime!$A$4</c:f>
              <c:strCache>
                <c:ptCount val="1"/>
                <c:pt idx="0">
                  <c:v>ApacheDavixApplication</c:v>
                </c:pt>
              </c:strCache>
            </c:strRef>
          </c:tx>
          <c:spPr>
            <a:ln w="9525" cap="rnd">
              <a:solidFill>
                <a:schemeClr val="accent3"/>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cap="rnd">
                <a:solidFill>
                  <a:schemeClr val="accent3"/>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ReadTime!$B$4:$P$4</c:f>
              <c:numCache>
                <c:formatCode>General</c:formatCode>
                <c:ptCount val="15"/>
                <c:pt idx="0">
                  <c:v>7.0582908</c:v>
                </c:pt>
                <c:pt idx="1">
                  <c:v>12.3148643</c:v>
                </c:pt>
                <c:pt idx="2">
                  <c:v>18.543569399999999</c:v>
                </c:pt>
                <c:pt idx="3">
                  <c:v>38.497440699999999</c:v>
                </c:pt>
                <c:pt idx="4">
                  <c:v>102.8324368</c:v>
                </c:pt>
                <c:pt idx="5">
                  <c:v>54.650407899999998</c:v>
                </c:pt>
                <c:pt idx="6">
                  <c:v>183.56816500000002</c:v>
                </c:pt>
                <c:pt idx="7">
                  <c:v>131.98436050000001</c:v>
                </c:pt>
                <c:pt idx="8">
                  <c:v>275.70409100000001</c:v>
                </c:pt>
                <c:pt idx="9">
                  <c:v>104.6955255</c:v>
                </c:pt>
                <c:pt idx="10">
                  <c:v>124.70504799999999</c:v>
                </c:pt>
                <c:pt idx="11">
                  <c:v>138.66354849999999</c:v>
                </c:pt>
                <c:pt idx="12">
                  <c:v>169.72319300000001</c:v>
                </c:pt>
                <c:pt idx="13">
                  <c:v>173.62164150000001</c:v>
                </c:pt>
                <c:pt idx="14">
                  <c:v>939.45392600000002</c:v>
                </c:pt>
              </c:numCache>
            </c:numRef>
          </c:yVal>
          <c:smooth val="1"/>
        </c:ser>
        <c:ser>
          <c:idx val="3"/>
          <c:order val="3"/>
          <c:tx>
            <c:strRef>
              <c:f>ReadTime!$A$5</c:f>
              <c:strCache>
                <c:ptCount val="1"/>
                <c:pt idx="0">
                  <c:v>XrootDXrootdStorage</c:v>
                </c:pt>
              </c:strCache>
            </c:strRef>
          </c:tx>
          <c:spPr>
            <a:ln w="9525" cap="rnd">
              <a:solidFill>
                <a:schemeClr val="accent4"/>
              </a:solid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cap="rnd">
                <a:solidFill>
                  <a:schemeClr val="accent4"/>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ReadTime!$B$5:$P$5</c:f>
              <c:numCache>
                <c:formatCode>General</c:formatCode>
                <c:ptCount val="15"/>
                <c:pt idx="0">
                  <c:v>31.915293333330002</c:v>
                </c:pt>
                <c:pt idx="1">
                  <c:v>256.41557999999998</c:v>
                </c:pt>
                <c:pt idx="2">
                  <c:v>529.30757999999992</c:v>
                </c:pt>
                <c:pt idx="3">
                  <c:v>1055.6521200000002</c:v>
                </c:pt>
                <c:pt idx="4">
                  <c:v>1588.8771899999999</c:v>
                </c:pt>
                <c:pt idx="5">
                  <c:v>2094.6555699966702</c:v>
                </c:pt>
                <c:pt idx="6">
                  <c:v>2621.7937366699998</c:v>
                </c:pt>
                <c:pt idx="7">
                  <c:v>3281.5907761164608</c:v>
                </c:pt>
                <c:pt idx="8">
                  <c:v>4150.9483049999999</c:v>
                </c:pt>
                <c:pt idx="9">
                  <c:v>5192.5123400000002</c:v>
                </c:pt>
                <c:pt idx="10">
                  <c:v>6431.0404986787089</c:v>
                </c:pt>
                <c:pt idx="11">
                  <c:v>7885.2399043129044</c:v>
                </c:pt>
                <c:pt idx="12">
                  <c:v>9747.1181114644987</c:v>
                </c:pt>
                <c:pt idx="13">
                  <c:v>11927.762363362879</c:v>
                </c:pt>
                <c:pt idx="14">
                  <c:v>14702.42168036259</c:v>
                </c:pt>
              </c:numCache>
            </c:numRef>
          </c:yVal>
          <c:smooth val="1"/>
        </c:ser>
        <c:ser>
          <c:idx val="4"/>
          <c:order val="4"/>
          <c:tx>
            <c:strRef>
              <c:f>ReadTime!$A$6</c:f>
              <c:strCache>
                <c:ptCount val="1"/>
                <c:pt idx="0">
                  <c:v>XrootDXrootdLazy</c:v>
                </c:pt>
              </c:strCache>
            </c:strRef>
          </c:tx>
          <c:spPr>
            <a:ln w="9525" cap="rnd">
              <a:solidFill>
                <a:schemeClr val="accent5"/>
              </a:solid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cap="rnd">
                <a:solidFill>
                  <a:schemeClr val="accent5"/>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ReadTime!$B$6:$P$6</c:f>
              <c:numCache>
                <c:formatCode>General</c:formatCode>
                <c:ptCount val="15"/>
                <c:pt idx="0">
                  <c:v>6.8834999999999997</c:v>
                </c:pt>
                <c:pt idx="1">
                  <c:v>7.9214099999999998</c:v>
                </c:pt>
                <c:pt idx="2">
                  <c:v>11.57583</c:v>
                </c:pt>
                <c:pt idx="3">
                  <c:v>19.369225</c:v>
                </c:pt>
                <c:pt idx="4">
                  <c:v>26.29758999997</c:v>
                </c:pt>
                <c:pt idx="5">
                  <c:v>31.89564666663</c:v>
                </c:pt>
                <c:pt idx="6">
                  <c:v>61.974783333369999</c:v>
                </c:pt>
                <c:pt idx="7">
                  <c:v>46.120624999999997</c:v>
                </c:pt>
                <c:pt idx="8">
                  <c:v>59.97401</c:v>
                </c:pt>
                <c:pt idx="9">
                  <c:v>131.46726999999998</c:v>
                </c:pt>
                <c:pt idx="10">
                  <c:v>89.766675000000006</c:v>
                </c:pt>
                <c:pt idx="11">
                  <c:v>102.042345</c:v>
                </c:pt>
                <c:pt idx="12">
                  <c:v>115.01046000000001</c:v>
                </c:pt>
                <c:pt idx="13">
                  <c:v>135.15024</c:v>
                </c:pt>
                <c:pt idx="14">
                  <c:v>214.47589099999999</c:v>
                </c:pt>
              </c:numCache>
            </c:numRef>
          </c:yVal>
          <c:smooth val="1"/>
        </c:ser>
        <c:ser>
          <c:idx val="5"/>
          <c:order val="5"/>
          <c:tx>
            <c:strRef>
              <c:f>ReadTime!$A$7</c:f>
              <c:strCache>
                <c:ptCount val="1"/>
                <c:pt idx="0">
                  <c:v>XrootdApplication</c:v>
                </c:pt>
              </c:strCache>
            </c:strRef>
          </c:tx>
          <c:spPr>
            <a:ln w="9525" cap="rnd">
              <a:solidFill>
                <a:schemeClr val="accent6"/>
              </a:solidFill>
              <a:round/>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cap="rnd">
                <a:solidFill>
                  <a:schemeClr val="accent6"/>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ReadTime!$B$7:$P$7</c:f>
              <c:numCache>
                <c:formatCode>General</c:formatCode>
                <c:ptCount val="15"/>
                <c:pt idx="0">
                  <c:v>6.3502223333333001</c:v>
                </c:pt>
                <c:pt idx="1">
                  <c:v>13.544184500000002</c:v>
                </c:pt>
                <c:pt idx="2">
                  <c:v>14.149618499999999</c:v>
                </c:pt>
                <c:pt idx="3">
                  <c:v>23.300551500000001</c:v>
                </c:pt>
                <c:pt idx="4">
                  <c:v>33.912157666633</c:v>
                </c:pt>
                <c:pt idx="5">
                  <c:v>41.240177666633002</c:v>
                </c:pt>
                <c:pt idx="6">
                  <c:v>55.513159333300003</c:v>
                </c:pt>
                <c:pt idx="7">
                  <c:v>58.304699500000005</c:v>
                </c:pt>
                <c:pt idx="8">
                  <c:v>75.006105000000005</c:v>
                </c:pt>
                <c:pt idx="9">
                  <c:v>99.744369999999989</c:v>
                </c:pt>
                <c:pt idx="10">
                  <c:v>110.106865</c:v>
                </c:pt>
                <c:pt idx="11">
                  <c:v>135.31191499999997</c:v>
                </c:pt>
                <c:pt idx="12">
                  <c:v>143.77209999999999</c:v>
                </c:pt>
                <c:pt idx="13">
                  <c:v>155.84073999999998</c:v>
                </c:pt>
                <c:pt idx="14">
                  <c:v>1070.900887</c:v>
                </c:pt>
              </c:numCache>
            </c:numRef>
          </c:yVal>
          <c:smooth val="1"/>
        </c:ser>
        <c:ser>
          <c:idx val="6"/>
          <c:order val="6"/>
          <c:tx>
            <c:strRef>
              <c:f>ReadTime!$A$8</c:f>
              <c:strCache>
                <c:ptCount val="1"/>
                <c:pt idx="0">
                  <c:v>XrootDCurlLazy</c:v>
                </c:pt>
              </c:strCache>
            </c:strRef>
          </c:tx>
          <c:spPr>
            <a:ln w="9525" cap="rnd">
              <a:solidFill>
                <a:schemeClr val="accent1">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w="9525" cap="rnd">
                <a:solidFill>
                  <a:schemeClr val="accent1">
                    <a:lumMod val="60000"/>
                  </a:schemeClr>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ReadTime!$B$8:$P$8</c:f>
              <c:numCache>
                <c:formatCode>General</c:formatCode>
                <c:ptCount val="15"/>
                <c:pt idx="0">
                  <c:v>7.73548033333</c:v>
                </c:pt>
                <c:pt idx="1">
                  <c:v>9.6220440000000007</c:v>
                </c:pt>
                <c:pt idx="2">
                  <c:v>8.8155699999999992</c:v>
                </c:pt>
                <c:pt idx="3">
                  <c:v>14.583439</c:v>
                </c:pt>
                <c:pt idx="4">
                  <c:v>19.620536666699998</c:v>
                </c:pt>
                <c:pt idx="5">
                  <c:v>26.243590000000001</c:v>
                </c:pt>
                <c:pt idx="6">
                  <c:v>31.24230333333</c:v>
                </c:pt>
                <c:pt idx="7">
                  <c:v>39.376264999999997</c:v>
                </c:pt>
                <c:pt idx="8">
                  <c:v>62.790880000000001</c:v>
                </c:pt>
                <c:pt idx="9">
                  <c:v>176.77058</c:v>
                </c:pt>
                <c:pt idx="10">
                  <c:v>101.12257000000001</c:v>
                </c:pt>
                <c:pt idx="11">
                  <c:v>108.8719905</c:v>
                </c:pt>
                <c:pt idx="12">
                  <c:v>119.549431</c:v>
                </c:pt>
                <c:pt idx="13">
                  <c:v>131.511775</c:v>
                </c:pt>
                <c:pt idx="14">
                  <c:v>142.22807</c:v>
                </c:pt>
              </c:numCache>
            </c:numRef>
          </c:yVal>
          <c:smooth val="1"/>
        </c:ser>
        <c:ser>
          <c:idx val="7"/>
          <c:order val="7"/>
          <c:tx>
            <c:strRef>
              <c:f>ReadTime!$A$9</c:f>
              <c:strCache>
                <c:ptCount val="1"/>
                <c:pt idx="0">
                  <c:v>XrootDDavixStorage</c:v>
                </c:pt>
              </c:strCache>
            </c:strRef>
          </c:tx>
          <c:spPr>
            <a:ln w="9525" cap="rnd">
              <a:solidFill>
                <a:schemeClr val="accent2">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cap="rnd">
                <a:solidFill>
                  <a:schemeClr val="accent2">
                    <a:lumMod val="60000"/>
                  </a:schemeClr>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ReadTime!$B$9:$P$9</c:f>
              <c:numCache>
                <c:formatCode>General</c:formatCode>
                <c:ptCount val="15"/>
                <c:pt idx="0">
                  <c:v>41.271695666666666</c:v>
                </c:pt>
                <c:pt idx="1">
                  <c:v>277.11889350000001</c:v>
                </c:pt>
                <c:pt idx="2">
                  <c:v>538.49672499999997</c:v>
                </c:pt>
                <c:pt idx="3">
                  <c:v>1051.4357220000002</c:v>
                </c:pt>
                <c:pt idx="4">
                  <c:v>1557.0827613366666</c:v>
                </c:pt>
                <c:pt idx="5">
                  <c:v>1986.3391699966667</c:v>
                </c:pt>
                <c:pt idx="6">
                  <c:v>2478.6444236700004</c:v>
                </c:pt>
                <c:pt idx="7">
                  <c:v>3102.4167020549153</c:v>
                </c:pt>
                <c:pt idx="8">
                  <c:v>3899.7821965000003</c:v>
                </c:pt>
                <c:pt idx="9">
                  <c:v>4871.3662679999998</c:v>
                </c:pt>
                <c:pt idx="10">
                  <c:v>5972.8890982492421</c:v>
                </c:pt>
                <c:pt idx="11">
                  <c:v>7383.2193076929625</c:v>
                </c:pt>
                <c:pt idx="12">
                  <c:v>9035.0075141874422</c:v>
                </c:pt>
                <c:pt idx="13">
                  <c:v>11136.748562902858</c:v>
                </c:pt>
                <c:pt idx="14">
                  <c:v>13589.305026514732</c:v>
                </c:pt>
              </c:numCache>
            </c:numRef>
          </c:yVal>
          <c:smooth val="1"/>
        </c:ser>
        <c:ser>
          <c:idx val="8"/>
          <c:order val="8"/>
          <c:tx>
            <c:strRef>
              <c:f>ReadTime!$A$10</c:f>
              <c:strCache>
                <c:ptCount val="1"/>
                <c:pt idx="0">
                  <c:v>XrootDDavixLazy</c:v>
                </c:pt>
              </c:strCache>
            </c:strRef>
          </c:tx>
          <c:spPr>
            <a:ln w="9525" cap="rnd">
              <a:solidFill>
                <a:schemeClr val="accent3">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cap="rnd">
                <a:solidFill>
                  <a:schemeClr val="accent3">
                    <a:lumMod val="60000"/>
                  </a:schemeClr>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ReadTime!$B$10:$P$10</c:f>
              <c:numCache>
                <c:formatCode>General</c:formatCode>
                <c:ptCount val="15"/>
                <c:pt idx="0">
                  <c:v>4.7575590000000005</c:v>
                </c:pt>
                <c:pt idx="1">
                  <c:v>7.7077555000000002</c:v>
                </c:pt>
                <c:pt idx="2">
                  <c:v>9.1283530000000006</c:v>
                </c:pt>
                <c:pt idx="3">
                  <c:v>16.116600000000002</c:v>
                </c:pt>
                <c:pt idx="4">
                  <c:v>22.925783666700003</c:v>
                </c:pt>
                <c:pt idx="5">
                  <c:v>29.799866666633299</c:v>
                </c:pt>
                <c:pt idx="6">
                  <c:v>37.9640976666333</c:v>
                </c:pt>
                <c:pt idx="7">
                  <c:v>46.862181500000005</c:v>
                </c:pt>
                <c:pt idx="8">
                  <c:v>59.453217500000001</c:v>
                </c:pt>
                <c:pt idx="9">
                  <c:v>114.187183</c:v>
                </c:pt>
                <c:pt idx="10">
                  <c:v>86.043057500000003</c:v>
                </c:pt>
                <c:pt idx="11">
                  <c:v>98.009826000000004</c:v>
                </c:pt>
                <c:pt idx="12">
                  <c:v>114.27109900000001</c:v>
                </c:pt>
                <c:pt idx="13">
                  <c:v>130.3212355</c:v>
                </c:pt>
                <c:pt idx="14">
                  <c:v>214.47589099999999</c:v>
                </c:pt>
              </c:numCache>
            </c:numRef>
          </c:yVal>
          <c:smooth val="1"/>
        </c:ser>
        <c:ser>
          <c:idx val="9"/>
          <c:order val="9"/>
          <c:tx>
            <c:strRef>
              <c:f>ReadTime!$A$11</c:f>
              <c:strCache>
                <c:ptCount val="1"/>
                <c:pt idx="0">
                  <c:v>XrootDDavixApplication</c:v>
                </c:pt>
              </c:strCache>
            </c:strRef>
          </c:tx>
          <c:spPr>
            <a:ln w="9525" cap="rnd">
              <a:solidFill>
                <a:schemeClr val="accent4">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w="9525" cap="rnd">
                <a:solidFill>
                  <a:schemeClr val="accent4">
                    <a:lumMod val="60000"/>
                  </a:schemeClr>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ReadTime!$B$11:$P$11</c:f>
              <c:numCache>
                <c:formatCode>General</c:formatCode>
                <c:ptCount val="15"/>
                <c:pt idx="0">
                  <c:v>9.0281333333300005</c:v>
                </c:pt>
                <c:pt idx="1">
                  <c:v>70.518485000000013</c:v>
                </c:pt>
                <c:pt idx="2">
                  <c:v>57.140665999999996</c:v>
                </c:pt>
                <c:pt idx="3">
                  <c:v>103.4950195</c:v>
                </c:pt>
                <c:pt idx="4">
                  <c:v>158.98894833300031</c:v>
                </c:pt>
                <c:pt idx="5">
                  <c:v>215.88973599999971</c:v>
                </c:pt>
                <c:pt idx="6">
                  <c:v>261.47556999966628</c:v>
                </c:pt>
                <c:pt idx="7">
                  <c:v>327.31649499999997</c:v>
                </c:pt>
                <c:pt idx="8">
                  <c:v>421.34540500000003</c:v>
                </c:pt>
                <c:pt idx="9">
                  <c:v>772.36830150000003</c:v>
                </c:pt>
                <c:pt idx="10">
                  <c:v>626.46812799999998</c:v>
                </c:pt>
                <c:pt idx="11">
                  <c:v>709.58148599999993</c:v>
                </c:pt>
                <c:pt idx="12">
                  <c:v>869.38379299999997</c:v>
                </c:pt>
                <c:pt idx="13">
                  <c:v>911.47307199999989</c:v>
                </c:pt>
                <c:pt idx="14">
                  <c:v>1098.9902870000001</c:v>
                </c:pt>
              </c:numCache>
            </c:numRef>
          </c:yVal>
          <c:smooth val="1"/>
        </c:ser>
        <c:ser>
          <c:idx val="10"/>
          <c:order val="10"/>
          <c:tx>
            <c:strRef>
              <c:f>ReadTime!$A$12</c:f>
              <c:strCache>
                <c:ptCount val="1"/>
                <c:pt idx="0">
                  <c:v>ApacheCurlLazy</c:v>
                </c:pt>
              </c:strCache>
            </c:strRef>
          </c:tx>
          <c:spPr>
            <a:ln w="9525" cap="rnd">
              <a:solidFill>
                <a:schemeClr val="accent5">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w="9525" cap="rnd">
                <a:solidFill>
                  <a:schemeClr val="accent5">
                    <a:lumMod val="60000"/>
                  </a:schemeClr>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ReadTime!$B$12:$P$12</c:f>
              <c:numCache>
                <c:formatCode>General</c:formatCode>
                <c:ptCount val="15"/>
                <c:pt idx="0">
                  <c:v>8.3288659999999997</c:v>
                </c:pt>
                <c:pt idx="1">
                  <c:v>8.2142898000000013</c:v>
                </c:pt>
                <c:pt idx="2">
                  <c:v>8.6466108000000013</c:v>
                </c:pt>
                <c:pt idx="3">
                  <c:v>13.7912628</c:v>
                </c:pt>
                <c:pt idx="4">
                  <c:v>19.308366100000001</c:v>
                </c:pt>
                <c:pt idx="5">
                  <c:v>26.567625499999998</c:v>
                </c:pt>
                <c:pt idx="6">
                  <c:v>30.927569999999999</c:v>
                </c:pt>
                <c:pt idx="7">
                  <c:v>44.317509999999999</c:v>
                </c:pt>
                <c:pt idx="8">
                  <c:v>60.432249500000005</c:v>
                </c:pt>
                <c:pt idx="9">
                  <c:v>74.139600000000002</c:v>
                </c:pt>
                <c:pt idx="10">
                  <c:v>96.856864999999985</c:v>
                </c:pt>
                <c:pt idx="11">
                  <c:v>101.74930499999999</c:v>
                </c:pt>
                <c:pt idx="12">
                  <c:v>113.95521000000001</c:v>
                </c:pt>
                <c:pt idx="13">
                  <c:v>131.20195699999999</c:v>
                </c:pt>
                <c:pt idx="14">
                  <c:v>143.08892499999999</c:v>
                </c:pt>
              </c:numCache>
            </c:numRef>
          </c:yVal>
          <c:smooth val="1"/>
        </c:ser>
        <c:ser>
          <c:idx val="13"/>
          <c:order val="13"/>
          <c:tx>
            <c:strRef>
              <c:f>ReadTime!$A$15</c:f>
              <c:strCache>
                <c:ptCount val="1"/>
                <c:pt idx="0">
                  <c:v>NginxDavixStorage</c:v>
                </c:pt>
              </c:strCache>
            </c:strRef>
          </c:tx>
          <c:spPr>
            <a:ln w="9525" cap="rnd">
              <a:solidFill>
                <a:schemeClr val="accent2">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w="9525" cap="rnd">
                <a:solidFill>
                  <a:schemeClr val="accent2">
                    <a:lumMod val="80000"/>
                    <a:lumOff val="20000"/>
                  </a:schemeClr>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ReadTime!$B$15:$P$15</c:f>
              <c:numCache>
                <c:formatCode>General</c:formatCode>
                <c:ptCount val="15"/>
                <c:pt idx="0">
                  <c:v>38.642690000000002</c:v>
                </c:pt>
                <c:pt idx="1">
                  <c:v>306.27909999999997</c:v>
                </c:pt>
                <c:pt idx="2">
                  <c:v>680.09230000000002</c:v>
                </c:pt>
                <c:pt idx="3">
                  <c:v>1296.912</c:v>
                </c:pt>
                <c:pt idx="4">
                  <c:v>1912.999</c:v>
                </c:pt>
                <c:pt idx="5">
                  <c:v>2522.1309999999999</c:v>
                </c:pt>
                <c:pt idx="6">
                  <c:v>3156.8470509315071</c:v>
                </c:pt>
                <c:pt idx="7">
                  <c:v>3951.2948784083592</c:v>
                </c:pt>
                <c:pt idx="8">
                  <c:v>4998.0701120493031</c:v>
                </c:pt>
                <c:pt idx="9">
                  <c:v>6252.1956011208849</c:v>
                </c:pt>
                <c:pt idx="10">
                  <c:v>7743.4814755720508</c:v>
                </c:pt>
                <c:pt idx="11">
                  <c:v>9494.4525916192633</c:v>
                </c:pt>
                <c:pt idx="12">
                  <c:v>11736.301233345559</c:v>
                </c:pt>
                <c:pt idx="13">
                  <c:v>14361.969408325494</c:v>
                </c:pt>
                <c:pt idx="14">
                  <c:v>17702.878710113433</c:v>
                </c:pt>
              </c:numCache>
            </c:numRef>
          </c:yVal>
          <c:smooth val="1"/>
        </c:ser>
        <c:ser>
          <c:idx val="14"/>
          <c:order val="14"/>
          <c:tx>
            <c:strRef>
              <c:f>ReadTime!$A$16</c:f>
              <c:strCache>
                <c:ptCount val="1"/>
                <c:pt idx="0">
                  <c:v>NginxDavixLazy</c:v>
                </c:pt>
              </c:strCache>
            </c:strRef>
          </c:tx>
          <c:spPr>
            <a:ln w="9525" cap="rnd">
              <a:solidFill>
                <a:schemeClr val="accent3">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w="9525" cap="rnd">
                <a:solidFill>
                  <a:schemeClr val="accent3">
                    <a:lumMod val="80000"/>
                    <a:lumOff val="20000"/>
                  </a:schemeClr>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ReadTime!$B$16:$P$16</c:f>
              <c:numCache>
                <c:formatCode>General</c:formatCode>
                <c:ptCount val="15"/>
                <c:pt idx="0">
                  <c:v>5.1185130000000001</c:v>
                </c:pt>
                <c:pt idx="1">
                  <c:v>6.1248559999999994</c:v>
                </c:pt>
                <c:pt idx="2">
                  <c:v>9.2100629999999999</c:v>
                </c:pt>
                <c:pt idx="3">
                  <c:v>17.321180000000002</c:v>
                </c:pt>
                <c:pt idx="4">
                  <c:v>24.714389999999998</c:v>
                </c:pt>
                <c:pt idx="5">
                  <c:v>31.728290000000001</c:v>
                </c:pt>
                <c:pt idx="6">
                  <c:v>44.834407999999996</c:v>
                </c:pt>
                <c:pt idx="7">
                  <c:v>45.678754999999995</c:v>
                </c:pt>
                <c:pt idx="8">
                  <c:v>59.812414999999994</c:v>
                </c:pt>
                <c:pt idx="9">
                  <c:v>72.992674499999993</c:v>
                </c:pt>
                <c:pt idx="10">
                  <c:v>85.584823499999999</c:v>
                </c:pt>
                <c:pt idx="11">
                  <c:v>98.193499000000003</c:v>
                </c:pt>
                <c:pt idx="12">
                  <c:v>113.64966</c:v>
                </c:pt>
                <c:pt idx="13">
                  <c:v>136.214539</c:v>
                </c:pt>
                <c:pt idx="14">
                  <c:v>157.9804695</c:v>
                </c:pt>
              </c:numCache>
            </c:numRef>
          </c:yVal>
          <c:smooth val="1"/>
        </c:ser>
        <c:ser>
          <c:idx val="15"/>
          <c:order val="15"/>
          <c:tx>
            <c:strRef>
              <c:f>ReadTime!$A$17</c:f>
              <c:strCache>
                <c:ptCount val="1"/>
                <c:pt idx="0">
                  <c:v>NginxDavixApplication</c:v>
                </c:pt>
              </c:strCache>
            </c:strRef>
          </c:tx>
          <c:spPr>
            <a:ln w="9525" cap="rnd">
              <a:solidFill>
                <a:schemeClr val="accent4">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w="9525" cap="rnd">
                <a:solidFill>
                  <a:schemeClr val="accent4">
                    <a:lumMod val="80000"/>
                    <a:lumOff val="20000"/>
                  </a:schemeClr>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ReadTime!$B$17:$P$17</c:f>
              <c:numCache>
                <c:formatCode>General</c:formatCode>
                <c:ptCount val="15"/>
                <c:pt idx="0">
                  <c:v>8.2638808000000008</c:v>
                </c:pt>
                <c:pt idx="1">
                  <c:v>24.886736199999998</c:v>
                </c:pt>
                <c:pt idx="2">
                  <c:v>17.768604000000003</c:v>
                </c:pt>
                <c:pt idx="3">
                  <c:v>29.073370699999998</c:v>
                </c:pt>
                <c:pt idx="4">
                  <c:v>43.723313299999994</c:v>
                </c:pt>
                <c:pt idx="5">
                  <c:v>54.748913100000003</c:v>
                </c:pt>
                <c:pt idx="6">
                  <c:v>190.28315650000002</c:v>
                </c:pt>
                <c:pt idx="7">
                  <c:v>232.33122899999998</c:v>
                </c:pt>
                <c:pt idx="8">
                  <c:v>149.31226000000001</c:v>
                </c:pt>
                <c:pt idx="9">
                  <c:v>117.69652050000001</c:v>
                </c:pt>
                <c:pt idx="10">
                  <c:v>141.907477</c:v>
                </c:pt>
                <c:pt idx="11">
                  <c:v>167.718887</c:v>
                </c:pt>
                <c:pt idx="12">
                  <c:v>175.59795149999999</c:v>
                </c:pt>
                <c:pt idx="13">
                  <c:v>196.323567</c:v>
                </c:pt>
                <c:pt idx="14">
                  <c:v>740.36263350000002</c:v>
                </c:pt>
              </c:numCache>
            </c:numRef>
          </c:yVal>
          <c:smooth val="1"/>
        </c:ser>
        <c:ser>
          <c:idx val="16"/>
          <c:order val="16"/>
          <c:tx>
            <c:strRef>
              <c:f>ReadTime!$A$18</c:f>
              <c:strCache>
                <c:ptCount val="1"/>
                <c:pt idx="0">
                  <c:v>NginxCurlLazy</c:v>
                </c:pt>
              </c:strCache>
            </c:strRef>
          </c:tx>
          <c:spPr>
            <a:ln w="9525" cap="rnd">
              <a:solidFill>
                <a:schemeClr val="accent5">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w="9525" cap="rnd">
                <a:solidFill>
                  <a:schemeClr val="accent5">
                    <a:lumMod val="80000"/>
                    <a:lumOff val="20000"/>
                  </a:schemeClr>
                </a:solidFill>
                <a:round/>
              </a:ln>
              <a:effectLst>
                <a:outerShdw blurRad="57150" dist="19050" dir="5400000" algn="ctr" rotWithShape="0">
                  <a:srgbClr val="000000">
                    <a:alpha val="63000"/>
                  </a:srgbClr>
                </a:outerShdw>
              </a:effectLst>
            </c:spPr>
          </c:marker>
          <c:xVal>
            <c:numRef>
              <c:f>ReadTime!$B$1:$P$1</c:f>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f>ReadTime!$B$18:$P$18</c:f>
              <c:numCache>
                <c:formatCode>General</c:formatCode>
                <c:ptCount val="15"/>
                <c:pt idx="0">
                  <c:v>8.0925124999999998</c:v>
                </c:pt>
                <c:pt idx="1">
                  <c:v>8.3471494999999987</c:v>
                </c:pt>
                <c:pt idx="2">
                  <c:v>8.8960904999999997</c:v>
                </c:pt>
                <c:pt idx="3">
                  <c:v>14.3695483</c:v>
                </c:pt>
                <c:pt idx="4">
                  <c:v>20.208428599999998</c:v>
                </c:pt>
                <c:pt idx="5">
                  <c:v>25.996384300000003</c:v>
                </c:pt>
                <c:pt idx="6">
                  <c:v>31.764579999999999</c:v>
                </c:pt>
                <c:pt idx="7">
                  <c:v>38.248860000000001</c:v>
                </c:pt>
                <c:pt idx="8">
                  <c:v>61.114567999999998</c:v>
                </c:pt>
                <c:pt idx="9">
                  <c:v>81.482864500000005</c:v>
                </c:pt>
                <c:pt idx="10">
                  <c:v>97.321389999999994</c:v>
                </c:pt>
                <c:pt idx="11">
                  <c:v>108.27616</c:v>
                </c:pt>
                <c:pt idx="12">
                  <c:v>117.9932</c:v>
                </c:pt>
                <c:pt idx="13">
                  <c:v>131.39001199999998</c:v>
                </c:pt>
                <c:pt idx="14">
                  <c:v>148.60465550000001</c:v>
                </c:pt>
              </c:numCache>
            </c:numRef>
          </c:yVal>
          <c:smooth val="1"/>
        </c:ser>
        <c:dLbls>
          <c:showLegendKey val="0"/>
          <c:showVal val="0"/>
          <c:showCatName val="0"/>
          <c:showSerName val="0"/>
          <c:showPercent val="0"/>
          <c:showBubbleSize val="0"/>
        </c:dLbls>
        <c:axId val="415672696"/>
        <c:axId val="551919216"/>
        <c:extLst>
          <c:ext xmlns:c15="http://schemas.microsoft.com/office/drawing/2012/chart" uri="{02D57815-91ED-43cb-92C2-25804820EDAC}">
            <c15:filteredScatterSeries>
              <c15:ser>
                <c:idx val="11"/>
                <c:order val="11"/>
                <c:tx>
                  <c:strRef>
                    <c:extLst>
                      <c:ext uri="{02D57815-91ED-43cb-92C2-25804820EDAC}">
                        <c15:formulaRef>
                          <c15:sqref>ReadTime!$A$13</c15:sqref>
                        </c15:formulaRef>
                      </c:ext>
                    </c:extLst>
                    <c:strCache>
                      <c:ptCount val="1"/>
                      <c:pt idx="0">
                        <c:v>LocalLocal</c:v>
                      </c:pt>
                    </c:strCache>
                  </c:strRef>
                </c:tx>
                <c:spPr>
                  <a:ln w="9525" cap="rnd">
                    <a:solidFill>
                      <a:schemeClr val="accent6">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w="9525" cap="rnd">
                      <a:solidFill>
                        <a:schemeClr val="accent6">
                          <a:lumMod val="60000"/>
                        </a:schemeClr>
                      </a:solidFill>
                      <a:round/>
                    </a:ln>
                    <a:effectLst>
                      <a:outerShdw blurRad="57150" dist="19050" dir="5400000" algn="ctr" rotWithShape="0">
                        <a:srgbClr val="000000">
                          <a:alpha val="63000"/>
                        </a:srgbClr>
                      </a:outerShdw>
                    </a:effectLst>
                  </c:spPr>
                </c:marker>
                <c:xVal>
                  <c:numRef>
                    <c:extLst>
                      <c:ext uri="{02D57815-91ED-43cb-92C2-25804820EDAC}">
                        <c15:formulaRef>
                          <c15:sqref>ReadTime!$B$1:$P$1</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c:ext uri="{02D57815-91ED-43cb-92C2-25804820EDAC}">
                        <c15:formulaRef>
                          <c15:sqref>ReadTime!$B$13:$P$13</c15:sqref>
                        </c15:formulaRef>
                      </c:ext>
                    </c:extLst>
                    <c:numCache>
                      <c:formatCode>General</c:formatCode>
                      <c:ptCount val="15"/>
                    </c:numCache>
                  </c:numRef>
                </c:yVal>
                <c:smooth val="1"/>
              </c15:ser>
            </c15:filteredScatterSeries>
            <c15:filteredScatterSeries>
              <c15:ser>
                <c:idx val="12"/>
                <c:order val="12"/>
                <c:tx>
                  <c:strRef>
                    <c:extLst xmlns:c15="http://schemas.microsoft.com/office/drawing/2012/chart">
                      <c:ext xmlns:c15="http://schemas.microsoft.com/office/drawing/2012/chart" uri="{02D57815-91ED-43cb-92C2-25804820EDAC}">
                        <c15:formulaRef>
                          <c15:sqref>ReadTime!$A$14</c15:sqref>
                        </c15:formulaRef>
                      </c:ext>
                    </c:extLst>
                    <c:strCache>
                      <c:ptCount val="1"/>
                      <c:pt idx="0">
                        <c:v>LocalHDFS</c:v>
                      </c:pt>
                    </c:strCache>
                  </c:strRef>
                </c:tx>
                <c:spPr>
                  <a:ln w="9525" cap="rnd">
                    <a:solidFill>
                      <a:schemeClr val="accent1">
                        <a:lumMod val="80000"/>
                        <a:lumOff val="2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w="9525" cap="rnd">
                      <a:solidFill>
                        <a:schemeClr val="accent1">
                          <a:lumMod val="80000"/>
                          <a:lumOff val="20000"/>
                        </a:schemeClr>
                      </a:solidFill>
                      <a:round/>
                    </a:ln>
                    <a:effectLst>
                      <a:outerShdw blurRad="57150" dist="19050" dir="5400000" algn="ctr" rotWithShape="0">
                        <a:srgbClr val="000000">
                          <a:alpha val="63000"/>
                        </a:srgbClr>
                      </a:outerShdw>
                    </a:effectLst>
                  </c:spPr>
                </c:marker>
                <c:xVal>
                  <c:numRef>
                    <c:extLst xmlns:c15="http://schemas.microsoft.com/office/drawing/2012/chart">
                      <c:ext xmlns:c15="http://schemas.microsoft.com/office/drawing/2012/chart" uri="{02D57815-91ED-43cb-92C2-25804820EDAC}">
                        <c15:formulaRef>
                          <c15:sqref>ReadTime!$B$1:$P$1</c15:sqref>
                        </c15:formulaRef>
                      </c:ext>
                    </c:extLst>
                    <c:numCache>
                      <c:formatCode>General</c:formatCode>
                      <c:ptCount val="15"/>
                      <c:pt idx="0">
                        <c:v>0</c:v>
                      </c:pt>
                      <c:pt idx="1">
                        <c:v>2</c:v>
                      </c:pt>
                      <c:pt idx="2">
                        <c:v>5</c:v>
                      </c:pt>
                      <c:pt idx="3">
                        <c:v>10</c:v>
                      </c:pt>
                      <c:pt idx="4">
                        <c:v>15</c:v>
                      </c:pt>
                      <c:pt idx="5">
                        <c:v>20</c:v>
                      </c:pt>
                      <c:pt idx="6">
                        <c:v>25</c:v>
                      </c:pt>
                      <c:pt idx="7">
                        <c:v>30</c:v>
                      </c:pt>
                      <c:pt idx="8">
                        <c:v>40</c:v>
                      </c:pt>
                      <c:pt idx="9">
                        <c:v>50</c:v>
                      </c:pt>
                      <c:pt idx="10">
                        <c:v>60</c:v>
                      </c:pt>
                      <c:pt idx="11">
                        <c:v>70</c:v>
                      </c:pt>
                      <c:pt idx="12">
                        <c:v>80</c:v>
                      </c:pt>
                      <c:pt idx="13">
                        <c:v>90</c:v>
                      </c:pt>
                      <c:pt idx="14">
                        <c:v>100</c:v>
                      </c:pt>
                    </c:numCache>
                  </c:numRef>
                </c:xVal>
                <c:yVal>
                  <c:numRef>
                    <c:extLst xmlns:c15="http://schemas.microsoft.com/office/drawing/2012/chart">
                      <c:ext xmlns:c15="http://schemas.microsoft.com/office/drawing/2012/chart" uri="{02D57815-91ED-43cb-92C2-25804820EDAC}">
                        <c15:formulaRef>
                          <c15:sqref>ReadTime!$B$14:$P$14</c15:sqref>
                        </c15:formulaRef>
                      </c:ext>
                    </c:extLst>
                    <c:numCache>
                      <c:formatCode>General</c:formatCode>
                      <c:ptCount val="15"/>
                    </c:numCache>
                  </c:numRef>
                </c:yVal>
                <c:smooth val="1"/>
              </c15:ser>
            </c15:filteredScatterSeries>
          </c:ext>
        </c:extLst>
      </c:scatterChart>
      <c:valAx>
        <c:axId val="415672696"/>
        <c:scaling>
          <c:orientation val="minMax"/>
          <c:max val="100"/>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crossAx val="551919216"/>
        <c:crosses val="autoZero"/>
        <c:crossBetween val="midCat"/>
        <c:majorUnit val="5"/>
      </c:valAx>
      <c:valAx>
        <c:axId val="551919216"/>
        <c:scaling>
          <c:logBase val="2"/>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415672696"/>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1197"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1197"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1197"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1197"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1197"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1197"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0.0642</cdr:x>
      <cdr:y>0.46018</cdr:y>
    </cdr:from>
    <cdr:to>
      <cdr:x>0.25535</cdr:x>
      <cdr:y>0.74068</cdr:y>
    </cdr:to>
    <cdr:sp macro="" textlink="">
      <cdr:nvSpPr>
        <cdr:cNvPr id="2" name="TextBox 1"/>
        <cdr:cNvSpPr txBox="1"/>
      </cdr:nvSpPr>
      <cdr:spPr>
        <a:xfrm xmlns:a="http://schemas.openxmlformats.org/drawingml/2006/main">
          <a:off x="766268" y="2569548"/>
          <a:ext cx="2281473" cy="156625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GB" sz="3200" b="1" dirty="0" smtClean="0">
              <a:solidFill>
                <a:srgbClr val="FF0000"/>
              </a:solidFill>
            </a:rPr>
            <a:t>FDT</a:t>
          </a:r>
        </a:p>
        <a:p xmlns:a="http://schemas.openxmlformats.org/drawingml/2006/main">
          <a:r>
            <a:rPr lang="en-GB" sz="3200" b="1" dirty="0" smtClean="0">
              <a:solidFill>
                <a:srgbClr val="92D050"/>
              </a:solidFill>
            </a:rPr>
            <a:t>XRDCP</a:t>
          </a:r>
        </a:p>
        <a:p xmlns:a="http://schemas.openxmlformats.org/drawingml/2006/main">
          <a:r>
            <a:rPr lang="en-GB" sz="3200" b="1" dirty="0" smtClean="0">
              <a:solidFill>
                <a:srgbClr val="FFFF00"/>
              </a:solidFill>
            </a:rPr>
            <a:t>Curl</a:t>
          </a:r>
          <a:endParaRPr lang="en-GB" sz="3200" b="1" dirty="0">
            <a:solidFill>
              <a:srgbClr val="FFFF00"/>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FCA86A-B13D-4EA1-8825-C16BF5CFE224}" type="datetimeFigureOut">
              <a:rPr lang="en-GB" smtClean="0"/>
              <a:t>03/10/2016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23F6C4-6BD9-4BC1-A96E-5F5B12088C69}" type="slidenum">
              <a:rPr lang="en-GB" smtClean="0"/>
              <a:t>‹#›</a:t>
            </a:fld>
            <a:endParaRPr lang="en-GB"/>
          </a:p>
        </p:txBody>
      </p:sp>
    </p:spTree>
    <p:extLst>
      <p:ext uri="{BB962C8B-B14F-4D97-AF65-F5344CB8AC3E}">
        <p14:creationId xmlns:p14="http://schemas.microsoft.com/office/powerpoint/2010/main" val="1225417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1</a:t>
            </a:fld>
            <a:endParaRPr lang="en-GB"/>
          </a:p>
        </p:txBody>
      </p:sp>
    </p:spTree>
    <p:extLst>
      <p:ext uri="{BB962C8B-B14F-4D97-AF65-F5344CB8AC3E}">
        <p14:creationId xmlns:p14="http://schemas.microsoft.com/office/powerpoint/2010/main" val="3721282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2</a:t>
            </a:fld>
            <a:endParaRPr lang="en-GB"/>
          </a:p>
        </p:txBody>
      </p:sp>
    </p:spTree>
    <p:extLst>
      <p:ext uri="{BB962C8B-B14F-4D97-AF65-F5344CB8AC3E}">
        <p14:creationId xmlns:p14="http://schemas.microsoft.com/office/powerpoint/2010/main" val="1997934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3</a:t>
            </a:fld>
            <a:endParaRPr lang="en-GB"/>
          </a:p>
        </p:txBody>
      </p:sp>
    </p:spTree>
    <p:extLst>
      <p:ext uri="{BB962C8B-B14F-4D97-AF65-F5344CB8AC3E}">
        <p14:creationId xmlns:p14="http://schemas.microsoft.com/office/powerpoint/2010/main" val="3661329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4</a:t>
            </a:fld>
            <a:endParaRPr lang="en-GB"/>
          </a:p>
        </p:txBody>
      </p:sp>
    </p:spTree>
    <p:extLst>
      <p:ext uri="{BB962C8B-B14F-4D97-AF65-F5344CB8AC3E}">
        <p14:creationId xmlns:p14="http://schemas.microsoft.com/office/powerpoint/2010/main" val="189698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5</a:t>
            </a:fld>
            <a:endParaRPr lang="en-GB"/>
          </a:p>
        </p:txBody>
      </p:sp>
    </p:spTree>
    <p:extLst>
      <p:ext uri="{BB962C8B-B14F-4D97-AF65-F5344CB8AC3E}">
        <p14:creationId xmlns:p14="http://schemas.microsoft.com/office/powerpoint/2010/main" val="1195263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6</a:t>
            </a:fld>
            <a:endParaRPr lang="en-GB"/>
          </a:p>
        </p:txBody>
      </p:sp>
    </p:spTree>
    <p:extLst>
      <p:ext uri="{BB962C8B-B14F-4D97-AF65-F5344CB8AC3E}">
        <p14:creationId xmlns:p14="http://schemas.microsoft.com/office/powerpoint/2010/main" val="976468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7</a:t>
            </a:fld>
            <a:endParaRPr lang="en-GB"/>
          </a:p>
        </p:txBody>
      </p:sp>
    </p:spTree>
    <p:extLst>
      <p:ext uri="{BB962C8B-B14F-4D97-AF65-F5344CB8AC3E}">
        <p14:creationId xmlns:p14="http://schemas.microsoft.com/office/powerpoint/2010/main" val="3098737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8</a:t>
            </a:fld>
            <a:endParaRPr lang="en-GB"/>
          </a:p>
        </p:txBody>
      </p:sp>
    </p:spTree>
    <p:extLst>
      <p:ext uri="{BB962C8B-B14F-4D97-AF65-F5344CB8AC3E}">
        <p14:creationId xmlns:p14="http://schemas.microsoft.com/office/powerpoint/2010/main" val="4022711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9</a:t>
            </a:fld>
            <a:endParaRPr lang="en-GB"/>
          </a:p>
        </p:txBody>
      </p:sp>
    </p:spTree>
    <p:extLst>
      <p:ext uri="{BB962C8B-B14F-4D97-AF65-F5344CB8AC3E}">
        <p14:creationId xmlns:p14="http://schemas.microsoft.com/office/powerpoint/2010/main" val="4033673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10</a:t>
            </a:fld>
            <a:endParaRPr lang="en-GB"/>
          </a:p>
        </p:txBody>
      </p:sp>
    </p:spTree>
    <p:extLst>
      <p:ext uri="{BB962C8B-B14F-4D97-AF65-F5344CB8AC3E}">
        <p14:creationId xmlns:p14="http://schemas.microsoft.com/office/powerpoint/2010/main" val="3313851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11</a:t>
            </a:fld>
            <a:endParaRPr lang="en-GB"/>
          </a:p>
        </p:txBody>
      </p:sp>
    </p:spTree>
    <p:extLst>
      <p:ext uri="{BB962C8B-B14F-4D97-AF65-F5344CB8AC3E}">
        <p14:creationId xmlns:p14="http://schemas.microsoft.com/office/powerpoint/2010/main" val="1490652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solidFill>
                  <a:prstClr val="black"/>
                </a:solidFill>
              </a:rPr>
              <a:pPr/>
              <a:t>12</a:t>
            </a:fld>
            <a:endParaRPr lang="en-GB">
              <a:solidFill>
                <a:prstClr val="black"/>
              </a:solidFill>
            </a:endParaRPr>
          </a:p>
        </p:txBody>
      </p:sp>
    </p:spTree>
    <p:extLst>
      <p:ext uri="{BB962C8B-B14F-4D97-AF65-F5344CB8AC3E}">
        <p14:creationId xmlns:p14="http://schemas.microsoft.com/office/powerpoint/2010/main" val="84625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13</a:t>
            </a:fld>
            <a:endParaRPr lang="en-GB"/>
          </a:p>
        </p:txBody>
      </p:sp>
    </p:spTree>
    <p:extLst>
      <p:ext uri="{BB962C8B-B14F-4D97-AF65-F5344CB8AC3E}">
        <p14:creationId xmlns:p14="http://schemas.microsoft.com/office/powerpoint/2010/main" val="2206713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14</a:t>
            </a:fld>
            <a:endParaRPr lang="en-GB"/>
          </a:p>
        </p:txBody>
      </p:sp>
    </p:spTree>
    <p:extLst>
      <p:ext uri="{BB962C8B-B14F-4D97-AF65-F5344CB8AC3E}">
        <p14:creationId xmlns:p14="http://schemas.microsoft.com/office/powerpoint/2010/main" val="2297057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15</a:t>
            </a:fld>
            <a:endParaRPr lang="en-GB"/>
          </a:p>
        </p:txBody>
      </p:sp>
    </p:spTree>
    <p:extLst>
      <p:ext uri="{BB962C8B-B14F-4D97-AF65-F5344CB8AC3E}">
        <p14:creationId xmlns:p14="http://schemas.microsoft.com/office/powerpoint/2010/main" val="18389736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16</a:t>
            </a:fld>
            <a:endParaRPr lang="en-GB"/>
          </a:p>
        </p:txBody>
      </p:sp>
    </p:spTree>
    <p:extLst>
      <p:ext uri="{BB962C8B-B14F-4D97-AF65-F5344CB8AC3E}">
        <p14:creationId xmlns:p14="http://schemas.microsoft.com/office/powerpoint/2010/main" val="17573787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17</a:t>
            </a:fld>
            <a:endParaRPr lang="en-GB"/>
          </a:p>
        </p:txBody>
      </p:sp>
    </p:spTree>
    <p:extLst>
      <p:ext uri="{BB962C8B-B14F-4D97-AF65-F5344CB8AC3E}">
        <p14:creationId xmlns:p14="http://schemas.microsoft.com/office/powerpoint/2010/main" val="2216620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18</a:t>
            </a:fld>
            <a:endParaRPr lang="en-GB"/>
          </a:p>
        </p:txBody>
      </p:sp>
    </p:spTree>
    <p:extLst>
      <p:ext uri="{BB962C8B-B14F-4D97-AF65-F5344CB8AC3E}">
        <p14:creationId xmlns:p14="http://schemas.microsoft.com/office/powerpoint/2010/main" val="302145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19</a:t>
            </a:fld>
            <a:endParaRPr lang="en-GB"/>
          </a:p>
        </p:txBody>
      </p:sp>
    </p:spTree>
    <p:extLst>
      <p:ext uri="{BB962C8B-B14F-4D97-AF65-F5344CB8AC3E}">
        <p14:creationId xmlns:p14="http://schemas.microsoft.com/office/powerpoint/2010/main" val="41137132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20</a:t>
            </a:fld>
            <a:endParaRPr lang="en-GB"/>
          </a:p>
        </p:txBody>
      </p:sp>
    </p:spTree>
    <p:extLst>
      <p:ext uri="{BB962C8B-B14F-4D97-AF65-F5344CB8AC3E}">
        <p14:creationId xmlns:p14="http://schemas.microsoft.com/office/powerpoint/2010/main" val="37615167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823F6C4-6BD9-4BC1-A96E-5F5B12088C69}" type="slidenum">
              <a:rPr lang="en-GB" smtClean="0"/>
              <a:t>21</a:t>
            </a:fld>
            <a:endParaRPr lang="en-GB"/>
          </a:p>
        </p:txBody>
      </p:sp>
    </p:spTree>
    <p:extLst>
      <p:ext uri="{BB962C8B-B14F-4D97-AF65-F5344CB8AC3E}">
        <p14:creationId xmlns:p14="http://schemas.microsoft.com/office/powerpoint/2010/main" val="1243813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r>
              <a:rPr lang="en-US" smtClean="0"/>
              <a:t>13/10/2016</a:t>
            </a:r>
            <a:endParaRPr lang="en-GB"/>
          </a:p>
        </p:txBody>
      </p:sp>
      <p:sp>
        <p:nvSpPr>
          <p:cNvPr id="5" name="Footer Placeholder 4"/>
          <p:cNvSpPr>
            <a:spLocks noGrp="1"/>
          </p:cNvSpPr>
          <p:nvPr>
            <p:ph type="ftr" sz="quarter" idx="11"/>
          </p:nvPr>
        </p:nvSpPr>
        <p:spPr/>
        <p:txBody>
          <a:bodyPr/>
          <a:lstStyle/>
          <a:p>
            <a:r>
              <a:rPr lang="en-GB" smtClean="0"/>
              <a:t>Jean-Roch Vlimant &amp; Justas Balcas</a:t>
            </a:r>
            <a:endParaRPr lang="en-GB"/>
          </a:p>
        </p:txBody>
      </p:sp>
      <p:sp>
        <p:nvSpPr>
          <p:cNvPr id="6" name="Slide Number Placeholder 5"/>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4291810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r>
              <a:rPr lang="en-US" smtClean="0"/>
              <a:t>13/10/2016</a:t>
            </a:r>
            <a:endParaRPr lang="en-GB"/>
          </a:p>
        </p:txBody>
      </p:sp>
      <p:sp>
        <p:nvSpPr>
          <p:cNvPr id="5" name="Footer Placeholder 4"/>
          <p:cNvSpPr>
            <a:spLocks noGrp="1"/>
          </p:cNvSpPr>
          <p:nvPr>
            <p:ph type="ftr" sz="quarter" idx="11"/>
          </p:nvPr>
        </p:nvSpPr>
        <p:spPr/>
        <p:txBody>
          <a:bodyPr/>
          <a:lstStyle/>
          <a:p>
            <a:r>
              <a:rPr lang="en-GB" smtClean="0"/>
              <a:t>Jean-Roch Vlimant &amp; Justas Balcas</a:t>
            </a:r>
            <a:endParaRPr lang="en-GB"/>
          </a:p>
        </p:txBody>
      </p:sp>
      <p:sp>
        <p:nvSpPr>
          <p:cNvPr id="6" name="Slide Number Placeholder 5"/>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355421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13/10/2016</a:t>
            </a:r>
            <a:endParaRPr lang="en-GB"/>
          </a:p>
        </p:txBody>
      </p:sp>
      <p:sp>
        <p:nvSpPr>
          <p:cNvPr id="5" name="Footer Placeholder 4"/>
          <p:cNvSpPr>
            <a:spLocks noGrp="1"/>
          </p:cNvSpPr>
          <p:nvPr>
            <p:ph type="ftr" sz="quarter" idx="11"/>
          </p:nvPr>
        </p:nvSpPr>
        <p:spPr/>
        <p:txBody>
          <a:bodyPr/>
          <a:lstStyle/>
          <a:p>
            <a:r>
              <a:rPr lang="en-GB" smtClean="0"/>
              <a:t>Jean-Roch Vlimant &amp; Justas Balcas</a:t>
            </a:r>
            <a:endParaRPr lang="en-GB"/>
          </a:p>
        </p:txBody>
      </p:sp>
      <p:sp>
        <p:nvSpPr>
          <p:cNvPr id="6" name="Slide Number Placeholder 5"/>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140118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r>
              <a:rPr lang="en-US" smtClean="0"/>
              <a:t>13/10/2016</a:t>
            </a:r>
            <a:endParaRPr lang="en-GB"/>
          </a:p>
        </p:txBody>
      </p:sp>
      <p:sp>
        <p:nvSpPr>
          <p:cNvPr id="6" name="Footer Placeholder 5"/>
          <p:cNvSpPr>
            <a:spLocks noGrp="1"/>
          </p:cNvSpPr>
          <p:nvPr>
            <p:ph type="ftr" sz="quarter" idx="11"/>
          </p:nvPr>
        </p:nvSpPr>
        <p:spPr/>
        <p:txBody>
          <a:bodyPr/>
          <a:lstStyle/>
          <a:p>
            <a:r>
              <a:rPr lang="en-GB" smtClean="0"/>
              <a:t>Jean-Roch Vlimant &amp; Justas Balcas</a:t>
            </a:r>
            <a:endParaRPr lang="en-GB"/>
          </a:p>
        </p:txBody>
      </p:sp>
      <p:sp>
        <p:nvSpPr>
          <p:cNvPr id="7" name="Slide Number Placeholder 6"/>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3082280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r>
              <a:rPr lang="en-US" smtClean="0"/>
              <a:t>13/10/2016</a:t>
            </a:r>
            <a:endParaRPr lang="en-GB"/>
          </a:p>
        </p:txBody>
      </p:sp>
      <p:sp>
        <p:nvSpPr>
          <p:cNvPr id="8" name="Footer Placeholder 7"/>
          <p:cNvSpPr>
            <a:spLocks noGrp="1"/>
          </p:cNvSpPr>
          <p:nvPr>
            <p:ph type="ftr" sz="quarter" idx="11"/>
          </p:nvPr>
        </p:nvSpPr>
        <p:spPr/>
        <p:txBody>
          <a:bodyPr/>
          <a:lstStyle/>
          <a:p>
            <a:r>
              <a:rPr lang="en-GB" smtClean="0"/>
              <a:t>Jean-Roch Vlimant &amp; Justas Balcas</a:t>
            </a:r>
            <a:endParaRPr lang="en-GB"/>
          </a:p>
        </p:txBody>
      </p:sp>
      <p:sp>
        <p:nvSpPr>
          <p:cNvPr id="9" name="Slide Number Placeholder 8"/>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1554949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r>
              <a:rPr lang="en-US" smtClean="0"/>
              <a:t>13/10/2016</a:t>
            </a:r>
            <a:endParaRPr lang="en-GB"/>
          </a:p>
        </p:txBody>
      </p:sp>
      <p:sp>
        <p:nvSpPr>
          <p:cNvPr id="4" name="Footer Placeholder 3"/>
          <p:cNvSpPr>
            <a:spLocks noGrp="1"/>
          </p:cNvSpPr>
          <p:nvPr>
            <p:ph type="ftr" sz="quarter" idx="11"/>
          </p:nvPr>
        </p:nvSpPr>
        <p:spPr/>
        <p:txBody>
          <a:bodyPr/>
          <a:lstStyle/>
          <a:p>
            <a:r>
              <a:rPr lang="en-GB" smtClean="0"/>
              <a:t>Jean-Roch Vlimant &amp; Justas Balcas</a:t>
            </a:r>
            <a:endParaRPr lang="en-GB"/>
          </a:p>
        </p:txBody>
      </p:sp>
      <p:sp>
        <p:nvSpPr>
          <p:cNvPr id="5" name="Slide Number Placeholder 4"/>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2668872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13/10/2016</a:t>
            </a:r>
            <a:endParaRPr lang="en-GB"/>
          </a:p>
        </p:txBody>
      </p:sp>
      <p:sp>
        <p:nvSpPr>
          <p:cNvPr id="3" name="Footer Placeholder 2"/>
          <p:cNvSpPr>
            <a:spLocks noGrp="1"/>
          </p:cNvSpPr>
          <p:nvPr>
            <p:ph type="ftr" sz="quarter" idx="11"/>
          </p:nvPr>
        </p:nvSpPr>
        <p:spPr/>
        <p:txBody>
          <a:bodyPr/>
          <a:lstStyle/>
          <a:p>
            <a:r>
              <a:rPr lang="en-GB" smtClean="0"/>
              <a:t>Jean-Roch Vlimant &amp; Justas Balcas</a:t>
            </a:r>
            <a:endParaRPr lang="en-GB"/>
          </a:p>
        </p:txBody>
      </p:sp>
      <p:sp>
        <p:nvSpPr>
          <p:cNvPr id="4" name="Slide Number Placeholder 3"/>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426111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13/10/2016</a:t>
            </a:r>
            <a:endParaRPr lang="en-GB"/>
          </a:p>
        </p:txBody>
      </p:sp>
      <p:sp>
        <p:nvSpPr>
          <p:cNvPr id="6" name="Footer Placeholder 5"/>
          <p:cNvSpPr>
            <a:spLocks noGrp="1"/>
          </p:cNvSpPr>
          <p:nvPr>
            <p:ph type="ftr" sz="quarter" idx="11"/>
          </p:nvPr>
        </p:nvSpPr>
        <p:spPr/>
        <p:txBody>
          <a:bodyPr/>
          <a:lstStyle/>
          <a:p>
            <a:r>
              <a:rPr lang="en-GB" smtClean="0"/>
              <a:t>Jean-Roch Vlimant &amp; Justas Balcas</a:t>
            </a:r>
            <a:endParaRPr lang="en-GB"/>
          </a:p>
        </p:txBody>
      </p:sp>
      <p:sp>
        <p:nvSpPr>
          <p:cNvPr id="7" name="Slide Number Placeholder 6"/>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2576047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13/10/2016</a:t>
            </a:r>
            <a:endParaRPr lang="en-GB"/>
          </a:p>
        </p:txBody>
      </p:sp>
      <p:sp>
        <p:nvSpPr>
          <p:cNvPr id="6" name="Footer Placeholder 5"/>
          <p:cNvSpPr>
            <a:spLocks noGrp="1"/>
          </p:cNvSpPr>
          <p:nvPr>
            <p:ph type="ftr" sz="quarter" idx="11"/>
          </p:nvPr>
        </p:nvSpPr>
        <p:spPr/>
        <p:txBody>
          <a:bodyPr/>
          <a:lstStyle/>
          <a:p>
            <a:r>
              <a:rPr lang="en-GB" smtClean="0"/>
              <a:t>Jean-Roch Vlimant &amp; Justas Balcas</a:t>
            </a:r>
            <a:endParaRPr lang="en-GB"/>
          </a:p>
        </p:txBody>
      </p:sp>
      <p:sp>
        <p:nvSpPr>
          <p:cNvPr id="7" name="Slide Number Placeholder 6"/>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2310088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r>
              <a:rPr lang="en-US" smtClean="0"/>
              <a:t>13/10/2016</a:t>
            </a:r>
            <a:endParaRPr lang="en-GB"/>
          </a:p>
        </p:txBody>
      </p:sp>
      <p:sp>
        <p:nvSpPr>
          <p:cNvPr id="5" name="Footer Placeholder 4"/>
          <p:cNvSpPr>
            <a:spLocks noGrp="1"/>
          </p:cNvSpPr>
          <p:nvPr>
            <p:ph type="ftr" sz="quarter" idx="11"/>
          </p:nvPr>
        </p:nvSpPr>
        <p:spPr/>
        <p:txBody>
          <a:bodyPr/>
          <a:lstStyle/>
          <a:p>
            <a:r>
              <a:rPr lang="en-GB" smtClean="0"/>
              <a:t>Jean-Roch Vlimant &amp; Justas Balcas</a:t>
            </a:r>
            <a:endParaRPr lang="en-GB"/>
          </a:p>
        </p:txBody>
      </p:sp>
      <p:sp>
        <p:nvSpPr>
          <p:cNvPr id="6" name="Slide Number Placeholder 5"/>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2016641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r>
              <a:rPr lang="en-US" smtClean="0"/>
              <a:t>13/10/2016</a:t>
            </a:r>
            <a:endParaRPr lang="en-GB"/>
          </a:p>
        </p:txBody>
      </p:sp>
      <p:sp>
        <p:nvSpPr>
          <p:cNvPr id="5" name="Footer Placeholder 4"/>
          <p:cNvSpPr>
            <a:spLocks noGrp="1"/>
          </p:cNvSpPr>
          <p:nvPr>
            <p:ph type="ftr" sz="quarter" idx="11"/>
          </p:nvPr>
        </p:nvSpPr>
        <p:spPr/>
        <p:txBody>
          <a:bodyPr/>
          <a:lstStyle/>
          <a:p>
            <a:r>
              <a:rPr lang="en-GB" smtClean="0"/>
              <a:t>Jean-Roch Vlimant &amp; Justas Balcas</a:t>
            </a:r>
            <a:endParaRPr lang="en-GB"/>
          </a:p>
        </p:txBody>
      </p:sp>
      <p:sp>
        <p:nvSpPr>
          <p:cNvPr id="6" name="Slide Number Placeholder 5"/>
          <p:cNvSpPr>
            <a:spLocks noGrp="1"/>
          </p:cNvSpPr>
          <p:nvPr>
            <p:ph type="sldNum" sz="quarter" idx="12"/>
          </p:nvPr>
        </p:nvSpPr>
        <p:spPr/>
        <p:txBody>
          <a:bodyPr/>
          <a:lstStyle/>
          <a:p>
            <a:fld id="{F16C04A8-3194-4548-96B6-07828A9153A5}" type="slidenum">
              <a:rPr lang="en-GB" smtClean="0"/>
              <a:t>‹#›</a:t>
            </a:fld>
            <a:endParaRPr lang="en-GB"/>
          </a:p>
        </p:txBody>
      </p:sp>
    </p:spTree>
    <p:extLst>
      <p:ext uri="{BB962C8B-B14F-4D97-AF65-F5344CB8AC3E}">
        <p14:creationId xmlns:p14="http://schemas.microsoft.com/office/powerpoint/2010/main" val="1379943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13/10/2016</a:t>
            </a:r>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smtClean="0"/>
              <a:t>Jean-Roch Vlimant &amp; Justas Balcas</a:t>
            </a: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6C04A8-3194-4548-96B6-07828A9153A5}" type="slidenum">
              <a:rPr lang="en-GB" smtClean="0"/>
              <a:t>‹#›</a:t>
            </a:fld>
            <a:endParaRPr lang="en-GB"/>
          </a:p>
        </p:txBody>
      </p:sp>
    </p:spTree>
    <p:extLst>
      <p:ext uri="{BB962C8B-B14F-4D97-AF65-F5344CB8AC3E}">
        <p14:creationId xmlns:p14="http://schemas.microsoft.com/office/powerpoint/2010/main" val="2116388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mailto:E5-2670@2.60Ghz" TargetMode="External"/><Relationship Id="rId4" Type="http://schemas.openxmlformats.org/officeDocument/2006/relationships/hyperlink" Target="mailto:X5670@2.93Ghz"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chart" Target="../charts/char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hart" Target="../charts/char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hart" Target="../charts/char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004771"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1231231" y="2734558"/>
            <a:ext cx="9793706" cy="1354217"/>
          </a:xfrm>
          <a:prstGeom prst="rect">
            <a:avLst/>
          </a:prstGeom>
        </p:spPr>
        <p:txBody>
          <a:bodyPr wrap="square">
            <a:spAutoFit/>
          </a:bodyPr>
          <a:lstStyle/>
          <a:p>
            <a:pPr algn="ctr"/>
            <a:r>
              <a:rPr lang="en-GB" sz="3200" b="1" dirty="0">
                <a:solidFill>
                  <a:srgbClr val="FF6E1E"/>
                </a:solidFill>
              </a:rPr>
              <a:t>HTTP as a Data Access Protocol: Trials with </a:t>
            </a:r>
            <a:r>
              <a:rPr lang="en-GB" sz="3200" b="1" dirty="0" err="1">
                <a:solidFill>
                  <a:srgbClr val="FF6E1E"/>
                </a:solidFill>
              </a:rPr>
              <a:t>XrootD</a:t>
            </a:r>
            <a:r>
              <a:rPr lang="en-GB" sz="3200" b="1" dirty="0">
                <a:solidFill>
                  <a:srgbClr val="FF6E1E"/>
                </a:solidFill>
              </a:rPr>
              <a:t/>
            </a:r>
            <a:br>
              <a:rPr lang="en-GB" sz="3200" b="1" dirty="0">
                <a:solidFill>
                  <a:srgbClr val="FF6E1E"/>
                </a:solidFill>
              </a:rPr>
            </a:br>
            <a:r>
              <a:rPr lang="en-GB" sz="3200" b="1" dirty="0">
                <a:solidFill>
                  <a:srgbClr val="FF6E1E"/>
                </a:solidFill>
              </a:rPr>
              <a:t>in CMS’ AAA Project</a:t>
            </a:r>
          </a:p>
          <a:p>
            <a:pPr algn="ctr" fontAlgn="base">
              <a:spcAft>
                <a:spcPts val="600"/>
              </a:spcAft>
              <a:buClr>
                <a:srgbClr val="800000"/>
              </a:buClr>
              <a:buSzPct val="90000"/>
              <a:defRPr/>
            </a:pPr>
            <a:r>
              <a:rPr lang="en-US" b="1" dirty="0" smtClean="0">
                <a:solidFill>
                  <a:srgbClr val="FF6E1E"/>
                </a:solidFill>
                <a:effectLst>
                  <a:outerShdw blurRad="38100" dist="38100" dir="2700000" algn="tl">
                    <a:srgbClr val="000000">
                      <a:alpha val="43137"/>
                    </a:srgbClr>
                  </a:outerShdw>
                </a:effectLst>
              </a:rPr>
              <a:t>J.R. Vlimant, </a:t>
            </a:r>
            <a:r>
              <a:rPr lang="en-US" b="1" dirty="0" smtClean="0">
                <a:effectLst>
                  <a:outerShdw blurRad="38100" dist="38100" dir="2700000" algn="tl">
                    <a:srgbClr val="000000">
                      <a:alpha val="43137"/>
                    </a:srgbClr>
                  </a:outerShdw>
                </a:effectLst>
              </a:rPr>
              <a:t>J</a:t>
            </a:r>
            <a:r>
              <a:rPr lang="en-US" b="1" dirty="0">
                <a:effectLst>
                  <a:outerShdw blurRad="38100" dist="38100" dir="2700000" algn="tl">
                    <a:srgbClr val="000000">
                      <a:alpha val="43137"/>
                    </a:srgbClr>
                  </a:outerShdw>
                </a:effectLst>
              </a:rPr>
              <a:t>. </a:t>
            </a:r>
            <a:r>
              <a:rPr lang="en-US" b="1" dirty="0" smtClean="0">
                <a:effectLst>
                  <a:outerShdw blurRad="38100" dist="38100" dir="2700000" algn="tl">
                    <a:srgbClr val="000000">
                      <a:alpha val="43137"/>
                    </a:srgbClr>
                  </a:outerShdw>
                </a:effectLst>
              </a:rPr>
              <a:t>Balcas on behalf of the entire team</a:t>
            </a:r>
            <a:endParaRPr lang="en-US" b="1" dirty="0">
              <a:effectLst>
                <a:outerShdw blurRad="38100" dist="38100" dir="2700000" algn="tl">
                  <a:srgbClr val="000000">
                    <a:alpha val="43137"/>
                  </a:srgbClr>
                </a:outerShdw>
              </a:effectLst>
            </a:endParaRPr>
          </a:p>
        </p:txBody>
      </p:sp>
      <p:sp>
        <p:nvSpPr>
          <p:cNvPr id="4" name="Rectangle 3"/>
          <p:cNvSpPr/>
          <p:nvPr/>
        </p:nvSpPr>
        <p:spPr>
          <a:xfrm>
            <a:off x="1017402" y="5786549"/>
            <a:ext cx="10221363" cy="661720"/>
          </a:xfrm>
          <a:prstGeom prst="rect">
            <a:avLst/>
          </a:prstGeom>
        </p:spPr>
        <p:txBody>
          <a:bodyPr wrap="square">
            <a:spAutoFit/>
          </a:bodyPr>
          <a:lstStyle/>
          <a:p>
            <a:pPr algn="ctr" fontAlgn="base">
              <a:spcAft>
                <a:spcPts val="600"/>
              </a:spcAft>
              <a:buClr>
                <a:srgbClr val="800000"/>
              </a:buClr>
              <a:buSzPct val="90000"/>
              <a:defRPr/>
            </a:pPr>
            <a:r>
              <a:rPr lang="en-GB" sz="1600" dirty="0">
                <a:effectLst>
                  <a:outerShdw blurRad="38100" dist="38100" dir="2700000" algn="tl">
                    <a:srgbClr val="000000">
                      <a:alpha val="43137"/>
                    </a:srgbClr>
                  </a:outerShdw>
                </a:effectLst>
              </a:rPr>
              <a:t>The 22</a:t>
            </a:r>
            <a:r>
              <a:rPr lang="en-GB" sz="1600" baseline="30000" dirty="0">
                <a:effectLst>
                  <a:outerShdw blurRad="38100" dist="38100" dir="2700000" algn="tl">
                    <a:srgbClr val="000000">
                      <a:alpha val="43137"/>
                    </a:srgbClr>
                  </a:outerShdw>
                </a:effectLst>
              </a:rPr>
              <a:t>nd</a:t>
            </a:r>
            <a:r>
              <a:rPr lang="en-GB" sz="1600" dirty="0">
                <a:effectLst>
                  <a:outerShdw blurRad="38100" dist="38100" dir="2700000" algn="tl">
                    <a:srgbClr val="000000">
                      <a:alpha val="43137"/>
                    </a:srgbClr>
                  </a:outerShdw>
                </a:effectLst>
              </a:rPr>
              <a:t> International Conference on Computing in High Energy and Nuclear Physics, CHEP </a:t>
            </a:r>
            <a:r>
              <a:rPr lang="en-GB" sz="1600" dirty="0" smtClean="0">
                <a:effectLst>
                  <a:outerShdw blurRad="38100" dist="38100" dir="2700000" algn="tl">
                    <a:srgbClr val="000000">
                      <a:alpha val="43137"/>
                    </a:srgbClr>
                  </a:outerShdw>
                </a:effectLst>
              </a:rPr>
              <a:t>2016</a:t>
            </a:r>
          </a:p>
          <a:p>
            <a:pPr algn="ctr" fontAlgn="base">
              <a:spcAft>
                <a:spcPts val="600"/>
              </a:spcAft>
              <a:buClr>
                <a:srgbClr val="800000"/>
              </a:buClr>
              <a:buSzPct val="90000"/>
              <a:defRPr/>
            </a:pPr>
            <a:r>
              <a:rPr lang="en-US" sz="1600" dirty="0" smtClean="0">
                <a:effectLst>
                  <a:outerShdw blurRad="38100" dist="38100" dir="2700000" algn="tl">
                    <a:srgbClr val="000000">
                      <a:alpha val="43137"/>
                    </a:srgbClr>
                  </a:outerShdw>
                </a:effectLst>
              </a:rPr>
              <a:t>San Francisco, </a:t>
            </a:r>
            <a:r>
              <a:rPr lang="en-US" sz="1600" dirty="0" smtClean="0">
                <a:effectLst>
                  <a:outerShdw blurRad="38100" dist="38100" dir="2700000" algn="tl">
                    <a:srgbClr val="000000">
                      <a:alpha val="43137"/>
                    </a:srgbClr>
                  </a:outerShdw>
                </a:effectLst>
              </a:rPr>
              <a:t>13</a:t>
            </a:r>
            <a:r>
              <a:rPr lang="en-US" sz="1600" dirty="0" smtClean="0">
                <a:effectLst>
                  <a:outerShdw blurRad="38100" dist="38100" dir="2700000" algn="tl">
                    <a:srgbClr val="000000">
                      <a:alpha val="43137"/>
                    </a:srgbClr>
                  </a:outerShdw>
                </a:effectLst>
              </a:rPr>
              <a:t>/10/2016</a:t>
            </a:r>
            <a:endParaRPr lang="en-US" sz="1600" dirty="0">
              <a:effectLst>
                <a:outerShdw blurRad="38100" dist="38100" dir="2700000" algn="tl">
                  <a:srgbClr val="000000">
                    <a:alpha val="43137"/>
                  </a:srgbClr>
                </a:outerShdw>
              </a:effectLst>
            </a:endParaRPr>
          </a:p>
        </p:txBody>
      </p:sp>
      <p:pic>
        <p:nvPicPr>
          <p:cNvPr id="7"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49062" y="-1736"/>
            <a:ext cx="855709" cy="855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526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9860"/>
            <a:ext cx="9010739" cy="862096"/>
          </a:xfrm>
        </p:spPr>
        <p:txBody>
          <a:bodyPr>
            <a:noAutofit/>
          </a:bodyPr>
          <a:lstStyle/>
          <a:p>
            <a:r>
              <a:rPr lang="en-GB" sz="4000" b="1" dirty="0" smtClean="0">
                <a:solidFill>
                  <a:schemeClr val="tx1">
                    <a:lumMod val="75000"/>
                    <a:lumOff val="25000"/>
                  </a:schemeClr>
                </a:solidFill>
                <a:cs typeface="Arial" panose="020B0604020202020204" pitchFamily="34" charset="0"/>
              </a:rPr>
              <a:t>Motivations and Goals</a:t>
            </a:r>
            <a:endParaRPr lang="en-GB" sz="4000" b="1" dirty="0">
              <a:solidFill>
                <a:schemeClr val="tx1">
                  <a:lumMod val="75000"/>
                  <a:lumOff val="25000"/>
                </a:schemeClr>
              </a:solidFill>
              <a:cs typeface="Arial" panose="020B0604020202020204" pitchFamily="34" charset="0"/>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026"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12" name="Date Placeholder 11"/>
          <p:cNvSpPr>
            <a:spLocks noGrp="1"/>
          </p:cNvSpPr>
          <p:nvPr>
            <p:ph type="dt" sz="half" idx="10"/>
          </p:nvPr>
        </p:nvSpPr>
        <p:spPr/>
        <p:txBody>
          <a:bodyPr/>
          <a:lstStyle/>
          <a:p>
            <a:r>
              <a:rPr lang="en-US" smtClean="0"/>
              <a:t>13/10/2016</a:t>
            </a:r>
            <a:endParaRPr lang="en-GB"/>
          </a:p>
        </p:txBody>
      </p:sp>
      <p:sp>
        <p:nvSpPr>
          <p:cNvPr id="14" name="Footer Placeholder 13"/>
          <p:cNvSpPr>
            <a:spLocks noGrp="1"/>
          </p:cNvSpPr>
          <p:nvPr>
            <p:ph type="ftr" sz="quarter" idx="11"/>
          </p:nvPr>
        </p:nvSpPr>
        <p:spPr/>
        <p:txBody>
          <a:bodyPr/>
          <a:lstStyle/>
          <a:p>
            <a:r>
              <a:rPr lang="en-GB" smtClean="0"/>
              <a:t>Jean-Roch Vlimant &amp; Justas Balcas</a:t>
            </a:r>
            <a:endParaRPr lang="en-GB"/>
          </a:p>
        </p:txBody>
      </p:sp>
      <p:sp>
        <p:nvSpPr>
          <p:cNvPr id="17" name="Slide Number Placeholder 16"/>
          <p:cNvSpPr>
            <a:spLocks noGrp="1"/>
          </p:cNvSpPr>
          <p:nvPr>
            <p:ph type="sldNum" sz="quarter" idx="12"/>
          </p:nvPr>
        </p:nvSpPr>
        <p:spPr/>
        <p:txBody>
          <a:bodyPr/>
          <a:lstStyle/>
          <a:p>
            <a:fld id="{F16C04A8-3194-4548-96B6-07828A9153A5}" type="slidenum">
              <a:rPr lang="en-GB" smtClean="0"/>
              <a:t>2</a:t>
            </a:fld>
            <a:endParaRPr lang="en-GB"/>
          </a:p>
        </p:txBody>
      </p:sp>
      <p:sp>
        <p:nvSpPr>
          <p:cNvPr id="19" name="Rectangle 18"/>
          <p:cNvSpPr/>
          <p:nvPr/>
        </p:nvSpPr>
        <p:spPr>
          <a:xfrm>
            <a:off x="160419" y="852235"/>
            <a:ext cx="11566359" cy="4873129"/>
          </a:xfrm>
          <a:prstGeom prst="rect">
            <a:avLst/>
          </a:prstGeom>
        </p:spPr>
        <p:txBody>
          <a:bodyPr wrap="square">
            <a:spAutoFit/>
          </a:bodyPr>
          <a:lstStyle/>
          <a:p>
            <a:pPr marL="457200" indent="-457200">
              <a:spcBef>
                <a:spcPts val="0"/>
              </a:spcBef>
              <a:spcAft>
                <a:spcPts val="700"/>
              </a:spcAft>
              <a:buFont typeface="Wingdings" panose="05000000000000000000" pitchFamily="2" charset="2"/>
              <a:buChar char="q"/>
            </a:pPr>
            <a:r>
              <a:rPr lang="en-US" sz="2400" dirty="0" smtClean="0">
                <a:cs typeface="Arial" panose="020B0604020202020204" pitchFamily="34" charset="0"/>
              </a:rPr>
              <a:t>Motivations:</a:t>
            </a:r>
          </a:p>
          <a:p>
            <a:pPr marL="914400" lvl="1" indent="-457200">
              <a:spcAft>
                <a:spcPts val="700"/>
              </a:spcAft>
              <a:buFont typeface="Wingdings" panose="05000000000000000000" pitchFamily="2" charset="2"/>
              <a:buChar char="Ø"/>
            </a:pPr>
            <a:r>
              <a:rPr lang="en-US" sz="2400" dirty="0" smtClean="0">
                <a:cs typeface="Arial" panose="020B0604020202020204" pitchFamily="34" charset="0"/>
              </a:rPr>
              <a:t>CMS Workflow processing requires remote reads (Pileup mixing)</a:t>
            </a:r>
          </a:p>
          <a:p>
            <a:pPr marL="914400" lvl="1" indent="-457200">
              <a:spcAft>
                <a:spcPts val="700"/>
              </a:spcAft>
              <a:buFont typeface="Wingdings" panose="05000000000000000000" pitchFamily="2" charset="2"/>
              <a:buChar char="Ø"/>
            </a:pPr>
            <a:r>
              <a:rPr lang="en-US" sz="2400" dirty="0" err="1" smtClean="0">
                <a:cs typeface="Arial" panose="020B0604020202020204" pitchFamily="34" charset="0"/>
              </a:rPr>
              <a:t>XrootD</a:t>
            </a:r>
            <a:r>
              <a:rPr lang="en-US" sz="2400" dirty="0" smtClean="0">
                <a:cs typeface="Arial" panose="020B0604020202020204" pitchFamily="34" charset="0"/>
              </a:rPr>
              <a:t> is not supported everywhere (Opportunistic)</a:t>
            </a:r>
            <a:endParaRPr lang="en-US" sz="2400" dirty="0" smtClean="0">
              <a:cs typeface="Arial" panose="020B0604020202020204" pitchFamily="34" charset="0"/>
            </a:endParaRPr>
          </a:p>
          <a:p>
            <a:pPr marL="914400" lvl="1" indent="-457200">
              <a:spcAft>
                <a:spcPts val="700"/>
              </a:spcAft>
              <a:buFont typeface="Wingdings" panose="05000000000000000000" pitchFamily="2" charset="2"/>
              <a:buChar char="Ø"/>
            </a:pPr>
            <a:r>
              <a:rPr lang="en-US" sz="2400" dirty="0" smtClean="0">
                <a:cs typeface="Arial" panose="020B0604020202020204" pitchFamily="34" charset="0"/>
              </a:rPr>
              <a:t>Not all sites support </a:t>
            </a:r>
            <a:r>
              <a:rPr lang="en-US" sz="2400" dirty="0" err="1" smtClean="0">
                <a:cs typeface="Arial" panose="020B0604020202020204" pitchFamily="34" charset="0"/>
              </a:rPr>
              <a:t>XRootD</a:t>
            </a:r>
            <a:endParaRPr lang="en-US" sz="2400" dirty="0" smtClean="0">
              <a:cs typeface="Arial" panose="020B0604020202020204" pitchFamily="34" charset="0"/>
            </a:endParaRPr>
          </a:p>
          <a:p>
            <a:pPr marL="457200" indent="-457200">
              <a:spcBef>
                <a:spcPts val="0"/>
              </a:spcBef>
              <a:spcAft>
                <a:spcPts val="700"/>
              </a:spcAft>
              <a:buFont typeface="Wingdings" panose="05000000000000000000" pitchFamily="2" charset="2"/>
              <a:buChar char="q"/>
            </a:pPr>
            <a:r>
              <a:rPr lang="en-US" sz="2400" dirty="0" smtClean="0">
                <a:cs typeface="Arial" panose="020B0604020202020204" pitchFamily="34" charset="0"/>
              </a:rPr>
              <a:t>Goals:</a:t>
            </a:r>
          </a:p>
          <a:p>
            <a:pPr marL="914400" lvl="1" indent="-457200">
              <a:spcAft>
                <a:spcPts val="700"/>
              </a:spcAft>
              <a:buFont typeface="Wingdings" panose="05000000000000000000" pitchFamily="2" charset="2"/>
              <a:buChar char="Ø"/>
            </a:pPr>
            <a:r>
              <a:rPr lang="en-US" sz="2400" dirty="0">
                <a:solidFill>
                  <a:schemeClr val="tx1">
                    <a:lumMod val="75000"/>
                    <a:lumOff val="25000"/>
                  </a:schemeClr>
                </a:solidFill>
                <a:cs typeface="Arial" panose="020B0604020202020204" pitchFamily="34" charset="0"/>
              </a:rPr>
              <a:t>Demonstrate ability of using HTTP data federations </a:t>
            </a:r>
            <a:r>
              <a:rPr lang="en-US" sz="2400" b="1" dirty="0" smtClean="0">
                <a:solidFill>
                  <a:srgbClr val="FF6E1E"/>
                </a:solidFill>
                <a:cs typeface="Arial" panose="020B0604020202020204" pitchFamily="34" charset="0"/>
              </a:rPr>
              <a:t>in </a:t>
            </a:r>
            <a:r>
              <a:rPr lang="en-US" sz="2400" b="1" dirty="0">
                <a:solidFill>
                  <a:srgbClr val="FF6E1E"/>
                </a:solidFill>
                <a:cs typeface="Arial" panose="020B0604020202020204" pitchFamily="34" charset="0"/>
              </a:rPr>
              <a:t>a manner analogous to today’s AAA </a:t>
            </a:r>
            <a:r>
              <a:rPr lang="en-US" sz="2400" b="1" dirty="0" smtClean="0">
                <a:solidFill>
                  <a:srgbClr val="FF6E1E"/>
                </a:solidFill>
                <a:cs typeface="Arial" panose="020B0604020202020204" pitchFamily="34" charset="0"/>
              </a:rPr>
              <a:t>infrastructure</a:t>
            </a:r>
            <a:r>
              <a:rPr lang="en-US" sz="2400" dirty="0" smtClean="0">
                <a:solidFill>
                  <a:srgbClr val="FF6E1E"/>
                </a:solidFill>
                <a:cs typeface="Arial" panose="020B0604020202020204" pitchFamily="34" charset="0"/>
              </a:rPr>
              <a:t>.</a:t>
            </a:r>
            <a:endParaRPr lang="en-US" sz="2400" dirty="0" smtClean="0">
              <a:solidFill>
                <a:schemeClr val="bg1">
                  <a:lumMod val="50000"/>
                </a:schemeClr>
              </a:solidFill>
              <a:cs typeface="Arial" panose="020B0604020202020204" pitchFamily="34" charset="0"/>
            </a:endParaRPr>
          </a:p>
          <a:p>
            <a:pPr marL="914400" lvl="1" indent="-457200">
              <a:spcAft>
                <a:spcPts val="700"/>
              </a:spcAft>
              <a:buFont typeface="Wingdings" panose="05000000000000000000" pitchFamily="2" charset="2"/>
              <a:buChar char="Ø"/>
            </a:pPr>
            <a:r>
              <a:rPr lang="en-US" sz="2400" dirty="0" smtClean="0">
                <a:solidFill>
                  <a:schemeClr val="tx1">
                    <a:lumMod val="75000"/>
                    <a:lumOff val="25000"/>
                  </a:schemeClr>
                </a:solidFill>
                <a:cs typeface="Arial" panose="020B0604020202020204" pitchFamily="34" charset="0"/>
              </a:rPr>
              <a:t>Improve </a:t>
            </a:r>
            <a:r>
              <a:rPr lang="en-US" sz="2400" dirty="0">
                <a:solidFill>
                  <a:schemeClr val="tx1">
                    <a:lumMod val="75000"/>
                    <a:lumOff val="25000"/>
                  </a:schemeClr>
                </a:solidFill>
                <a:cs typeface="Arial" panose="020B0604020202020204" pitchFamily="34" charset="0"/>
              </a:rPr>
              <a:t>CMSSW’s HTTP support </a:t>
            </a:r>
            <a:r>
              <a:rPr lang="en-US" sz="2400" b="1" dirty="0">
                <a:solidFill>
                  <a:srgbClr val="FF6E1E"/>
                </a:solidFill>
                <a:cs typeface="Arial" panose="020B0604020202020204" pitchFamily="34" charset="0"/>
              </a:rPr>
              <a:t>in case we see increased use of HTTP as a transport protocol</a:t>
            </a:r>
            <a:r>
              <a:rPr lang="en-US" sz="2400" b="1" dirty="0" smtClean="0">
                <a:solidFill>
                  <a:srgbClr val="FF6E1E"/>
                </a:solidFill>
                <a:cs typeface="Arial" panose="020B0604020202020204" pitchFamily="34" charset="0"/>
              </a:rPr>
              <a:t>.</a:t>
            </a:r>
            <a:r>
              <a:rPr lang="en-US" sz="2400" dirty="0" smtClean="0">
                <a:solidFill>
                  <a:schemeClr val="bg1">
                    <a:lumMod val="50000"/>
                  </a:schemeClr>
                </a:solidFill>
                <a:cs typeface="Arial" panose="020B0604020202020204" pitchFamily="34" charset="0"/>
              </a:rPr>
              <a:t> </a:t>
            </a:r>
          </a:p>
          <a:p>
            <a:pPr marL="914400" lvl="1" indent="-457200">
              <a:spcAft>
                <a:spcPts val="700"/>
              </a:spcAft>
              <a:buFont typeface="Wingdings" panose="05000000000000000000" pitchFamily="2" charset="2"/>
              <a:buChar char="Ø"/>
            </a:pPr>
            <a:r>
              <a:rPr lang="en-US" sz="2400" dirty="0" smtClean="0">
                <a:cs typeface="Arial" panose="020B0604020202020204" pitchFamily="34" charset="0"/>
              </a:rPr>
              <a:t>Extended to S3 and </a:t>
            </a:r>
            <a:r>
              <a:rPr lang="en-US" sz="2400" dirty="0" err="1" smtClean="0">
                <a:cs typeface="Arial" panose="020B0604020202020204" pitchFamily="34" charset="0"/>
              </a:rPr>
              <a:t>WebDav</a:t>
            </a:r>
            <a:r>
              <a:rPr lang="en-US" sz="2400" dirty="0" smtClean="0">
                <a:cs typeface="Arial" panose="020B0604020202020204" pitchFamily="34" charset="0"/>
              </a:rPr>
              <a:t>.</a:t>
            </a:r>
          </a:p>
          <a:p>
            <a:pPr marL="457200" indent="-457200">
              <a:spcBef>
                <a:spcPts val="0"/>
              </a:spcBef>
              <a:spcAft>
                <a:spcPts val="700"/>
              </a:spcAft>
              <a:buFont typeface="Wingdings" panose="05000000000000000000" pitchFamily="2" charset="2"/>
              <a:buChar char="q"/>
            </a:pPr>
            <a:endParaRPr lang="en-US" sz="2400" dirty="0">
              <a:solidFill>
                <a:schemeClr val="bg1">
                  <a:lumMod val="50000"/>
                </a:schemeClr>
              </a:solidFill>
              <a:cs typeface="Arial" panose="020B0604020202020204" pitchFamily="34" charset="0"/>
            </a:endParaRPr>
          </a:p>
        </p:txBody>
      </p:sp>
    </p:spTree>
    <p:extLst>
      <p:ext uri="{BB962C8B-B14F-4D97-AF65-F5344CB8AC3E}">
        <p14:creationId xmlns:p14="http://schemas.microsoft.com/office/powerpoint/2010/main" val="1993600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9860"/>
            <a:ext cx="9010739" cy="862096"/>
          </a:xfrm>
        </p:spPr>
        <p:txBody>
          <a:bodyPr>
            <a:noAutofit/>
          </a:bodyPr>
          <a:lstStyle/>
          <a:p>
            <a:r>
              <a:rPr lang="en-GB" sz="4000" b="1" dirty="0" smtClean="0">
                <a:solidFill>
                  <a:schemeClr val="tx1">
                    <a:lumMod val="75000"/>
                    <a:lumOff val="25000"/>
                  </a:schemeClr>
                </a:solidFill>
                <a:cs typeface="Arial" panose="020B0604020202020204" pitchFamily="34" charset="0"/>
              </a:rPr>
              <a:t>Any Data, Any Time, Anywhere</a:t>
            </a:r>
            <a:endParaRPr lang="en-GB" sz="4000" b="1" dirty="0">
              <a:solidFill>
                <a:schemeClr val="tx1">
                  <a:lumMod val="75000"/>
                  <a:lumOff val="25000"/>
                </a:schemeClr>
              </a:solidFill>
              <a:cs typeface="Arial" panose="020B0604020202020204" pitchFamily="34" charset="0"/>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5" name="Picture 4"/>
          <p:cNvPicPr>
            <a:picLocks noChangeAspect="1"/>
          </p:cNvPicPr>
          <p:nvPr/>
        </p:nvPicPr>
        <p:blipFill>
          <a:blip r:embed="rId4"/>
          <a:stretch>
            <a:fillRect/>
          </a:stretch>
        </p:blipFill>
        <p:spPr>
          <a:xfrm>
            <a:off x="118390" y="872292"/>
            <a:ext cx="7555329" cy="3466267"/>
          </a:xfrm>
          <a:prstGeom prst="rect">
            <a:avLst/>
          </a:prstGeom>
        </p:spPr>
      </p:pic>
      <p:sp>
        <p:nvSpPr>
          <p:cNvPr id="4" name="Rectangle 3"/>
          <p:cNvSpPr/>
          <p:nvPr/>
        </p:nvSpPr>
        <p:spPr>
          <a:xfrm>
            <a:off x="160420" y="4174294"/>
            <a:ext cx="7513299" cy="2031325"/>
          </a:xfrm>
          <a:prstGeom prst="rect">
            <a:avLst/>
          </a:prstGeom>
        </p:spPr>
        <p:txBody>
          <a:bodyPr wrap="square">
            <a:spAutoFit/>
          </a:bodyPr>
          <a:lstStyle/>
          <a:p>
            <a:r>
              <a:rPr lang="en-GB" b="1" dirty="0"/>
              <a:t>AAA data </a:t>
            </a:r>
            <a:r>
              <a:rPr lang="en-GB" b="1" dirty="0" smtClean="0"/>
              <a:t>federation</a:t>
            </a:r>
            <a:r>
              <a:rPr lang="en-GB" dirty="0" smtClean="0"/>
              <a:t> based </a:t>
            </a:r>
            <a:r>
              <a:rPr lang="en-GB" dirty="0"/>
              <a:t>on </a:t>
            </a:r>
            <a:r>
              <a:rPr lang="en-GB" dirty="0" err="1" smtClean="0"/>
              <a:t>XRootD</a:t>
            </a:r>
            <a:r>
              <a:rPr lang="en-GB" dirty="0" smtClean="0"/>
              <a:t>, </a:t>
            </a:r>
            <a:r>
              <a:rPr lang="en-GB" dirty="0"/>
              <a:t>this system provides uniform remote data access to all of CMS’s on-disk </a:t>
            </a:r>
            <a:r>
              <a:rPr lang="en-GB" dirty="0" smtClean="0"/>
              <a:t>data.</a:t>
            </a:r>
          </a:p>
          <a:p>
            <a:r>
              <a:rPr lang="en-GB" b="1" dirty="0" smtClean="0"/>
              <a:t>Workflow </a:t>
            </a:r>
            <a:r>
              <a:rPr lang="en-GB" b="1" dirty="0"/>
              <a:t>management software: </a:t>
            </a:r>
            <a:r>
              <a:rPr lang="en-GB" dirty="0" err="1" smtClean="0"/>
              <a:t>HTCondor</a:t>
            </a:r>
            <a:r>
              <a:rPr lang="en-GB" dirty="0" smtClean="0"/>
              <a:t> and </a:t>
            </a:r>
            <a:r>
              <a:rPr lang="en-GB" dirty="0" err="1"/>
              <a:t>glideinWMS</a:t>
            </a:r>
            <a:r>
              <a:rPr lang="en-GB" dirty="0"/>
              <a:t> provides computing resource </a:t>
            </a:r>
            <a:r>
              <a:rPr lang="en-GB" dirty="0" smtClean="0"/>
              <a:t>provisioning.</a:t>
            </a:r>
          </a:p>
          <a:p>
            <a:r>
              <a:rPr lang="en-GB" b="1" dirty="0" smtClean="0"/>
              <a:t>Global </a:t>
            </a:r>
            <a:r>
              <a:rPr lang="en-GB" b="1" dirty="0"/>
              <a:t>file systems: </a:t>
            </a:r>
            <a:r>
              <a:rPr lang="en-GB" dirty="0"/>
              <a:t>To distribute CMS software, we utilize </a:t>
            </a:r>
            <a:r>
              <a:rPr lang="en-GB" dirty="0" err="1"/>
              <a:t>CernVM</a:t>
            </a:r>
            <a:r>
              <a:rPr lang="en-GB" dirty="0"/>
              <a:t> File System (CVMFS</a:t>
            </a:r>
            <a:r>
              <a:rPr lang="en-GB" dirty="0" smtClean="0"/>
              <a:t>) </a:t>
            </a:r>
            <a:r>
              <a:rPr lang="en-GB" dirty="0"/>
              <a:t>and have integrated it with </a:t>
            </a:r>
            <a:r>
              <a:rPr lang="en-GB" dirty="0" smtClean="0"/>
              <a:t>Parrot to </a:t>
            </a:r>
            <a:r>
              <a:rPr lang="en-GB" dirty="0"/>
              <a:t>emulate it on hosts where it is otherwise unavailable.</a:t>
            </a: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3050" y="872292"/>
            <a:ext cx="4588949" cy="2850623"/>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3050" y="3652244"/>
            <a:ext cx="4588949" cy="2785650"/>
          </a:xfrm>
          <a:prstGeom prst="rect">
            <a:avLst/>
          </a:prstGeom>
        </p:spPr>
      </p:pic>
      <p:pic>
        <p:nvPicPr>
          <p:cNvPr id="1026" name="Picture 2" descr="Image result for cms logo"/>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12" name="Date Placeholder 11"/>
          <p:cNvSpPr>
            <a:spLocks noGrp="1"/>
          </p:cNvSpPr>
          <p:nvPr>
            <p:ph type="dt" sz="half" idx="10"/>
          </p:nvPr>
        </p:nvSpPr>
        <p:spPr/>
        <p:txBody>
          <a:bodyPr/>
          <a:lstStyle/>
          <a:p>
            <a:r>
              <a:rPr lang="en-US" smtClean="0"/>
              <a:t>13/10/2016</a:t>
            </a:r>
            <a:endParaRPr lang="en-GB"/>
          </a:p>
        </p:txBody>
      </p:sp>
      <p:sp>
        <p:nvSpPr>
          <p:cNvPr id="14" name="Footer Placeholder 13"/>
          <p:cNvSpPr>
            <a:spLocks noGrp="1"/>
          </p:cNvSpPr>
          <p:nvPr>
            <p:ph type="ftr" sz="quarter" idx="11"/>
          </p:nvPr>
        </p:nvSpPr>
        <p:spPr/>
        <p:txBody>
          <a:bodyPr/>
          <a:lstStyle/>
          <a:p>
            <a:r>
              <a:rPr lang="en-GB" smtClean="0"/>
              <a:t>Jean-Roch Vlimant &amp; Justas Balcas</a:t>
            </a:r>
            <a:endParaRPr lang="en-GB"/>
          </a:p>
        </p:txBody>
      </p:sp>
      <p:sp>
        <p:nvSpPr>
          <p:cNvPr id="17" name="Slide Number Placeholder 16"/>
          <p:cNvSpPr>
            <a:spLocks noGrp="1"/>
          </p:cNvSpPr>
          <p:nvPr>
            <p:ph type="sldNum" sz="quarter" idx="12"/>
          </p:nvPr>
        </p:nvSpPr>
        <p:spPr/>
        <p:txBody>
          <a:bodyPr/>
          <a:lstStyle/>
          <a:p>
            <a:fld id="{F16C04A8-3194-4548-96B6-07828A9153A5}" type="slidenum">
              <a:rPr lang="en-GB" smtClean="0"/>
              <a:t>3</a:t>
            </a:fld>
            <a:endParaRPr lang="en-GB"/>
          </a:p>
        </p:txBody>
      </p:sp>
    </p:spTree>
    <p:extLst>
      <p:ext uri="{BB962C8B-B14F-4D97-AF65-F5344CB8AC3E}">
        <p14:creationId xmlns:p14="http://schemas.microsoft.com/office/powerpoint/2010/main" val="40635215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981582" y="4433480"/>
            <a:ext cx="8000618" cy="1966149"/>
          </a:xfrm>
          <a:prstGeom prst="rect">
            <a:avLst/>
          </a:prstGeom>
        </p:spPr>
      </p:pic>
      <p:sp>
        <p:nvSpPr>
          <p:cNvPr id="3" name="Title 2"/>
          <p:cNvSpPr>
            <a:spLocks noGrp="1"/>
          </p:cNvSpPr>
          <p:nvPr>
            <p:ph type="title"/>
          </p:nvPr>
        </p:nvSpPr>
        <p:spPr>
          <a:xfrm>
            <a:off x="160421" y="-9860"/>
            <a:ext cx="8592552" cy="862096"/>
          </a:xfrm>
        </p:spPr>
        <p:txBody>
          <a:bodyPr>
            <a:noAutofit/>
          </a:bodyPr>
          <a:lstStyle/>
          <a:p>
            <a:r>
              <a:rPr lang="en-GB" sz="3200" b="1" dirty="0" smtClean="0">
                <a:solidFill>
                  <a:schemeClr val="tx1">
                    <a:lumMod val="75000"/>
                    <a:lumOff val="25000"/>
                  </a:schemeClr>
                </a:solidFill>
              </a:rPr>
              <a:t>HTTP Data Federation Project in CMS </a:t>
            </a:r>
            <a:r>
              <a:rPr lang="en-GB" sz="3200" b="1" dirty="0" smtClean="0">
                <a:solidFill>
                  <a:schemeClr val="tx1">
                    <a:lumMod val="75000"/>
                    <a:lumOff val="25000"/>
                  </a:schemeClr>
                </a:solidFill>
              </a:rPr>
              <a:t>(Operational)</a:t>
            </a:r>
            <a:endParaRPr lang="en-GB" sz="32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160419" y="852235"/>
            <a:ext cx="11566359" cy="3677930"/>
          </a:xfrm>
          <a:prstGeom prst="rect">
            <a:avLst/>
          </a:prstGeom>
        </p:spPr>
        <p:txBody>
          <a:bodyPr wrap="square">
            <a:spAutoFit/>
          </a:bodyPr>
          <a:lstStyle/>
          <a:p>
            <a:pPr marL="342900" indent="-342900">
              <a:spcBef>
                <a:spcPts val="0"/>
              </a:spcBef>
              <a:spcAft>
                <a:spcPts val="600"/>
              </a:spcAft>
              <a:buFont typeface="Wingdings" panose="05000000000000000000" pitchFamily="2" charset="2"/>
              <a:buChar char="ü"/>
            </a:pPr>
            <a:r>
              <a:rPr lang="en-US" sz="2200" b="1" dirty="0">
                <a:solidFill>
                  <a:schemeClr val="tx1">
                    <a:lumMod val="75000"/>
                    <a:lumOff val="25000"/>
                  </a:schemeClr>
                </a:solidFill>
              </a:rPr>
              <a:t>Deliverables: Operational</a:t>
            </a:r>
          </a:p>
          <a:p>
            <a:pPr marL="742950" lvl="1" indent="-342900">
              <a:spcBef>
                <a:spcPts val="0"/>
              </a:spcBef>
              <a:spcAft>
                <a:spcPts val="600"/>
              </a:spcAft>
              <a:buFont typeface="+mj-lt"/>
              <a:buAutoNum type="alphaUcPeriod"/>
            </a:pPr>
            <a:r>
              <a:rPr lang="en-US" dirty="0">
                <a:solidFill>
                  <a:schemeClr val="tx1">
                    <a:lumMod val="75000"/>
                    <a:lumOff val="25000"/>
                  </a:schemeClr>
                </a:solidFill>
              </a:rPr>
              <a:t>Improve support infrastructure at Caltech for data federations</a:t>
            </a:r>
            <a:r>
              <a:rPr lang="en-US" dirty="0" smtClean="0">
                <a:solidFill>
                  <a:schemeClr val="tx1">
                    <a:lumMod val="75000"/>
                    <a:lumOff val="25000"/>
                  </a:schemeClr>
                </a:solidFill>
              </a:rPr>
              <a:t>; </a:t>
            </a:r>
            <a:r>
              <a:rPr lang="en-US" dirty="0" smtClean="0">
                <a:solidFill>
                  <a:srgbClr val="FF6E1E"/>
                </a:solidFill>
              </a:rPr>
              <a:t>Aim </a:t>
            </a:r>
            <a:r>
              <a:rPr lang="en-US" dirty="0">
                <a:solidFill>
                  <a:srgbClr val="FF6E1E"/>
                </a:solidFill>
              </a:rPr>
              <a:t>for a system that can saturate 80 </a:t>
            </a:r>
            <a:r>
              <a:rPr lang="en-US" dirty="0" err="1" smtClean="0">
                <a:solidFill>
                  <a:srgbClr val="FF6E1E"/>
                </a:solidFill>
              </a:rPr>
              <a:t>Gbps</a:t>
            </a:r>
            <a:endParaRPr lang="en-US" dirty="0">
              <a:solidFill>
                <a:srgbClr val="FF6E1E"/>
              </a:solidFill>
            </a:endParaRPr>
          </a:p>
          <a:p>
            <a:pPr marL="742950" lvl="1" indent="-342900">
              <a:spcBef>
                <a:spcPts val="0"/>
              </a:spcBef>
              <a:spcAft>
                <a:spcPts val="600"/>
              </a:spcAft>
              <a:buFont typeface="+mj-lt"/>
              <a:buAutoNum type="alphaUcPeriod"/>
            </a:pPr>
            <a:r>
              <a:rPr lang="en-US" dirty="0" smtClean="0">
                <a:solidFill>
                  <a:schemeClr val="tx1">
                    <a:lumMod val="75000"/>
                    <a:lumOff val="25000"/>
                  </a:schemeClr>
                </a:solidFill>
              </a:rPr>
              <a:t>Enable </a:t>
            </a:r>
            <a:r>
              <a:rPr lang="en-US" dirty="0">
                <a:solidFill>
                  <a:schemeClr val="tx1">
                    <a:lumMod val="75000"/>
                    <a:lumOff val="25000"/>
                  </a:schemeClr>
                </a:solidFill>
              </a:rPr>
              <a:t>HTTP support at the US redirector and at the Caltech </a:t>
            </a:r>
            <a:r>
              <a:rPr lang="en-US" dirty="0" smtClean="0">
                <a:solidFill>
                  <a:schemeClr val="tx1">
                    <a:lumMod val="75000"/>
                    <a:lumOff val="25000"/>
                  </a:schemeClr>
                </a:solidFill>
              </a:rPr>
              <a:t>site. </a:t>
            </a:r>
            <a:r>
              <a:rPr lang="en-US" dirty="0" smtClean="0">
                <a:solidFill>
                  <a:srgbClr val="FF6E1E"/>
                </a:solidFill>
              </a:rPr>
              <a:t>In </a:t>
            </a:r>
            <a:r>
              <a:rPr lang="en-US" dirty="0">
                <a:solidFill>
                  <a:srgbClr val="FF6E1E"/>
                </a:solidFill>
              </a:rPr>
              <a:t>collaboration with AAA and Caltech </a:t>
            </a:r>
            <a:r>
              <a:rPr lang="en-US" dirty="0" smtClean="0">
                <a:solidFill>
                  <a:srgbClr val="FF6E1E"/>
                </a:solidFill>
              </a:rPr>
              <a:t>T2</a:t>
            </a:r>
            <a:endParaRPr lang="en-US" dirty="0">
              <a:solidFill>
                <a:srgbClr val="FF6E1E"/>
              </a:solidFill>
            </a:endParaRPr>
          </a:p>
          <a:p>
            <a:pPr marL="630238" lvl="1" indent="-230188">
              <a:spcBef>
                <a:spcPts val="0"/>
              </a:spcBef>
              <a:spcAft>
                <a:spcPts val="600"/>
              </a:spcAft>
              <a:buFont typeface="Wingdings" panose="05000000000000000000" pitchFamily="2" charset="2"/>
              <a:buChar char="§"/>
            </a:pPr>
            <a:endParaRPr lang="en-US" b="1" dirty="0" smtClean="0">
              <a:solidFill>
                <a:schemeClr val="bg1">
                  <a:lumMod val="50000"/>
                </a:schemeClr>
              </a:solidFill>
            </a:endParaRPr>
          </a:p>
          <a:p>
            <a:pPr marL="400050" indent="-457200">
              <a:spcAft>
                <a:spcPts val="600"/>
              </a:spcAft>
              <a:buFont typeface="+mj-lt"/>
              <a:buAutoNum type="alphaUcPeriod"/>
            </a:pPr>
            <a:r>
              <a:rPr lang="en-GB" sz="1600" b="1" dirty="0" smtClean="0">
                <a:solidFill>
                  <a:schemeClr val="accent6">
                    <a:lumMod val="75000"/>
                  </a:schemeClr>
                </a:solidFill>
              </a:rPr>
              <a:t>New Infrastructure</a:t>
            </a:r>
            <a:r>
              <a:rPr lang="en-GB" sz="1600" b="1" dirty="0" smtClean="0">
                <a:solidFill>
                  <a:schemeClr val="accent6">
                    <a:lumMod val="75000"/>
                  </a:schemeClr>
                </a:solidFill>
              </a:rPr>
              <a:t>:</a:t>
            </a:r>
            <a:endParaRPr lang="en-GB" sz="1600" b="1" dirty="0" smtClean="0">
              <a:solidFill>
                <a:schemeClr val="accent6">
                  <a:lumMod val="75000"/>
                </a:schemeClr>
              </a:solidFill>
            </a:endParaRPr>
          </a:p>
          <a:p>
            <a:pPr marL="685800" lvl="1" indent="-285750">
              <a:spcAft>
                <a:spcPts val="600"/>
              </a:spcAft>
              <a:buFont typeface="Wingdings" panose="05000000000000000000" pitchFamily="2" charset="2"/>
              <a:buChar char="Ø"/>
            </a:pPr>
            <a:r>
              <a:rPr lang="en-GB" sz="1600" dirty="0" smtClean="0">
                <a:solidFill>
                  <a:schemeClr val="accent6">
                    <a:lumMod val="75000"/>
                  </a:schemeClr>
                </a:solidFill>
              </a:rPr>
              <a:t>Started </a:t>
            </a:r>
            <a:r>
              <a:rPr lang="en-GB" sz="1600" dirty="0">
                <a:solidFill>
                  <a:schemeClr val="accent6">
                    <a:lumMod val="75000"/>
                  </a:schemeClr>
                </a:solidFill>
              </a:rPr>
              <a:t>from 1 </a:t>
            </a:r>
            <a:r>
              <a:rPr lang="en-GB" sz="1600" dirty="0" err="1" smtClean="0">
                <a:solidFill>
                  <a:schemeClr val="accent6">
                    <a:lumMod val="75000"/>
                  </a:schemeClr>
                </a:solidFill>
              </a:rPr>
              <a:t>XR</a:t>
            </a:r>
            <a:r>
              <a:rPr lang="en-GB" sz="1600" dirty="0" err="1" smtClean="0">
                <a:solidFill>
                  <a:schemeClr val="accent6">
                    <a:lumMod val="75000"/>
                  </a:schemeClr>
                </a:solidFill>
              </a:rPr>
              <a:t>ootD</a:t>
            </a:r>
            <a:r>
              <a:rPr lang="en-GB" sz="1600" dirty="0" smtClean="0">
                <a:solidFill>
                  <a:schemeClr val="accent6">
                    <a:lumMod val="75000"/>
                  </a:schemeClr>
                </a:solidFill>
              </a:rPr>
              <a:t> </a:t>
            </a:r>
            <a:r>
              <a:rPr lang="en-GB" sz="1600" dirty="0">
                <a:solidFill>
                  <a:schemeClr val="accent6">
                    <a:lumMod val="75000"/>
                  </a:schemeClr>
                </a:solidFill>
              </a:rPr>
              <a:t>server at 10Gbps and moved to 8 active </a:t>
            </a:r>
            <a:r>
              <a:rPr lang="en-GB" sz="1600" dirty="0" err="1">
                <a:solidFill>
                  <a:schemeClr val="accent6">
                    <a:lumMod val="75000"/>
                  </a:schemeClr>
                </a:solidFill>
              </a:rPr>
              <a:t>xrootd</a:t>
            </a:r>
            <a:r>
              <a:rPr lang="en-GB" sz="1600" dirty="0">
                <a:solidFill>
                  <a:schemeClr val="accent6">
                    <a:lumMod val="75000"/>
                  </a:schemeClr>
                </a:solidFill>
              </a:rPr>
              <a:t> servers total: </a:t>
            </a:r>
            <a:r>
              <a:rPr lang="en-GB" sz="1600" b="1" dirty="0">
                <a:solidFill>
                  <a:schemeClr val="accent6">
                    <a:lumMod val="75000"/>
                  </a:schemeClr>
                </a:solidFill>
              </a:rPr>
              <a:t>4 production + 4 </a:t>
            </a:r>
            <a:r>
              <a:rPr lang="en-GB" sz="1600" b="1" dirty="0" smtClean="0">
                <a:solidFill>
                  <a:schemeClr val="accent6">
                    <a:lumMod val="75000"/>
                  </a:schemeClr>
                </a:solidFill>
              </a:rPr>
              <a:t>testbed</a:t>
            </a:r>
          </a:p>
          <a:p>
            <a:pPr marL="685800" lvl="1" indent="-285750">
              <a:spcAft>
                <a:spcPts val="600"/>
              </a:spcAft>
              <a:buFont typeface="Wingdings" panose="05000000000000000000" pitchFamily="2" charset="2"/>
              <a:buChar char="Ø"/>
            </a:pPr>
            <a:r>
              <a:rPr lang="en-GB" sz="1600" dirty="0">
                <a:solidFill>
                  <a:schemeClr val="accent6">
                    <a:lumMod val="75000"/>
                  </a:schemeClr>
                </a:solidFill>
              </a:rPr>
              <a:t>Set up production testbed, added an SSD to </a:t>
            </a:r>
            <a:r>
              <a:rPr lang="en-GB" sz="1600" dirty="0" smtClean="0">
                <a:solidFill>
                  <a:schemeClr val="accent6">
                    <a:lumMod val="75000"/>
                  </a:schemeClr>
                </a:solidFill>
              </a:rPr>
              <a:t>one of the nodes </a:t>
            </a:r>
            <a:r>
              <a:rPr lang="en-GB" sz="1600" dirty="0">
                <a:solidFill>
                  <a:schemeClr val="accent6">
                    <a:lumMod val="75000"/>
                  </a:schemeClr>
                </a:solidFill>
              </a:rPr>
              <a:t>to test local FS </a:t>
            </a:r>
            <a:r>
              <a:rPr lang="en-GB" sz="1600" dirty="0" smtClean="0">
                <a:solidFill>
                  <a:schemeClr val="accent6">
                    <a:lumMod val="75000"/>
                  </a:schemeClr>
                </a:solidFill>
              </a:rPr>
              <a:t>performance</a:t>
            </a:r>
          </a:p>
          <a:p>
            <a:pPr marL="685800" lvl="1" indent="-285750">
              <a:spcAft>
                <a:spcPts val="600"/>
              </a:spcAft>
              <a:buFont typeface="Wingdings" panose="05000000000000000000" pitchFamily="2" charset="2"/>
              <a:buChar char="Ø"/>
            </a:pPr>
            <a:r>
              <a:rPr lang="en-GB" sz="1600" dirty="0" smtClean="0">
                <a:solidFill>
                  <a:schemeClr val="accent6">
                    <a:lumMod val="75000"/>
                  </a:schemeClr>
                </a:solidFill>
              </a:rPr>
              <a:t>New </a:t>
            </a:r>
            <a:r>
              <a:rPr lang="en-GB" sz="1600" b="1" dirty="0" smtClean="0">
                <a:solidFill>
                  <a:schemeClr val="accent6">
                    <a:lumMod val="75000"/>
                  </a:schemeClr>
                </a:solidFill>
              </a:rPr>
              <a:t>100Gbps switch between CACR and </a:t>
            </a:r>
            <a:r>
              <a:rPr lang="en-GB" sz="1600" b="1" dirty="0" err="1" smtClean="0">
                <a:solidFill>
                  <a:schemeClr val="accent6">
                    <a:lumMod val="75000"/>
                  </a:schemeClr>
                </a:solidFill>
              </a:rPr>
              <a:t>Lauritsen</a:t>
            </a:r>
            <a:r>
              <a:rPr lang="en-GB" sz="1600" b="1" dirty="0" smtClean="0">
                <a:solidFill>
                  <a:schemeClr val="accent6">
                    <a:lumMod val="75000"/>
                  </a:schemeClr>
                </a:solidFill>
              </a:rPr>
              <a:t>. </a:t>
            </a:r>
            <a:r>
              <a:rPr lang="en-GB" sz="1600" dirty="0" smtClean="0">
                <a:solidFill>
                  <a:schemeClr val="accent6">
                    <a:lumMod val="75000"/>
                  </a:schemeClr>
                </a:solidFill>
              </a:rPr>
              <a:t>Was commissioned </a:t>
            </a:r>
            <a:r>
              <a:rPr lang="en-GB" sz="1600" dirty="0" smtClean="0">
                <a:solidFill>
                  <a:schemeClr val="accent6">
                    <a:lumMod val="75000"/>
                  </a:schemeClr>
                </a:solidFill>
              </a:rPr>
              <a:t>on July 2016</a:t>
            </a:r>
            <a:endParaRPr lang="en-GB" sz="1600" dirty="0" smtClean="0">
              <a:solidFill>
                <a:schemeClr val="accent6">
                  <a:lumMod val="75000"/>
                </a:schemeClr>
              </a:solidFill>
            </a:endParaRPr>
          </a:p>
          <a:p>
            <a:pPr marL="685800" lvl="1" indent="-285750">
              <a:spcAft>
                <a:spcPts val="600"/>
              </a:spcAft>
              <a:buFont typeface="Wingdings" panose="05000000000000000000" pitchFamily="2" charset="2"/>
              <a:buChar char="Ø"/>
            </a:pPr>
            <a:r>
              <a:rPr lang="en-GB" sz="1600" dirty="0" smtClean="0">
                <a:solidFill>
                  <a:schemeClr val="accent6">
                    <a:lumMod val="75000"/>
                  </a:schemeClr>
                </a:solidFill>
              </a:rPr>
              <a:t>Moving </a:t>
            </a:r>
            <a:r>
              <a:rPr lang="en-GB" sz="1600" dirty="0">
                <a:solidFill>
                  <a:schemeClr val="accent6">
                    <a:lumMod val="75000"/>
                  </a:schemeClr>
                </a:solidFill>
              </a:rPr>
              <a:t>IPAC servers to </a:t>
            </a:r>
            <a:r>
              <a:rPr lang="en-GB" sz="1600" dirty="0" err="1">
                <a:solidFill>
                  <a:schemeClr val="accent6">
                    <a:lumMod val="75000"/>
                  </a:schemeClr>
                </a:solidFill>
              </a:rPr>
              <a:t>Lauritsen</a:t>
            </a:r>
            <a:r>
              <a:rPr lang="en-GB" sz="1600" dirty="0">
                <a:solidFill>
                  <a:schemeClr val="accent6">
                    <a:lumMod val="75000"/>
                  </a:schemeClr>
                </a:solidFill>
              </a:rPr>
              <a:t> =&gt; heavy data replication </a:t>
            </a:r>
            <a:r>
              <a:rPr lang="en-GB" sz="1600" dirty="0" smtClean="0">
                <a:solidFill>
                  <a:schemeClr val="accent6">
                    <a:lumMod val="75000"/>
                  </a:schemeClr>
                </a:solidFill>
              </a:rPr>
              <a:t>took place and link from CACR to </a:t>
            </a:r>
            <a:r>
              <a:rPr lang="en-GB" sz="1600" dirty="0" err="1" smtClean="0">
                <a:solidFill>
                  <a:schemeClr val="accent6">
                    <a:lumMod val="75000"/>
                  </a:schemeClr>
                </a:solidFill>
              </a:rPr>
              <a:t>Lauritsen</a:t>
            </a:r>
            <a:r>
              <a:rPr lang="en-GB" sz="1600" dirty="0" smtClean="0">
                <a:solidFill>
                  <a:schemeClr val="accent6">
                    <a:lumMod val="75000"/>
                  </a:schemeClr>
                </a:solidFill>
              </a:rPr>
              <a:t> was upgraded to 40GE. </a:t>
            </a:r>
            <a:r>
              <a:rPr lang="en-GB" sz="1600" b="1" dirty="0" smtClean="0">
                <a:solidFill>
                  <a:schemeClr val="accent6">
                    <a:lumMod val="75000"/>
                  </a:schemeClr>
                </a:solidFill>
              </a:rPr>
              <a:t>No apparent congestions or large spikes were noticed</a:t>
            </a:r>
            <a:r>
              <a:rPr lang="en-GB" sz="1600" b="1" dirty="0" smtClean="0">
                <a:solidFill>
                  <a:schemeClr val="accent6">
                    <a:lumMod val="75000"/>
                  </a:schemeClr>
                </a:solidFill>
              </a:rPr>
              <a:t>.</a:t>
            </a:r>
          </a:p>
          <a:p>
            <a:pPr marL="285750" indent="-342900">
              <a:spcAft>
                <a:spcPts val="600"/>
              </a:spcAft>
              <a:buFont typeface="+mj-lt"/>
              <a:buAutoNum type="alphaUcPeriod"/>
            </a:pPr>
            <a:r>
              <a:rPr lang="en-US" sz="1600" b="1" dirty="0" smtClean="0">
                <a:solidFill>
                  <a:schemeClr val="accent6">
                    <a:lumMod val="75000"/>
                  </a:schemeClr>
                </a:solidFill>
              </a:rPr>
              <a:t>HTTP support is enabled in Caltech and Nebraska</a:t>
            </a:r>
            <a:endParaRPr lang="en-US" sz="1600" b="1" dirty="0">
              <a:solidFill>
                <a:schemeClr val="accent6">
                  <a:lumMod val="75000"/>
                </a:schemeClr>
              </a:solidFill>
            </a:endParaRPr>
          </a:p>
        </p:txBody>
      </p:sp>
      <p:cxnSp>
        <p:nvCxnSpPr>
          <p:cNvPr id="12" name="Straight Connector 11"/>
          <p:cNvCxnSpPr/>
          <p:nvPr/>
        </p:nvCxnSpPr>
        <p:spPr>
          <a:xfrm>
            <a:off x="160421" y="2171007"/>
            <a:ext cx="11935326" cy="10028"/>
          </a:xfrm>
          <a:prstGeom prst="line">
            <a:avLst/>
          </a:prstGeom>
          <a:ln w="57150"/>
        </p:spPr>
        <p:style>
          <a:lnRef idx="1">
            <a:schemeClr val="accent6"/>
          </a:lnRef>
          <a:fillRef idx="0">
            <a:schemeClr val="accent6"/>
          </a:fillRef>
          <a:effectRef idx="0">
            <a:schemeClr val="accent6"/>
          </a:effectRef>
          <a:fontRef idx="minor">
            <a:schemeClr val="tx1"/>
          </a:fontRef>
        </p:style>
      </p:cxnSp>
      <p:pic>
        <p:nvPicPr>
          <p:cNvPr id="14" name="Content Placeholder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7" name="Picture 2" descr="Image result for cms 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r>
              <a:rPr lang="en-US" smtClean="0"/>
              <a:t>13/10/2016</a:t>
            </a:r>
            <a:endParaRPr lang="en-GB"/>
          </a:p>
        </p:txBody>
      </p:sp>
      <p:sp>
        <p:nvSpPr>
          <p:cNvPr id="8" name="Footer Placeholder 7"/>
          <p:cNvSpPr>
            <a:spLocks noGrp="1"/>
          </p:cNvSpPr>
          <p:nvPr>
            <p:ph type="ftr" sz="quarter" idx="11"/>
          </p:nvPr>
        </p:nvSpPr>
        <p:spPr/>
        <p:txBody>
          <a:bodyPr/>
          <a:lstStyle/>
          <a:p>
            <a:r>
              <a:rPr lang="en-GB" smtClean="0"/>
              <a:t>Jean-Roch Vlimant &amp; Justas Balcas</a:t>
            </a:r>
            <a:endParaRPr lang="en-GB"/>
          </a:p>
        </p:txBody>
      </p:sp>
      <p:sp>
        <p:nvSpPr>
          <p:cNvPr id="9" name="Slide Number Placeholder 8"/>
          <p:cNvSpPr>
            <a:spLocks noGrp="1"/>
          </p:cNvSpPr>
          <p:nvPr>
            <p:ph type="sldNum" sz="quarter" idx="12"/>
          </p:nvPr>
        </p:nvSpPr>
        <p:spPr/>
        <p:txBody>
          <a:bodyPr/>
          <a:lstStyle/>
          <a:p>
            <a:fld id="{F16C04A8-3194-4548-96B6-07828A9153A5}" type="slidenum">
              <a:rPr lang="en-GB" smtClean="0"/>
              <a:t>4</a:t>
            </a:fld>
            <a:endParaRPr lang="en-GB"/>
          </a:p>
        </p:txBody>
      </p:sp>
    </p:spTree>
    <p:extLst>
      <p:ext uri="{BB962C8B-B14F-4D97-AF65-F5344CB8AC3E}">
        <p14:creationId xmlns:p14="http://schemas.microsoft.com/office/powerpoint/2010/main" val="24472678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9860"/>
            <a:ext cx="8694821" cy="862096"/>
          </a:xfrm>
        </p:spPr>
        <p:txBody>
          <a:bodyPr>
            <a:normAutofit fontScale="90000"/>
          </a:bodyPr>
          <a:lstStyle/>
          <a:p>
            <a:r>
              <a:rPr lang="en-GB" sz="3600" b="1" dirty="0" smtClean="0">
                <a:solidFill>
                  <a:schemeClr val="tx1">
                    <a:lumMod val="75000"/>
                    <a:lumOff val="25000"/>
                  </a:schemeClr>
                </a:solidFill>
              </a:rPr>
              <a:t>HTTP Data Federation Project in CMS </a:t>
            </a:r>
            <a:r>
              <a:rPr lang="en-GB" sz="3600" b="1" dirty="0" smtClean="0">
                <a:solidFill>
                  <a:schemeClr val="tx1">
                    <a:lumMod val="75000"/>
                    <a:lumOff val="25000"/>
                  </a:schemeClr>
                </a:solidFill>
              </a:rPr>
              <a:t>(Software)</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160419" y="852235"/>
            <a:ext cx="11566359" cy="5678478"/>
          </a:xfrm>
          <a:prstGeom prst="rect">
            <a:avLst/>
          </a:prstGeom>
        </p:spPr>
        <p:txBody>
          <a:bodyPr wrap="square">
            <a:spAutoFit/>
          </a:bodyPr>
          <a:lstStyle/>
          <a:p>
            <a:pPr marL="342900" indent="-342900">
              <a:spcBef>
                <a:spcPts val="0"/>
              </a:spcBef>
              <a:spcAft>
                <a:spcPts val="700"/>
              </a:spcAft>
              <a:buFont typeface="Wingdings" panose="05000000000000000000" pitchFamily="2" charset="2"/>
              <a:buChar char="ü"/>
            </a:pPr>
            <a:r>
              <a:rPr lang="en-US" sz="2200" b="1" dirty="0">
                <a:solidFill>
                  <a:schemeClr val="tx1">
                    <a:lumMod val="75000"/>
                    <a:lumOff val="25000"/>
                  </a:schemeClr>
                </a:solidFill>
                <a:cs typeface="Arial" charset="0"/>
              </a:rPr>
              <a:t>Software Deliverables</a:t>
            </a:r>
          </a:p>
          <a:p>
            <a:pPr marL="631825" lvl="1" indent="-285750">
              <a:spcBef>
                <a:spcPts val="0"/>
              </a:spcBef>
              <a:spcAft>
                <a:spcPts val="700"/>
              </a:spcAft>
              <a:buFont typeface="Wingdings" panose="05000000000000000000" pitchFamily="2" charset="2"/>
              <a:buChar char="Ø"/>
            </a:pPr>
            <a:r>
              <a:rPr lang="en-US" sz="1700" dirty="0">
                <a:solidFill>
                  <a:schemeClr val="tx1">
                    <a:lumMod val="75000"/>
                    <a:lumOff val="25000"/>
                  </a:schemeClr>
                </a:solidFill>
                <a:cs typeface="Arial" charset="0"/>
              </a:rPr>
              <a:t>Implement a </a:t>
            </a:r>
            <a:r>
              <a:rPr lang="en-US" sz="1700" dirty="0" err="1">
                <a:solidFill>
                  <a:schemeClr val="tx1">
                    <a:lumMod val="75000"/>
                    <a:lumOff val="25000"/>
                  </a:schemeClr>
                </a:solidFill>
                <a:cs typeface="Arial" charset="0"/>
              </a:rPr>
              <a:t>libdavix</a:t>
            </a:r>
            <a:r>
              <a:rPr lang="en-US" sz="1700" dirty="0">
                <a:solidFill>
                  <a:schemeClr val="tx1">
                    <a:lumMod val="75000"/>
                    <a:lumOff val="25000"/>
                  </a:schemeClr>
                </a:solidFill>
                <a:cs typeface="Arial" charset="0"/>
              </a:rPr>
              <a:t>-based </a:t>
            </a:r>
            <a:r>
              <a:rPr lang="en-US" sz="1700" dirty="0" err="1">
                <a:solidFill>
                  <a:schemeClr val="tx1">
                    <a:lumMod val="75000"/>
                    <a:lumOff val="25000"/>
                  </a:schemeClr>
                </a:solidFill>
                <a:cs typeface="Arial" charset="0"/>
              </a:rPr>
              <a:t>StorageFactory</a:t>
            </a:r>
            <a:r>
              <a:rPr lang="en-US" sz="1700" dirty="0">
                <a:solidFill>
                  <a:schemeClr val="tx1">
                    <a:lumMod val="75000"/>
                    <a:lumOff val="25000"/>
                  </a:schemeClr>
                </a:solidFill>
                <a:cs typeface="Arial" charset="0"/>
              </a:rPr>
              <a:t> plugin in </a:t>
            </a:r>
            <a:r>
              <a:rPr lang="en-US" sz="1700" dirty="0" smtClean="0">
                <a:solidFill>
                  <a:schemeClr val="tx1">
                    <a:lumMod val="75000"/>
                    <a:lumOff val="25000"/>
                  </a:schemeClr>
                </a:solidFill>
                <a:cs typeface="Arial" charset="0"/>
              </a:rPr>
              <a:t>CMSSW </a:t>
            </a:r>
            <a:r>
              <a:rPr lang="en-US" sz="1700" dirty="0" smtClean="0">
                <a:solidFill>
                  <a:srgbClr val="FF6E1E"/>
                </a:solidFill>
                <a:cs typeface="Arial" charset="0"/>
              </a:rPr>
              <a:t>to </a:t>
            </a:r>
            <a:r>
              <a:rPr lang="en-US" sz="1700" dirty="0">
                <a:solidFill>
                  <a:srgbClr val="FF6E1E"/>
                </a:solidFill>
                <a:cs typeface="Arial" charset="0"/>
              </a:rPr>
              <a:t>replace the current fork/exec of curl for HTTP access</a:t>
            </a:r>
          </a:p>
          <a:p>
            <a:pPr marL="631825" lvl="1" indent="-285750">
              <a:spcBef>
                <a:spcPts val="0"/>
              </a:spcBef>
              <a:spcAft>
                <a:spcPts val="700"/>
              </a:spcAft>
              <a:buFont typeface="Wingdings" panose="05000000000000000000" pitchFamily="2" charset="2"/>
              <a:buChar char="Ø"/>
            </a:pPr>
            <a:r>
              <a:rPr lang="en-US" dirty="0">
                <a:solidFill>
                  <a:schemeClr val="tx1">
                    <a:lumMod val="75000"/>
                    <a:lumOff val="25000"/>
                  </a:schemeClr>
                </a:solidFill>
                <a:cs typeface="Arial" charset="0"/>
              </a:rPr>
              <a:t>Develop extensions to the </a:t>
            </a:r>
            <a:r>
              <a:rPr lang="en-US" dirty="0" err="1">
                <a:solidFill>
                  <a:schemeClr val="tx1">
                    <a:lumMod val="75000"/>
                    <a:lumOff val="25000"/>
                  </a:schemeClr>
                </a:solidFill>
                <a:cs typeface="Arial" charset="0"/>
              </a:rPr>
              <a:t>Xrootd</a:t>
            </a:r>
            <a:r>
              <a:rPr lang="en-US" dirty="0">
                <a:solidFill>
                  <a:schemeClr val="tx1">
                    <a:lumMod val="75000"/>
                    <a:lumOff val="25000"/>
                  </a:schemeClr>
                </a:solidFill>
                <a:cs typeface="Arial" charset="0"/>
              </a:rPr>
              <a:t> [HTTP implementation] to replace </a:t>
            </a:r>
            <a:r>
              <a:rPr lang="en-US" dirty="0" smtClean="0">
                <a:solidFill>
                  <a:schemeClr val="tx1">
                    <a:lumMod val="75000"/>
                    <a:lumOff val="25000"/>
                  </a:schemeClr>
                </a:solidFill>
                <a:cs typeface="Arial" charset="0"/>
              </a:rPr>
              <a:t>any </a:t>
            </a:r>
            <a:r>
              <a:rPr lang="en-US" dirty="0">
                <a:solidFill>
                  <a:schemeClr val="tx1">
                    <a:lumMod val="75000"/>
                    <a:lumOff val="25000"/>
                  </a:schemeClr>
                </a:solidFill>
                <a:cs typeface="Arial" charset="0"/>
              </a:rPr>
              <a:t>identified missing functionality </a:t>
            </a:r>
            <a:r>
              <a:rPr lang="en-US" dirty="0">
                <a:solidFill>
                  <a:srgbClr val="FF6E1E"/>
                </a:solidFill>
                <a:cs typeface="Arial" charset="0"/>
              </a:rPr>
              <a:t>(e.g. client-based monitoring IDs)</a:t>
            </a:r>
          </a:p>
          <a:p>
            <a:pPr marL="631825" lvl="1" indent="-285750">
              <a:spcBef>
                <a:spcPts val="0"/>
              </a:spcBef>
              <a:spcAft>
                <a:spcPts val="700"/>
              </a:spcAft>
              <a:buFont typeface="Wingdings" panose="05000000000000000000" pitchFamily="2" charset="2"/>
              <a:buChar char="Ø"/>
            </a:pPr>
            <a:r>
              <a:rPr lang="en-US" dirty="0">
                <a:solidFill>
                  <a:schemeClr val="tx1">
                    <a:lumMod val="75000"/>
                    <a:lumOff val="25000"/>
                  </a:schemeClr>
                </a:solidFill>
                <a:cs typeface="Arial" charset="0"/>
              </a:rPr>
              <a:t>As necessary, optimize the HTTP implementation within </a:t>
            </a:r>
            <a:r>
              <a:rPr lang="en-US" dirty="0" err="1">
                <a:solidFill>
                  <a:schemeClr val="tx1">
                    <a:lumMod val="75000"/>
                    <a:lumOff val="25000"/>
                  </a:schemeClr>
                </a:solidFill>
                <a:cs typeface="Arial" charset="0"/>
              </a:rPr>
              <a:t>Xrootd</a:t>
            </a:r>
            <a:r>
              <a:rPr lang="en-US" dirty="0">
                <a:solidFill>
                  <a:schemeClr val="tx1">
                    <a:lumMod val="75000"/>
                    <a:lumOff val="25000"/>
                  </a:schemeClr>
                </a:solidFill>
                <a:cs typeface="Arial" charset="0"/>
              </a:rPr>
              <a:t> to improve any performance deficiencies </a:t>
            </a:r>
            <a:r>
              <a:rPr lang="en-US" dirty="0">
                <a:solidFill>
                  <a:srgbClr val="FF6E1E"/>
                </a:solidFill>
                <a:cs typeface="Arial" charset="0"/>
              </a:rPr>
              <a:t>observed in the tests below</a:t>
            </a:r>
          </a:p>
          <a:p>
            <a:pPr marL="631825" lvl="1" indent="-285750">
              <a:spcBef>
                <a:spcPts val="0"/>
              </a:spcBef>
              <a:spcAft>
                <a:spcPts val="700"/>
              </a:spcAft>
              <a:buFont typeface="Wingdings" panose="05000000000000000000" pitchFamily="2" charset="2"/>
              <a:buChar char="Ø"/>
            </a:pPr>
            <a:r>
              <a:rPr lang="en-US" dirty="0">
                <a:solidFill>
                  <a:schemeClr val="tx1">
                    <a:lumMod val="75000"/>
                    <a:lumOff val="25000"/>
                  </a:schemeClr>
                </a:solidFill>
                <a:cs typeface="Arial" charset="0"/>
              </a:rPr>
              <a:t>As necessary, develop patches to better integrate </a:t>
            </a:r>
            <a:r>
              <a:rPr lang="en-US" dirty="0" smtClean="0">
                <a:solidFill>
                  <a:schemeClr val="tx1">
                    <a:lumMod val="75000"/>
                    <a:lumOff val="25000"/>
                  </a:schemeClr>
                </a:solidFill>
                <a:cs typeface="Arial" charset="0"/>
              </a:rPr>
              <a:t>HTTP-over-</a:t>
            </a:r>
            <a:r>
              <a:rPr lang="en-US" dirty="0" err="1" smtClean="0">
                <a:solidFill>
                  <a:schemeClr val="tx1">
                    <a:lumMod val="75000"/>
                    <a:lumOff val="25000"/>
                  </a:schemeClr>
                </a:solidFill>
                <a:cs typeface="Arial" charset="0"/>
              </a:rPr>
              <a:t>Xrootd</a:t>
            </a:r>
            <a:r>
              <a:rPr lang="en-US" dirty="0" smtClean="0">
                <a:solidFill>
                  <a:schemeClr val="tx1">
                    <a:lumMod val="75000"/>
                    <a:lumOff val="25000"/>
                  </a:schemeClr>
                </a:solidFill>
                <a:cs typeface="Arial" charset="0"/>
              </a:rPr>
              <a:t> with </a:t>
            </a:r>
            <a:r>
              <a:rPr lang="en-US" dirty="0">
                <a:solidFill>
                  <a:schemeClr val="tx1">
                    <a:lumMod val="75000"/>
                    <a:lumOff val="25000"/>
                  </a:schemeClr>
                </a:solidFill>
                <a:cs typeface="Arial" charset="0"/>
              </a:rPr>
              <a:t>the OSG distribution</a:t>
            </a:r>
            <a:r>
              <a:rPr lang="en-US" dirty="0">
                <a:solidFill>
                  <a:schemeClr val="bg1">
                    <a:lumMod val="50000"/>
                  </a:schemeClr>
                </a:solidFill>
                <a:cs typeface="Arial" charset="0"/>
              </a:rPr>
              <a:t> </a:t>
            </a:r>
            <a:r>
              <a:rPr lang="en-US" dirty="0">
                <a:solidFill>
                  <a:srgbClr val="FF6E1E"/>
                </a:solidFill>
                <a:cs typeface="Arial" charset="0"/>
              </a:rPr>
              <a:t>(e.g. Authorization</a:t>
            </a:r>
            <a:r>
              <a:rPr lang="en-US" dirty="0" smtClean="0">
                <a:solidFill>
                  <a:srgbClr val="FF6E1E"/>
                </a:solidFill>
                <a:cs typeface="Arial" charset="0"/>
              </a:rPr>
              <a:t>)</a:t>
            </a:r>
            <a:endParaRPr lang="en-US" dirty="0">
              <a:solidFill>
                <a:srgbClr val="FF6E1E"/>
              </a:solidFill>
              <a:cs typeface="Arial" charset="0"/>
            </a:endParaRPr>
          </a:p>
          <a:p>
            <a:pPr marL="631825" lvl="1" indent="-285750">
              <a:spcBef>
                <a:spcPts val="0"/>
              </a:spcBef>
              <a:spcAft>
                <a:spcPts val="700"/>
              </a:spcAft>
              <a:buFont typeface="Wingdings" panose="05000000000000000000" pitchFamily="2" charset="2"/>
              <a:buChar char="Ø"/>
            </a:pPr>
            <a:r>
              <a:rPr lang="en-US" dirty="0">
                <a:solidFill>
                  <a:schemeClr val="tx1">
                    <a:lumMod val="75000"/>
                    <a:lumOff val="25000"/>
                  </a:schemeClr>
                </a:solidFill>
                <a:cs typeface="Arial" charset="0"/>
              </a:rPr>
              <a:t>(OPTIONAL) Develop asynchronous APIs to </a:t>
            </a:r>
            <a:r>
              <a:rPr lang="en-US" dirty="0" err="1">
                <a:solidFill>
                  <a:schemeClr val="tx1">
                    <a:lumMod val="75000"/>
                    <a:lumOff val="25000"/>
                  </a:schemeClr>
                </a:solidFill>
                <a:cs typeface="Arial" charset="0"/>
              </a:rPr>
              <a:t>libdavix</a:t>
            </a:r>
            <a:r>
              <a:rPr lang="en-US" dirty="0">
                <a:solidFill>
                  <a:schemeClr val="tx1">
                    <a:lumMod val="75000"/>
                    <a:lumOff val="25000"/>
                  </a:schemeClr>
                </a:solidFill>
                <a:cs typeface="Arial" charset="0"/>
              </a:rPr>
              <a:t> analogous to </a:t>
            </a:r>
            <a:r>
              <a:rPr lang="en-US" dirty="0" smtClean="0">
                <a:solidFill>
                  <a:schemeClr val="tx1">
                    <a:lumMod val="75000"/>
                    <a:lumOff val="25000"/>
                  </a:schemeClr>
                </a:solidFill>
                <a:cs typeface="Arial" charset="0"/>
              </a:rPr>
              <a:t>the current </a:t>
            </a:r>
            <a:r>
              <a:rPr lang="en-US" dirty="0" err="1" smtClean="0">
                <a:solidFill>
                  <a:schemeClr val="tx1">
                    <a:lumMod val="75000"/>
                    <a:lumOff val="25000"/>
                  </a:schemeClr>
                </a:solidFill>
                <a:cs typeface="Arial" charset="0"/>
              </a:rPr>
              <a:t>XrootD</a:t>
            </a:r>
            <a:r>
              <a:rPr lang="en-US" dirty="0" smtClean="0">
                <a:solidFill>
                  <a:schemeClr val="tx1">
                    <a:lumMod val="75000"/>
                    <a:lumOff val="25000"/>
                  </a:schemeClr>
                </a:solidFill>
                <a:cs typeface="Arial" charset="0"/>
              </a:rPr>
              <a:t> </a:t>
            </a:r>
            <a:r>
              <a:rPr lang="en-US" dirty="0">
                <a:solidFill>
                  <a:schemeClr val="tx1">
                    <a:lumMod val="75000"/>
                    <a:lumOff val="25000"/>
                  </a:schemeClr>
                </a:solidFill>
                <a:cs typeface="Arial" charset="0"/>
              </a:rPr>
              <a:t>ones </a:t>
            </a:r>
            <a:r>
              <a:rPr lang="en-US" dirty="0">
                <a:solidFill>
                  <a:srgbClr val="FF6E1E"/>
                </a:solidFill>
                <a:cs typeface="Arial" charset="0"/>
              </a:rPr>
              <a:t>(so we can develop a </a:t>
            </a:r>
            <a:r>
              <a:rPr lang="en-US" dirty="0" err="1">
                <a:solidFill>
                  <a:srgbClr val="FF6E1E"/>
                </a:solidFill>
                <a:cs typeface="Arial" charset="0"/>
              </a:rPr>
              <a:t>multistream</a:t>
            </a:r>
            <a:r>
              <a:rPr lang="en-US" dirty="0">
                <a:solidFill>
                  <a:srgbClr val="FF6E1E"/>
                </a:solidFill>
                <a:cs typeface="Arial" charset="0"/>
              </a:rPr>
              <a:t> client for HTTP</a:t>
            </a:r>
            <a:r>
              <a:rPr lang="en-US" dirty="0" smtClean="0">
                <a:solidFill>
                  <a:srgbClr val="FF6E1E"/>
                </a:solidFill>
                <a:cs typeface="Arial" charset="0"/>
              </a:rPr>
              <a:t>)</a:t>
            </a:r>
          </a:p>
          <a:p>
            <a:pPr>
              <a:spcAft>
                <a:spcPts val="700"/>
              </a:spcAft>
            </a:pPr>
            <a:endParaRPr lang="en-US" b="1" dirty="0" smtClean="0">
              <a:solidFill>
                <a:srgbClr val="FF6E1E"/>
              </a:solidFill>
              <a:cs typeface="Arial" charset="0"/>
            </a:endParaRPr>
          </a:p>
          <a:p>
            <a:pPr>
              <a:spcAft>
                <a:spcPts val="700"/>
              </a:spcAft>
            </a:pPr>
            <a:endParaRPr lang="en-US" b="1" dirty="0">
              <a:solidFill>
                <a:srgbClr val="FF6E1E"/>
              </a:solidFill>
              <a:cs typeface="Arial" charset="0"/>
            </a:endParaRPr>
          </a:p>
          <a:p>
            <a:pPr marL="174625" indent="-285750">
              <a:spcAft>
                <a:spcPts val="700"/>
              </a:spcAft>
              <a:buFont typeface="Arial" panose="020B0604020202020204" pitchFamily="34" charset="0"/>
              <a:buChar char="•"/>
            </a:pPr>
            <a:r>
              <a:rPr lang="en-US" sz="2000" b="1" dirty="0" smtClean="0">
                <a:solidFill>
                  <a:srgbClr val="FF6E1E"/>
                </a:solidFill>
                <a:cs typeface="Arial" charset="0"/>
              </a:rPr>
              <a:t>Plugin is available </a:t>
            </a:r>
            <a:r>
              <a:rPr lang="en-US" sz="2000" b="1" dirty="0" smtClean="0">
                <a:solidFill>
                  <a:srgbClr val="FF6E1E"/>
                </a:solidFill>
                <a:cs typeface="Arial" charset="0"/>
              </a:rPr>
              <a:t>in CMSSW </a:t>
            </a:r>
            <a:r>
              <a:rPr lang="en-US" sz="2000" b="1" dirty="0" smtClean="0">
                <a:solidFill>
                  <a:srgbClr val="FF6E1E"/>
                </a:solidFill>
                <a:cs typeface="Arial" charset="0"/>
              </a:rPr>
              <a:t>release</a:t>
            </a:r>
            <a:endParaRPr lang="en-US" sz="2000" b="1" dirty="0" smtClean="0">
              <a:solidFill>
                <a:srgbClr val="FF6E1E"/>
              </a:solidFill>
              <a:cs typeface="Arial" charset="0"/>
            </a:endParaRPr>
          </a:p>
          <a:p>
            <a:pPr marL="630238" lvl="1" indent="-284163">
              <a:spcAft>
                <a:spcPts val="700"/>
              </a:spcAft>
              <a:buFont typeface="Wingdings" panose="05000000000000000000" pitchFamily="2" charset="2"/>
              <a:buChar char="§"/>
            </a:pPr>
            <a:r>
              <a:rPr lang="en-GB" dirty="0" smtClean="0">
                <a:solidFill>
                  <a:schemeClr val="tx1">
                    <a:lumMod val="75000"/>
                    <a:lumOff val="25000"/>
                  </a:schemeClr>
                </a:solidFill>
              </a:rPr>
              <a:t>Supports HTTP(s) protocols</a:t>
            </a:r>
            <a:r>
              <a:rPr lang="en-GB" dirty="0" smtClean="0">
                <a:solidFill>
                  <a:schemeClr val="bg1">
                    <a:lumMod val="50000"/>
                  </a:schemeClr>
                </a:solidFill>
              </a:rPr>
              <a:t> </a:t>
            </a:r>
            <a:r>
              <a:rPr lang="en-GB" dirty="0" smtClean="0">
                <a:solidFill>
                  <a:srgbClr val="FF6E1E"/>
                </a:solidFill>
              </a:rPr>
              <a:t>(http, https)</a:t>
            </a:r>
          </a:p>
          <a:p>
            <a:pPr marL="630238" lvl="1" indent="-284163">
              <a:spcAft>
                <a:spcPts val="700"/>
              </a:spcAft>
              <a:buFont typeface="Wingdings" panose="05000000000000000000" pitchFamily="2" charset="2"/>
              <a:buChar char="§"/>
            </a:pPr>
            <a:r>
              <a:rPr lang="en-GB" dirty="0" smtClean="0">
                <a:solidFill>
                  <a:schemeClr val="tx1">
                    <a:lumMod val="75000"/>
                    <a:lumOff val="25000"/>
                  </a:schemeClr>
                </a:solidFill>
              </a:rPr>
              <a:t>Allows to control plugin through environment variables </a:t>
            </a:r>
            <a:r>
              <a:rPr lang="en-GB" dirty="0" smtClean="0">
                <a:solidFill>
                  <a:schemeClr val="bg1">
                    <a:lumMod val="50000"/>
                  </a:schemeClr>
                </a:solidFill>
              </a:rPr>
              <a:t>(</a:t>
            </a:r>
            <a:r>
              <a:rPr lang="en-GB" dirty="0" err="1" smtClean="0">
                <a:solidFill>
                  <a:srgbClr val="FF6E1E"/>
                </a:solidFill>
              </a:rPr>
              <a:t>Davix_DEBUG</a:t>
            </a:r>
            <a:r>
              <a:rPr lang="en-GB" dirty="0" smtClean="0">
                <a:solidFill>
                  <a:srgbClr val="FF6E1E"/>
                </a:solidFill>
              </a:rPr>
              <a:t>, X509_*, </a:t>
            </a:r>
            <a:r>
              <a:rPr lang="en-GB" dirty="0">
                <a:solidFill>
                  <a:srgbClr val="FF6E1E"/>
                </a:solidFill>
              </a:rPr>
              <a:t>/</a:t>
            </a:r>
            <a:r>
              <a:rPr lang="en-GB" dirty="0" err="1" smtClean="0">
                <a:solidFill>
                  <a:srgbClr val="FF6E1E"/>
                </a:solidFill>
              </a:rPr>
              <a:t>tmp</a:t>
            </a:r>
            <a:r>
              <a:rPr lang="en-GB" dirty="0" smtClean="0">
                <a:solidFill>
                  <a:srgbClr val="FF6E1E"/>
                </a:solidFill>
              </a:rPr>
              <a:t>/x509up_u%d</a:t>
            </a:r>
            <a:r>
              <a:rPr lang="en-GB" dirty="0" smtClean="0">
                <a:solidFill>
                  <a:schemeClr val="bg1">
                    <a:lumMod val="50000"/>
                  </a:schemeClr>
                </a:solidFill>
              </a:rPr>
              <a:t>)</a:t>
            </a:r>
          </a:p>
          <a:p>
            <a:pPr marL="630238" lvl="1" indent="-284163">
              <a:spcAft>
                <a:spcPts val="700"/>
              </a:spcAft>
              <a:buFont typeface="Wingdings" panose="05000000000000000000" pitchFamily="2" charset="2"/>
              <a:buChar char="§"/>
            </a:pPr>
            <a:r>
              <a:rPr lang="en-GB" dirty="0">
                <a:solidFill>
                  <a:schemeClr val="tx1">
                    <a:lumMod val="75000"/>
                    <a:lumOff val="25000"/>
                  </a:schemeClr>
                </a:solidFill>
              </a:rPr>
              <a:t>Vector operations (Partial reads, multi-range, single range</a:t>
            </a:r>
            <a:r>
              <a:rPr lang="en-GB" dirty="0" smtClean="0">
                <a:solidFill>
                  <a:schemeClr val="tx1">
                    <a:lumMod val="75000"/>
                    <a:lumOff val="25000"/>
                  </a:schemeClr>
                </a:solidFill>
              </a:rPr>
              <a:t>) and get full file content to I/O buffer.</a:t>
            </a:r>
            <a:endParaRPr lang="en-GB" dirty="0">
              <a:solidFill>
                <a:schemeClr val="tx1">
                  <a:lumMod val="75000"/>
                  <a:lumOff val="25000"/>
                </a:schemeClr>
              </a:solidFill>
            </a:endParaRPr>
          </a:p>
          <a:p>
            <a:pPr marL="630238" lvl="1" indent="-284163">
              <a:spcAft>
                <a:spcPts val="700"/>
              </a:spcAft>
              <a:buFont typeface="Wingdings" panose="05000000000000000000" pitchFamily="2" charset="2"/>
              <a:buChar char="§"/>
            </a:pPr>
            <a:endParaRPr lang="en-GB" b="1" dirty="0" smtClean="0">
              <a:solidFill>
                <a:schemeClr val="bg1">
                  <a:lumMod val="50000"/>
                </a:schemeClr>
              </a:solidFill>
            </a:endParaRPr>
          </a:p>
        </p:txBody>
      </p:sp>
      <p:cxnSp>
        <p:nvCxnSpPr>
          <p:cNvPr id="12" name="Straight Connector 11"/>
          <p:cNvCxnSpPr/>
          <p:nvPr/>
        </p:nvCxnSpPr>
        <p:spPr>
          <a:xfrm>
            <a:off x="160421" y="4365457"/>
            <a:ext cx="11935326" cy="10028"/>
          </a:xfrm>
          <a:prstGeom prst="line">
            <a:avLst/>
          </a:prstGeom>
          <a:ln w="57150"/>
        </p:spPr>
        <p:style>
          <a:lnRef idx="1">
            <a:schemeClr val="accent6"/>
          </a:lnRef>
          <a:fillRef idx="0">
            <a:schemeClr val="accent6"/>
          </a:fillRef>
          <a:effectRef idx="0">
            <a:schemeClr val="accent6"/>
          </a:effectRef>
          <a:fontRef idx="minor">
            <a:schemeClr val="tx1"/>
          </a:fontRef>
        </p:style>
      </p:cxnSp>
      <p:pic>
        <p:nvPicPr>
          <p:cNvPr id="14"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7"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r>
              <a:rPr lang="en-US" smtClean="0"/>
              <a:t>13/10/2016</a:t>
            </a:r>
            <a:endParaRPr lang="en-GB"/>
          </a:p>
        </p:txBody>
      </p:sp>
      <p:sp>
        <p:nvSpPr>
          <p:cNvPr id="7" name="Footer Placeholder 6"/>
          <p:cNvSpPr>
            <a:spLocks noGrp="1"/>
          </p:cNvSpPr>
          <p:nvPr>
            <p:ph type="ftr" sz="quarter" idx="11"/>
          </p:nvPr>
        </p:nvSpPr>
        <p:spPr/>
        <p:txBody>
          <a:bodyPr/>
          <a:lstStyle/>
          <a:p>
            <a:r>
              <a:rPr lang="en-GB" smtClean="0"/>
              <a:t>Jean-Roch Vlimant &amp; Justas Balcas</a:t>
            </a:r>
            <a:endParaRPr lang="en-GB"/>
          </a:p>
        </p:txBody>
      </p:sp>
      <p:sp>
        <p:nvSpPr>
          <p:cNvPr id="8" name="Slide Number Placeholder 7"/>
          <p:cNvSpPr>
            <a:spLocks noGrp="1"/>
          </p:cNvSpPr>
          <p:nvPr>
            <p:ph type="sldNum" sz="quarter" idx="12"/>
          </p:nvPr>
        </p:nvSpPr>
        <p:spPr/>
        <p:txBody>
          <a:bodyPr/>
          <a:lstStyle/>
          <a:p>
            <a:fld id="{F16C04A8-3194-4548-96B6-07828A9153A5}" type="slidenum">
              <a:rPr lang="en-GB" smtClean="0"/>
              <a:t>5</a:t>
            </a:fld>
            <a:endParaRPr lang="en-GB"/>
          </a:p>
        </p:txBody>
      </p:sp>
    </p:spTree>
    <p:extLst>
      <p:ext uri="{BB962C8B-B14F-4D97-AF65-F5344CB8AC3E}">
        <p14:creationId xmlns:p14="http://schemas.microsoft.com/office/powerpoint/2010/main" val="4698038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9860"/>
            <a:ext cx="8592552" cy="862096"/>
          </a:xfrm>
        </p:spPr>
        <p:txBody>
          <a:bodyPr>
            <a:normAutofit fontScale="90000"/>
          </a:bodyPr>
          <a:lstStyle/>
          <a:p>
            <a:r>
              <a:rPr lang="en-GB" sz="3600" b="1" dirty="0" smtClean="0">
                <a:solidFill>
                  <a:schemeClr val="tx1">
                    <a:lumMod val="75000"/>
                    <a:lumOff val="25000"/>
                  </a:schemeClr>
                </a:solidFill>
              </a:rPr>
              <a:t>HTTP Data Federation Project in CMS </a:t>
            </a:r>
            <a:r>
              <a:rPr lang="en-GB" sz="3600" b="1" dirty="0" smtClean="0">
                <a:solidFill>
                  <a:schemeClr val="tx1">
                    <a:lumMod val="75000"/>
                    <a:lumOff val="25000"/>
                  </a:schemeClr>
                </a:solidFill>
              </a:rPr>
              <a:t>(Knowledge)</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160419" y="852235"/>
            <a:ext cx="11566359" cy="2477601"/>
          </a:xfrm>
          <a:prstGeom prst="rect">
            <a:avLst/>
          </a:prstGeom>
        </p:spPr>
        <p:txBody>
          <a:bodyPr wrap="square">
            <a:spAutoFit/>
          </a:bodyPr>
          <a:lstStyle/>
          <a:p>
            <a:pPr marL="342900" indent="-342900">
              <a:spcBef>
                <a:spcPts val="0"/>
              </a:spcBef>
              <a:spcAft>
                <a:spcPts val="600"/>
              </a:spcAft>
              <a:buFont typeface="Wingdings" panose="05000000000000000000" pitchFamily="2" charset="2"/>
              <a:buChar char="q"/>
              <a:tabLst>
                <a:tab pos="346075" algn="l"/>
              </a:tabLst>
            </a:pPr>
            <a:r>
              <a:rPr lang="en-US" sz="2200" b="1" dirty="0">
                <a:solidFill>
                  <a:schemeClr val="tx1">
                    <a:lumMod val="75000"/>
                    <a:lumOff val="25000"/>
                  </a:schemeClr>
                </a:solidFill>
                <a:cs typeface="Arial" panose="020B0604020202020204" pitchFamily="34" charset="0"/>
              </a:rPr>
              <a:t>Deliverables: Knowledge Base</a:t>
            </a:r>
          </a:p>
          <a:p>
            <a:pPr marL="742950" lvl="1" indent="-285750">
              <a:spcBef>
                <a:spcPts val="0"/>
              </a:spcBef>
              <a:spcAft>
                <a:spcPts val="600"/>
              </a:spcAft>
              <a:buFont typeface="Wingdings" panose="05000000000000000000" pitchFamily="2" charset="2"/>
              <a:buChar char="Ø"/>
              <a:tabLst>
                <a:tab pos="346075" algn="l"/>
              </a:tabLst>
            </a:pPr>
            <a:r>
              <a:rPr lang="en-US" dirty="0">
                <a:solidFill>
                  <a:schemeClr val="tx1">
                    <a:lumMod val="75000"/>
                    <a:lumOff val="25000"/>
                  </a:schemeClr>
                </a:solidFill>
                <a:cs typeface="Arial" panose="020B0604020202020204" pitchFamily="34" charset="0"/>
              </a:rPr>
              <a:t>Document configuration &amp; deployment of HTTP-over-</a:t>
            </a:r>
            <a:r>
              <a:rPr lang="en-US" dirty="0" err="1">
                <a:solidFill>
                  <a:schemeClr val="tx1">
                    <a:lumMod val="75000"/>
                    <a:lumOff val="25000"/>
                  </a:schemeClr>
                </a:solidFill>
                <a:cs typeface="Arial" panose="020B0604020202020204" pitchFamily="34" charset="0"/>
              </a:rPr>
              <a:t>Xrootd</a:t>
            </a:r>
            <a:r>
              <a:rPr lang="en-US" dirty="0">
                <a:solidFill>
                  <a:schemeClr val="tx1">
                    <a:lumMod val="75000"/>
                    <a:lumOff val="25000"/>
                  </a:schemeClr>
                </a:solidFill>
                <a:cs typeface="Arial" panose="020B0604020202020204" pitchFamily="34" charset="0"/>
              </a:rPr>
              <a:t> at Caltech</a:t>
            </a:r>
          </a:p>
          <a:p>
            <a:pPr marL="742950" lvl="1" indent="-285750">
              <a:spcBef>
                <a:spcPts val="0"/>
              </a:spcBef>
              <a:spcAft>
                <a:spcPts val="600"/>
              </a:spcAft>
              <a:buFont typeface="Wingdings" panose="05000000000000000000" pitchFamily="2" charset="2"/>
              <a:buChar char="Ø"/>
              <a:tabLst>
                <a:tab pos="346075" algn="l"/>
              </a:tabLst>
            </a:pPr>
            <a:r>
              <a:rPr lang="en-US" dirty="0">
                <a:solidFill>
                  <a:schemeClr val="tx1">
                    <a:lumMod val="75000"/>
                    <a:lumOff val="25000"/>
                  </a:schemeClr>
                </a:solidFill>
                <a:cs typeface="Arial" panose="020B0604020202020204" pitchFamily="34" charset="0"/>
              </a:rPr>
              <a:t>Measure operational performance of a single </a:t>
            </a:r>
            <a:r>
              <a:rPr lang="en-US" dirty="0" err="1">
                <a:solidFill>
                  <a:schemeClr val="tx1">
                    <a:lumMod val="75000"/>
                    <a:lumOff val="25000"/>
                  </a:schemeClr>
                </a:solidFill>
                <a:cs typeface="Arial" panose="020B0604020202020204" pitchFamily="34" charset="0"/>
              </a:rPr>
              <a:t>Xrootd</a:t>
            </a:r>
            <a:r>
              <a:rPr lang="en-US" dirty="0">
                <a:solidFill>
                  <a:schemeClr val="tx1">
                    <a:lumMod val="75000"/>
                    <a:lumOff val="25000"/>
                  </a:schemeClr>
                </a:solidFill>
                <a:cs typeface="Arial" panose="020B0604020202020204" pitchFamily="34" charset="0"/>
              </a:rPr>
              <a:t> daemon </a:t>
            </a:r>
            <a:r>
              <a:rPr lang="en-US" dirty="0" smtClean="0">
                <a:solidFill>
                  <a:srgbClr val="FF6E1E"/>
                </a:solidFill>
                <a:cs typeface="Arial" panose="020B0604020202020204" pitchFamily="34" charset="0"/>
              </a:rPr>
              <a:t>at </a:t>
            </a:r>
            <a:r>
              <a:rPr lang="en-US" dirty="0">
                <a:solidFill>
                  <a:srgbClr val="FF6E1E"/>
                </a:solidFill>
                <a:cs typeface="Arial" panose="020B0604020202020204" pitchFamily="34" charset="0"/>
              </a:rPr>
              <a:t>exporting w/HTTP</a:t>
            </a:r>
          </a:p>
          <a:p>
            <a:pPr marL="742950" lvl="1" indent="-285750">
              <a:spcBef>
                <a:spcPts val="0"/>
              </a:spcBef>
              <a:spcAft>
                <a:spcPts val="600"/>
              </a:spcAft>
              <a:buFont typeface="Wingdings" panose="05000000000000000000" pitchFamily="2" charset="2"/>
              <a:buChar char="Ø"/>
              <a:tabLst>
                <a:tab pos="346075" algn="l"/>
              </a:tabLst>
            </a:pPr>
            <a:r>
              <a:rPr lang="en-US" dirty="0">
                <a:solidFill>
                  <a:schemeClr val="tx1">
                    <a:lumMod val="75000"/>
                    <a:lumOff val="25000"/>
                  </a:schemeClr>
                </a:solidFill>
                <a:cs typeface="Arial" panose="020B0604020202020204" pitchFamily="34" charset="0"/>
              </a:rPr>
              <a:t>Measure comparative performance in using the Caltech T2 </a:t>
            </a:r>
            <a:r>
              <a:rPr lang="en-US" dirty="0">
                <a:solidFill>
                  <a:srgbClr val="FF6E1E"/>
                </a:solidFill>
                <a:cs typeface="Arial" panose="020B0604020202020204" pitchFamily="34" charset="0"/>
              </a:rPr>
              <a:t>via standard </a:t>
            </a:r>
            <a:r>
              <a:rPr lang="en-US" dirty="0" err="1">
                <a:solidFill>
                  <a:srgbClr val="FF6E1E"/>
                </a:solidFill>
                <a:cs typeface="Arial" panose="020B0604020202020204" pitchFamily="34" charset="0"/>
              </a:rPr>
              <a:t>Xrootd</a:t>
            </a:r>
            <a:r>
              <a:rPr lang="en-US" dirty="0">
                <a:solidFill>
                  <a:srgbClr val="FF6E1E"/>
                </a:solidFill>
                <a:cs typeface="Arial" panose="020B0604020202020204" pitchFamily="34" charset="0"/>
              </a:rPr>
              <a:t> versus HTTP through the AAA redirector</a:t>
            </a:r>
          </a:p>
          <a:p>
            <a:pPr marL="742950" lvl="1" indent="-285750">
              <a:spcBef>
                <a:spcPts val="0"/>
              </a:spcBef>
              <a:spcAft>
                <a:spcPts val="600"/>
              </a:spcAft>
              <a:buFont typeface="Wingdings" panose="05000000000000000000" pitchFamily="2" charset="2"/>
              <a:buChar char="Ø"/>
              <a:tabLst>
                <a:tab pos="346075" algn="l"/>
              </a:tabLst>
            </a:pPr>
            <a:r>
              <a:rPr lang="en-US" dirty="0">
                <a:solidFill>
                  <a:schemeClr val="tx1">
                    <a:lumMod val="75000"/>
                    <a:lumOff val="25000"/>
                  </a:schemeClr>
                </a:solidFill>
                <a:cs typeface="Arial" panose="020B0604020202020204" pitchFamily="34" charset="0"/>
              </a:rPr>
              <a:t>Measure the comparative performance in using ‘curl’-based </a:t>
            </a:r>
            <a:r>
              <a:rPr lang="en-US" dirty="0" err="1">
                <a:solidFill>
                  <a:schemeClr val="tx1">
                    <a:lumMod val="75000"/>
                    <a:lumOff val="25000"/>
                  </a:schemeClr>
                </a:solidFill>
                <a:cs typeface="Arial" panose="020B0604020202020204" pitchFamily="34" charset="0"/>
              </a:rPr>
              <a:t>StorageFactory</a:t>
            </a:r>
            <a:r>
              <a:rPr lang="en-US" dirty="0">
                <a:solidFill>
                  <a:schemeClr val="tx1">
                    <a:lumMod val="75000"/>
                    <a:lumOff val="25000"/>
                  </a:schemeClr>
                </a:solidFill>
                <a:cs typeface="Arial" panose="020B0604020202020204" pitchFamily="34" charset="0"/>
              </a:rPr>
              <a:t> plugin </a:t>
            </a:r>
            <a:r>
              <a:rPr lang="en-US" dirty="0">
                <a:solidFill>
                  <a:srgbClr val="FF6E1E"/>
                </a:solidFill>
                <a:cs typeface="Arial" panose="020B0604020202020204" pitchFamily="34" charset="0"/>
              </a:rPr>
              <a:t>versus the </a:t>
            </a:r>
            <a:r>
              <a:rPr lang="en-US" dirty="0" err="1">
                <a:solidFill>
                  <a:srgbClr val="FF6E1E"/>
                </a:solidFill>
                <a:cs typeface="Arial" panose="020B0604020202020204" pitchFamily="34" charset="0"/>
              </a:rPr>
              <a:t>libdavix</a:t>
            </a:r>
            <a:r>
              <a:rPr lang="en-US" dirty="0">
                <a:solidFill>
                  <a:srgbClr val="FF6E1E"/>
                </a:solidFill>
                <a:cs typeface="Arial" panose="020B0604020202020204" pitchFamily="34" charset="0"/>
              </a:rPr>
              <a:t> one above</a:t>
            </a:r>
          </a:p>
          <a:p>
            <a:pPr marL="742950" lvl="1" indent="-285750">
              <a:spcBef>
                <a:spcPts val="0"/>
              </a:spcBef>
              <a:spcAft>
                <a:spcPts val="600"/>
              </a:spcAft>
              <a:buFont typeface="Wingdings" panose="05000000000000000000" pitchFamily="2" charset="2"/>
              <a:buChar char="Ø"/>
              <a:tabLst>
                <a:tab pos="346075" algn="l"/>
              </a:tabLst>
            </a:pPr>
            <a:r>
              <a:rPr lang="en-US" dirty="0">
                <a:solidFill>
                  <a:schemeClr val="tx1">
                    <a:lumMod val="75000"/>
                    <a:lumOff val="25000"/>
                  </a:schemeClr>
                </a:solidFill>
                <a:cs typeface="Arial" panose="020B0604020202020204" pitchFamily="34" charset="0"/>
              </a:rPr>
              <a:t>Characterize the performance of using </a:t>
            </a:r>
            <a:r>
              <a:rPr lang="en-US" dirty="0" err="1">
                <a:solidFill>
                  <a:schemeClr val="tx1">
                    <a:lumMod val="75000"/>
                    <a:lumOff val="25000"/>
                  </a:schemeClr>
                </a:solidFill>
                <a:cs typeface="Arial" panose="020B0604020202020204" pitchFamily="34" charset="0"/>
              </a:rPr>
              <a:t>Xrootd</a:t>
            </a:r>
            <a:r>
              <a:rPr lang="en-US" dirty="0">
                <a:solidFill>
                  <a:schemeClr val="tx1">
                    <a:lumMod val="75000"/>
                    <a:lumOff val="25000"/>
                  </a:schemeClr>
                </a:solidFill>
                <a:cs typeface="Arial" panose="020B0604020202020204" pitchFamily="34" charset="0"/>
              </a:rPr>
              <a:t> for HTTP caching </a:t>
            </a:r>
            <a:r>
              <a:rPr lang="en-US" dirty="0">
                <a:solidFill>
                  <a:srgbClr val="FF6E1E"/>
                </a:solidFill>
                <a:cs typeface="Arial" panose="020B0604020202020204" pitchFamily="34" charset="0"/>
              </a:rPr>
              <a:t>versus squid</a:t>
            </a:r>
          </a:p>
        </p:txBody>
      </p:sp>
      <p:cxnSp>
        <p:nvCxnSpPr>
          <p:cNvPr id="12" name="Straight Connector 11"/>
          <p:cNvCxnSpPr/>
          <p:nvPr/>
        </p:nvCxnSpPr>
        <p:spPr>
          <a:xfrm>
            <a:off x="160421" y="3916828"/>
            <a:ext cx="11935326" cy="10028"/>
          </a:xfrm>
          <a:prstGeom prst="line">
            <a:avLst/>
          </a:prstGeom>
          <a:ln w="57150"/>
        </p:spPr>
        <p:style>
          <a:lnRef idx="1">
            <a:schemeClr val="accent6"/>
          </a:lnRef>
          <a:fillRef idx="0">
            <a:schemeClr val="accent6"/>
          </a:fillRef>
          <a:effectRef idx="0">
            <a:schemeClr val="accent6"/>
          </a:effectRef>
          <a:fontRef idx="minor">
            <a:schemeClr val="tx1"/>
          </a:fontRef>
        </p:style>
      </p:cxnSp>
      <p:sp>
        <p:nvSpPr>
          <p:cNvPr id="4" name="Rectangle 3"/>
          <p:cNvSpPr/>
          <p:nvPr/>
        </p:nvSpPr>
        <p:spPr>
          <a:xfrm>
            <a:off x="160419" y="3986228"/>
            <a:ext cx="11782928" cy="2323713"/>
          </a:xfrm>
          <a:prstGeom prst="rect">
            <a:avLst/>
          </a:prstGeom>
        </p:spPr>
        <p:txBody>
          <a:bodyPr wrap="square">
            <a:spAutoFit/>
          </a:bodyPr>
          <a:lstStyle/>
          <a:p>
            <a:pPr marL="285750" indent="-342900">
              <a:spcAft>
                <a:spcPts val="600"/>
              </a:spcAft>
              <a:buFont typeface="Arial" panose="020B0604020202020204" pitchFamily="34" charset="0"/>
              <a:buChar char="•"/>
            </a:pPr>
            <a:r>
              <a:rPr lang="en-GB" sz="2200" b="1" dirty="0" smtClean="0">
                <a:solidFill>
                  <a:schemeClr val="tx1">
                    <a:lumMod val="75000"/>
                    <a:lumOff val="25000"/>
                  </a:schemeClr>
                </a:solidFill>
              </a:rPr>
              <a:t>Working on understanding Hadoop performance on </a:t>
            </a:r>
            <a:r>
              <a:rPr lang="en-GB" sz="2200" b="1" dirty="0" smtClean="0">
                <a:solidFill>
                  <a:srgbClr val="FF6E1E"/>
                </a:solidFill>
              </a:rPr>
              <a:t>US CMS Sites</a:t>
            </a:r>
            <a:r>
              <a:rPr lang="en-GB" sz="2200" b="1" dirty="0" smtClean="0">
                <a:solidFill>
                  <a:schemeClr val="bg1">
                    <a:lumMod val="50000"/>
                  </a:schemeClr>
                </a:solidFill>
              </a:rPr>
              <a:t>:</a:t>
            </a:r>
          </a:p>
          <a:p>
            <a:pPr marL="742950" lvl="1" indent="-342900">
              <a:spcAft>
                <a:spcPts val="600"/>
              </a:spcAft>
              <a:buFont typeface="Arial" panose="020B0604020202020204" pitchFamily="34" charset="0"/>
              <a:buChar char="•"/>
            </a:pPr>
            <a:r>
              <a:rPr lang="en-GB" sz="2200" dirty="0" smtClean="0">
                <a:solidFill>
                  <a:schemeClr val="tx1">
                    <a:lumMod val="75000"/>
                    <a:lumOff val="25000"/>
                  </a:schemeClr>
                </a:solidFill>
              </a:rPr>
              <a:t>Caltech (</a:t>
            </a:r>
            <a:r>
              <a:rPr lang="en-GB" sz="2200" dirty="0" err="1" smtClean="0">
                <a:solidFill>
                  <a:schemeClr val="tx1">
                    <a:lumMod val="75000"/>
                    <a:lumOff val="25000"/>
                  </a:schemeClr>
                </a:solidFill>
              </a:rPr>
              <a:t>dd</a:t>
            </a:r>
            <a:r>
              <a:rPr lang="en-GB" sz="2200" dirty="0">
                <a:solidFill>
                  <a:schemeClr val="tx1">
                    <a:lumMod val="75000"/>
                    <a:lumOff val="25000"/>
                  </a:schemeClr>
                </a:solidFill>
              </a:rPr>
              <a:t> </a:t>
            </a:r>
            <a:r>
              <a:rPr lang="en-GB" sz="2200" dirty="0" smtClean="0">
                <a:solidFill>
                  <a:schemeClr val="tx1">
                    <a:lumMod val="75000"/>
                    <a:lumOff val="25000"/>
                  </a:schemeClr>
                </a:solidFill>
              </a:rPr>
              <a:t>- 650Mbps, </a:t>
            </a:r>
            <a:r>
              <a:rPr lang="en-GB" sz="2200" dirty="0" err="1" smtClean="0">
                <a:solidFill>
                  <a:schemeClr val="tx1">
                    <a:lumMod val="75000"/>
                    <a:lumOff val="25000"/>
                  </a:schemeClr>
                </a:solidFill>
              </a:rPr>
              <a:t>xrdcp</a:t>
            </a:r>
            <a:r>
              <a:rPr lang="en-GB" sz="2200" dirty="0" smtClean="0">
                <a:solidFill>
                  <a:schemeClr val="tx1">
                    <a:lumMod val="75000"/>
                    <a:lumOff val="25000"/>
                  </a:schemeClr>
                </a:solidFill>
              </a:rPr>
              <a:t> – 350Mbps), Wisconsin (</a:t>
            </a:r>
            <a:r>
              <a:rPr lang="en-GB" sz="2200" dirty="0" err="1" smtClean="0">
                <a:solidFill>
                  <a:schemeClr val="tx1">
                    <a:lumMod val="75000"/>
                    <a:lumOff val="25000"/>
                  </a:schemeClr>
                </a:solidFill>
              </a:rPr>
              <a:t>xrdcp</a:t>
            </a:r>
            <a:r>
              <a:rPr lang="en-GB" sz="2200" dirty="0" smtClean="0">
                <a:solidFill>
                  <a:schemeClr val="tx1">
                    <a:lumMod val="75000"/>
                    <a:lumOff val="25000"/>
                  </a:schemeClr>
                </a:solidFill>
              </a:rPr>
              <a:t> – 350Mbps), Nebraska (asked to do same tests). </a:t>
            </a:r>
            <a:r>
              <a:rPr lang="en-GB" sz="2200" dirty="0" smtClean="0">
                <a:solidFill>
                  <a:srgbClr val="FF6E1E"/>
                </a:solidFill>
              </a:rPr>
              <a:t>All tests are done locally from </a:t>
            </a:r>
            <a:r>
              <a:rPr lang="en-GB" sz="2200" dirty="0">
                <a:solidFill>
                  <a:srgbClr val="FF6E1E"/>
                </a:solidFill>
              </a:rPr>
              <a:t>HDFS to /</a:t>
            </a:r>
            <a:r>
              <a:rPr lang="en-GB" sz="2200" dirty="0" smtClean="0">
                <a:solidFill>
                  <a:srgbClr val="FF6E1E"/>
                </a:solidFill>
              </a:rPr>
              <a:t>dev/null.</a:t>
            </a:r>
          </a:p>
          <a:p>
            <a:pPr marL="285750" indent="-342900">
              <a:spcAft>
                <a:spcPts val="600"/>
              </a:spcAft>
              <a:buFont typeface="Arial" panose="020B0604020202020204" pitchFamily="34" charset="0"/>
              <a:buChar char="•"/>
            </a:pPr>
            <a:r>
              <a:rPr lang="en-GB" sz="2200" b="1" dirty="0" smtClean="0">
                <a:solidFill>
                  <a:schemeClr val="tx1">
                    <a:lumMod val="75000"/>
                    <a:lumOff val="25000"/>
                  </a:schemeClr>
                </a:solidFill>
              </a:rPr>
              <a:t>Measured performance of CMSSW caching algorithms and different protocol providers (</a:t>
            </a:r>
            <a:r>
              <a:rPr lang="en-GB" sz="2200" dirty="0" smtClean="0">
                <a:solidFill>
                  <a:schemeClr val="accent2"/>
                </a:solidFill>
              </a:rPr>
              <a:t>Apache, Nginx, </a:t>
            </a:r>
            <a:r>
              <a:rPr lang="en-GB" sz="2200" dirty="0" err="1" smtClean="0">
                <a:solidFill>
                  <a:schemeClr val="accent2"/>
                </a:solidFill>
              </a:rPr>
              <a:t>HttpOverXrootd</a:t>
            </a:r>
            <a:r>
              <a:rPr lang="en-GB" sz="2200" b="1" dirty="0" smtClean="0">
                <a:solidFill>
                  <a:schemeClr val="tx1">
                    <a:lumMod val="75000"/>
                    <a:lumOff val="25000"/>
                  </a:schemeClr>
                </a:solidFill>
              </a:rPr>
              <a:t>) </a:t>
            </a:r>
          </a:p>
          <a:p>
            <a:pPr marL="285750" indent="-342900">
              <a:spcAft>
                <a:spcPts val="600"/>
              </a:spcAft>
              <a:buFont typeface="Arial" panose="020B0604020202020204" pitchFamily="34" charset="0"/>
              <a:buChar char="•"/>
            </a:pPr>
            <a:r>
              <a:rPr lang="en-GB" sz="2000" b="1" dirty="0" smtClean="0">
                <a:solidFill>
                  <a:schemeClr val="tx1">
                    <a:lumMod val="75000"/>
                    <a:lumOff val="25000"/>
                  </a:schemeClr>
                </a:solidFill>
              </a:rPr>
              <a:t>Constructing testbed for </a:t>
            </a:r>
            <a:r>
              <a:rPr lang="en-GB" sz="2000" b="1" dirty="0" smtClean="0">
                <a:solidFill>
                  <a:schemeClr val="accent2"/>
                </a:solidFill>
              </a:rPr>
              <a:t>HDFS</a:t>
            </a:r>
            <a:r>
              <a:rPr lang="en-GB" sz="2000" b="1" dirty="0" smtClean="0">
                <a:solidFill>
                  <a:schemeClr val="tx1">
                    <a:lumMod val="75000"/>
                    <a:lumOff val="25000"/>
                  </a:schemeClr>
                </a:solidFill>
              </a:rPr>
              <a:t> </a:t>
            </a:r>
            <a:r>
              <a:rPr lang="en-GB" sz="2000" b="1" dirty="0" smtClean="0">
                <a:solidFill>
                  <a:schemeClr val="tx1">
                    <a:lumMod val="75000"/>
                    <a:lumOff val="25000"/>
                  </a:schemeClr>
                </a:solidFill>
              </a:rPr>
              <a:t>and </a:t>
            </a:r>
            <a:r>
              <a:rPr lang="en-GB" sz="2000" b="1" dirty="0" smtClean="0">
                <a:solidFill>
                  <a:schemeClr val="accent2"/>
                </a:solidFill>
              </a:rPr>
              <a:t>CEPH storage</a:t>
            </a:r>
            <a:r>
              <a:rPr lang="en-GB" sz="2000" b="1" dirty="0" smtClean="0">
                <a:solidFill>
                  <a:schemeClr val="tx1">
                    <a:lumMod val="75000"/>
                    <a:lumOff val="25000"/>
                  </a:schemeClr>
                </a:solidFill>
              </a:rPr>
              <a:t> </a:t>
            </a:r>
            <a:r>
              <a:rPr lang="en-GB" sz="2000" b="1" dirty="0" smtClean="0">
                <a:solidFill>
                  <a:schemeClr val="tx1">
                    <a:lumMod val="75000"/>
                    <a:lumOff val="25000"/>
                  </a:schemeClr>
                </a:solidFill>
              </a:rPr>
              <a:t>to estimate the interplay with CMS workflows.</a:t>
            </a:r>
            <a:endParaRPr lang="en-GB" sz="2000" b="1" dirty="0">
              <a:solidFill>
                <a:srgbClr val="FF6E1E"/>
              </a:solidFill>
            </a:endParaRPr>
          </a:p>
        </p:txBody>
      </p:sp>
      <p:pic>
        <p:nvPicPr>
          <p:cNvPr id="14"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7"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r>
              <a:rPr lang="en-US" smtClean="0"/>
              <a:t>13/10/2016</a:t>
            </a:r>
            <a:endParaRPr lang="en-GB"/>
          </a:p>
        </p:txBody>
      </p:sp>
      <p:sp>
        <p:nvSpPr>
          <p:cNvPr id="8" name="Footer Placeholder 7"/>
          <p:cNvSpPr>
            <a:spLocks noGrp="1"/>
          </p:cNvSpPr>
          <p:nvPr>
            <p:ph type="ftr" sz="quarter" idx="11"/>
          </p:nvPr>
        </p:nvSpPr>
        <p:spPr/>
        <p:txBody>
          <a:bodyPr/>
          <a:lstStyle/>
          <a:p>
            <a:r>
              <a:rPr lang="en-GB" smtClean="0"/>
              <a:t>Jean-Roch Vlimant &amp; Justas Balcas</a:t>
            </a:r>
            <a:endParaRPr lang="en-GB"/>
          </a:p>
        </p:txBody>
      </p:sp>
      <p:sp>
        <p:nvSpPr>
          <p:cNvPr id="9" name="Slide Number Placeholder 8"/>
          <p:cNvSpPr>
            <a:spLocks noGrp="1"/>
          </p:cNvSpPr>
          <p:nvPr>
            <p:ph type="sldNum" sz="quarter" idx="12"/>
          </p:nvPr>
        </p:nvSpPr>
        <p:spPr/>
        <p:txBody>
          <a:bodyPr/>
          <a:lstStyle/>
          <a:p>
            <a:fld id="{F16C04A8-3194-4548-96B6-07828A9153A5}" type="slidenum">
              <a:rPr lang="en-GB" smtClean="0"/>
              <a:t>6</a:t>
            </a:fld>
            <a:endParaRPr lang="en-GB"/>
          </a:p>
        </p:txBody>
      </p:sp>
    </p:spTree>
    <p:extLst>
      <p:ext uri="{BB962C8B-B14F-4D97-AF65-F5344CB8AC3E}">
        <p14:creationId xmlns:p14="http://schemas.microsoft.com/office/powerpoint/2010/main" val="5271865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1" name="Rounded Rectangle 20"/>
          <p:cNvSpPr/>
          <p:nvPr/>
        </p:nvSpPr>
        <p:spPr>
          <a:xfrm>
            <a:off x="7015719" y="3441417"/>
            <a:ext cx="4840565" cy="2434516"/>
          </a:xfrm>
          <a:prstGeom prst="roundRect">
            <a:avLst/>
          </a:prstGeom>
          <a:ln>
            <a:solidFill>
              <a:srgbClr val="FF0000"/>
            </a:solidFill>
          </a:ln>
          <a:effectLst>
            <a:outerShdw blurRad="50800" dist="38100" dir="18900000" algn="b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18" name="Rounded Rectangle 17"/>
          <p:cNvSpPr/>
          <p:nvPr/>
        </p:nvSpPr>
        <p:spPr>
          <a:xfrm>
            <a:off x="1309352" y="4780124"/>
            <a:ext cx="2800217" cy="1258205"/>
          </a:xfrm>
          <a:prstGeom prst="roundRect">
            <a:avLst/>
          </a:prstGeom>
          <a:ln>
            <a:solidFill>
              <a:srgbClr val="FF0000"/>
            </a:solidFill>
          </a:ln>
          <a:effectLst>
            <a:outerShdw blurRad="50800" dist="38100" dir="18900000" algn="b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3" name="Title 2"/>
          <p:cNvSpPr>
            <a:spLocks noGrp="1"/>
          </p:cNvSpPr>
          <p:nvPr>
            <p:ph type="title"/>
          </p:nvPr>
        </p:nvSpPr>
        <p:spPr>
          <a:xfrm>
            <a:off x="160421" y="-9860"/>
            <a:ext cx="8592552" cy="862096"/>
          </a:xfrm>
        </p:spPr>
        <p:txBody>
          <a:bodyPr>
            <a:normAutofit/>
          </a:bodyPr>
          <a:lstStyle/>
          <a:p>
            <a:r>
              <a:rPr lang="en-GB" sz="3600" dirty="0" smtClean="0">
                <a:solidFill>
                  <a:schemeClr val="tx1">
                    <a:lumMod val="75000"/>
                    <a:lumOff val="25000"/>
                  </a:schemeClr>
                </a:solidFill>
              </a:rPr>
              <a:t>Testbed </a:t>
            </a:r>
            <a:r>
              <a:rPr lang="en-GB" sz="3600" dirty="0" smtClean="0">
                <a:solidFill>
                  <a:schemeClr val="tx1">
                    <a:lumMod val="75000"/>
                    <a:lumOff val="25000"/>
                  </a:schemeClr>
                </a:solidFill>
              </a:rPr>
              <a:t>Setup (Based at Caltech)</a:t>
            </a:r>
            <a:endParaRPr lang="en-GB" sz="3600"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160421" y="862264"/>
            <a:ext cx="11566359" cy="2262158"/>
          </a:xfrm>
          <a:prstGeom prst="rect">
            <a:avLst/>
          </a:prstGeom>
        </p:spPr>
        <p:txBody>
          <a:bodyPr wrap="square">
            <a:spAutoFit/>
          </a:bodyPr>
          <a:lstStyle/>
          <a:p>
            <a:pPr marL="342900" indent="-342900">
              <a:spcBef>
                <a:spcPts val="0"/>
              </a:spcBef>
              <a:spcAft>
                <a:spcPts val="600"/>
              </a:spcAft>
              <a:buFont typeface="Wingdings" panose="05000000000000000000" pitchFamily="2" charset="2"/>
              <a:buChar char="q"/>
              <a:tabLst>
                <a:tab pos="346075" algn="l"/>
              </a:tabLst>
            </a:pPr>
            <a:r>
              <a:rPr lang="en-US" sz="2200" b="1" dirty="0" smtClean="0">
                <a:solidFill>
                  <a:schemeClr val="tx1">
                    <a:lumMod val="75000"/>
                    <a:lumOff val="25000"/>
                  </a:schemeClr>
                </a:solidFill>
                <a:cs typeface="Arial" panose="020B0604020202020204" pitchFamily="34" charset="0"/>
              </a:rPr>
              <a:t>Hardware &amp; Software:</a:t>
            </a:r>
          </a:p>
          <a:p>
            <a:pPr marL="800100" lvl="1" indent="-342900">
              <a:spcAft>
                <a:spcPts val="600"/>
              </a:spcAft>
              <a:buFont typeface="Wingdings" panose="05000000000000000000" pitchFamily="2" charset="2"/>
              <a:buChar char="q"/>
              <a:tabLst>
                <a:tab pos="346075" algn="l"/>
              </a:tabLst>
            </a:pPr>
            <a:r>
              <a:rPr lang="en-US" dirty="0" smtClean="0">
                <a:solidFill>
                  <a:schemeClr val="tx1">
                    <a:lumMod val="75000"/>
                    <a:lumOff val="25000"/>
                  </a:schemeClr>
                </a:solidFill>
                <a:cs typeface="Arial" panose="020B0604020202020204" pitchFamily="34" charset="0"/>
              </a:rPr>
              <a:t>Data Node: </a:t>
            </a:r>
            <a:r>
              <a:rPr lang="pt-BR" dirty="0">
                <a:solidFill>
                  <a:schemeClr val="tx1">
                    <a:lumMod val="75000"/>
                    <a:lumOff val="25000"/>
                  </a:schemeClr>
                </a:solidFill>
                <a:cs typeface="Arial" panose="020B0604020202020204" pitchFamily="34" charset="0"/>
              </a:rPr>
              <a:t>CC7, 24gb RAM, 60TB RAID 0, Intel(R) Xeon(R) CPU </a:t>
            </a:r>
            <a:r>
              <a:rPr lang="pt-BR" dirty="0" smtClean="0">
                <a:solidFill>
                  <a:schemeClr val="tx1">
                    <a:lumMod val="75000"/>
                    <a:lumOff val="25000"/>
                  </a:schemeClr>
                </a:solidFill>
                <a:cs typeface="Arial" panose="020B0604020202020204" pitchFamily="34" charset="0"/>
                <a:hlinkClick r:id="rId4"/>
              </a:rPr>
              <a:t>X5670@2.93Ghz</a:t>
            </a:r>
            <a:endParaRPr lang="pt-BR" dirty="0" smtClean="0">
              <a:solidFill>
                <a:schemeClr val="tx1">
                  <a:lumMod val="75000"/>
                  <a:lumOff val="25000"/>
                </a:schemeClr>
              </a:solidFill>
              <a:cs typeface="Arial" panose="020B0604020202020204" pitchFamily="34" charset="0"/>
            </a:endParaRPr>
          </a:p>
          <a:p>
            <a:pPr marL="800100" lvl="1" indent="-342900">
              <a:spcAft>
                <a:spcPts val="600"/>
              </a:spcAft>
              <a:buFont typeface="Wingdings" panose="05000000000000000000" pitchFamily="2" charset="2"/>
              <a:buChar char="q"/>
              <a:tabLst>
                <a:tab pos="346075" algn="l"/>
              </a:tabLst>
            </a:pPr>
            <a:r>
              <a:rPr lang="pt-BR" dirty="0">
                <a:solidFill>
                  <a:schemeClr val="tx1">
                    <a:lumMod val="75000"/>
                    <a:lumOff val="25000"/>
                  </a:schemeClr>
                </a:solidFill>
                <a:cs typeface="Arial" panose="020B0604020202020204" pitchFamily="34" charset="0"/>
              </a:rPr>
              <a:t>Execute Node: SLC6, 64GB RAM, </a:t>
            </a:r>
            <a:r>
              <a:rPr lang="pt-BR" dirty="0" smtClean="0">
                <a:solidFill>
                  <a:schemeClr val="tx1">
                    <a:lumMod val="75000"/>
                    <a:lumOff val="25000"/>
                  </a:schemeClr>
                </a:solidFill>
                <a:cs typeface="Arial" panose="020B0604020202020204" pitchFamily="34" charset="0"/>
              </a:rPr>
              <a:t>4TB RAID 0, </a:t>
            </a:r>
            <a:r>
              <a:rPr lang="pt-BR" dirty="0">
                <a:solidFill>
                  <a:schemeClr val="tx1">
                    <a:lumMod val="75000"/>
                    <a:lumOff val="25000"/>
                  </a:schemeClr>
                </a:solidFill>
                <a:cs typeface="Arial" panose="020B0604020202020204" pitchFamily="34" charset="0"/>
              </a:rPr>
              <a:t>Intel (R) Xeon(r) CPU </a:t>
            </a:r>
            <a:r>
              <a:rPr lang="pt-BR" dirty="0" smtClean="0">
                <a:solidFill>
                  <a:schemeClr val="tx1">
                    <a:lumMod val="75000"/>
                    <a:lumOff val="25000"/>
                  </a:schemeClr>
                </a:solidFill>
                <a:cs typeface="Arial" panose="020B0604020202020204" pitchFamily="34" charset="0"/>
                <a:hlinkClick r:id="rId5"/>
              </a:rPr>
              <a:t>E5-2670@2.60Ghz</a:t>
            </a:r>
            <a:endParaRPr lang="pt-BR" dirty="0" smtClean="0">
              <a:solidFill>
                <a:schemeClr val="tx1">
                  <a:lumMod val="75000"/>
                  <a:lumOff val="25000"/>
                </a:schemeClr>
              </a:solidFill>
              <a:cs typeface="Arial" panose="020B0604020202020204" pitchFamily="34" charset="0"/>
            </a:endParaRPr>
          </a:p>
          <a:p>
            <a:pPr marL="800100" lvl="1" indent="-342900">
              <a:spcAft>
                <a:spcPts val="600"/>
              </a:spcAft>
              <a:buFont typeface="Wingdings" panose="05000000000000000000" pitchFamily="2" charset="2"/>
              <a:buChar char="q"/>
              <a:tabLst>
                <a:tab pos="346075" algn="l"/>
              </a:tabLst>
            </a:pPr>
            <a:r>
              <a:rPr lang="pt-BR" dirty="0" smtClean="0">
                <a:solidFill>
                  <a:schemeClr val="tx1">
                    <a:lumMod val="75000"/>
                    <a:lumOff val="25000"/>
                  </a:schemeClr>
                </a:solidFill>
                <a:cs typeface="Arial" panose="020B0604020202020204" pitchFamily="34" charset="0"/>
              </a:rPr>
              <a:t>No </a:t>
            </a:r>
            <a:r>
              <a:rPr lang="pt-BR" dirty="0" smtClean="0">
                <a:solidFill>
                  <a:schemeClr val="tx1">
                    <a:lumMod val="75000"/>
                    <a:lumOff val="25000"/>
                  </a:schemeClr>
                </a:solidFill>
                <a:cs typeface="Arial" panose="020B0604020202020204" pitchFamily="34" charset="0"/>
              </a:rPr>
              <a:t>linux or software modifications, default installation. Increased </a:t>
            </a:r>
            <a:r>
              <a:rPr lang="pt-BR" b="1" dirty="0" smtClean="0">
                <a:solidFill>
                  <a:srgbClr val="FF711F"/>
                </a:solidFill>
                <a:cs typeface="Arial" panose="020B0604020202020204" pitchFamily="34" charset="0"/>
              </a:rPr>
              <a:t>NIC MTU </a:t>
            </a:r>
            <a:r>
              <a:rPr lang="pt-BR" dirty="0" smtClean="0">
                <a:cs typeface="Arial" panose="020B0604020202020204" pitchFamily="34" charset="0"/>
              </a:rPr>
              <a:t>and</a:t>
            </a:r>
            <a:r>
              <a:rPr lang="pt-BR" b="1" dirty="0" smtClean="0">
                <a:solidFill>
                  <a:srgbClr val="FF711F"/>
                </a:solidFill>
                <a:cs typeface="Arial" panose="020B0604020202020204" pitchFamily="34" charset="0"/>
              </a:rPr>
              <a:t> txqueuelen</a:t>
            </a:r>
          </a:p>
          <a:p>
            <a:pPr marL="342900" indent="-342900">
              <a:spcAft>
                <a:spcPts val="600"/>
              </a:spcAft>
              <a:buFont typeface="Wingdings" panose="05000000000000000000" pitchFamily="2" charset="2"/>
              <a:buChar char="q"/>
              <a:tabLst>
                <a:tab pos="346075" algn="l"/>
              </a:tabLst>
            </a:pPr>
            <a:r>
              <a:rPr lang="pt-BR" sz="2200" b="1" dirty="0" smtClean="0">
                <a:solidFill>
                  <a:schemeClr val="tx1">
                    <a:lumMod val="75000"/>
                    <a:lumOff val="25000"/>
                  </a:schemeClr>
                </a:solidFill>
                <a:cs typeface="Arial" panose="020B0604020202020204" pitchFamily="34" charset="0"/>
              </a:rPr>
              <a:t>Test cases:</a:t>
            </a:r>
          </a:p>
          <a:p>
            <a:pPr marL="800100" lvl="1" indent="-342900">
              <a:spcAft>
                <a:spcPts val="600"/>
              </a:spcAft>
              <a:buFont typeface="Wingdings" panose="05000000000000000000" pitchFamily="2" charset="2"/>
              <a:buChar char="q"/>
              <a:tabLst>
                <a:tab pos="346075" algn="l"/>
              </a:tabLst>
            </a:pPr>
            <a:r>
              <a:rPr lang="pt-BR" dirty="0" smtClean="0">
                <a:solidFill>
                  <a:schemeClr val="tx1">
                    <a:lumMod val="75000"/>
                    <a:lumOff val="25000"/>
                  </a:schemeClr>
                </a:solidFill>
                <a:cs typeface="Arial" panose="020B0604020202020204" pitchFamily="34" charset="0"/>
              </a:rPr>
              <a:t>Always running only one job on execute node which reads from Data node on a specific </a:t>
            </a:r>
            <a:r>
              <a:rPr lang="pt-BR" dirty="0" smtClean="0">
                <a:solidFill>
                  <a:schemeClr val="tx1">
                    <a:lumMod val="75000"/>
                    <a:lumOff val="25000"/>
                  </a:schemeClr>
                </a:solidFill>
                <a:cs typeface="Arial" panose="020B0604020202020204" pitchFamily="34" charset="0"/>
              </a:rPr>
              <a:t>protocol.</a:t>
            </a:r>
            <a:endParaRPr lang="en-US" dirty="0" smtClean="0">
              <a:solidFill>
                <a:schemeClr val="tx1">
                  <a:lumMod val="75000"/>
                  <a:lumOff val="25000"/>
                </a:schemeClr>
              </a:solidFill>
              <a:cs typeface="Arial" panose="020B0604020202020204" pitchFamily="34" charset="0"/>
            </a:endParaRPr>
          </a:p>
        </p:txBody>
      </p:sp>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p:cNvGraphicFramePr>
            <a:graphicFrameLocks noGrp="1"/>
          </p:cNvGraphicFramePr>
          <p:nvPr>
            <p:extLst>
              <p:ext uri="{D42A27DB-BD31-4B8C-83A1-F6EECF244321}">
                <p14:modId xmlns:p14="http://schemas.microsoft.com/office/powerpoint/2010/main" val="3696479570"/>
              </p:ext>
            </p:extLst>
          </p:nvPr>
        </p:nvGraphicFramePr>
        <p:xfrm>
          <a:off x="124088" y="3137041"/>
          <a:ext cx="6328124" cy="891540"/>
        </p:xfrm>
        <a:graphic>
          <a:graphicData uri="http://schemas.openxmlformats.org/drawingml/2006/table">
            <a:tbl>
              <a:tblPr>
                <a:tableStyleId>{8799B23B-EC83-4686-B30A-512413B5E67A}</a:tableStyleId>
              </a:tblPr>
              <a:tblGrid>
                <a:gridCol w="1150568"/>
                <a:gridCol w="575284"/>
                <a:gridCol w="575284"/>
                <a:gridCol w="575284"/>
                <a:gridCol w="575284"/>
                <a:gridCol w="575284"/>
                <a:gridCol w="575284"/>
                <a:gridCol w="575284"/>
                <a:gridCol w="575284"/>
                <a:gridCol w="575284"/>
              </a:tblGrid>
              <a:tr h="190500">
                <a:tc>
                  <a:txBody>
                    <a:bodyPr/>
                    <a:lstStyle/>
                    <a:p>
                      <a:pPr algn="ctr" fontAlgn="b"/>
                      <a:r>
                        <a:rPr lang="en-GB" sz="1400" u="none" strike="noStrike" dirty="0" smtClean="0">
                          <a:effectLst/>
                        </a:rPr>
                        <a:t>Service/Plugin</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accent2">
                        <a:lumMod val="40000"/>
                        <a:lumOff val="60000"/>
                      </a:schemeClr>
                    </a:solidFill>
                  </a:tcPr>
                </a:tc>
                <a:tc gridSpan="3">
                  <a:txBody>
                    <a:bodyPr/>
                    <a:lstStyle/>
                    <a:p>
                      <a:pPr algn="ctr" fontAlgn="b"/>
                      <a:r>
                        <a:rPr lang="en-GB" sz="1400" u="none" strike="noStrike" dirty="0" err="1">
                          <a:effectLst/>
                        </a:rPr>
                        <a:t>Davix</a:t>
                      </a:r>
                      <a:endParaRPr lang="en-GB"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hMerge="1">
                  <a:txBody>
                    <a:bodyPr/>
                    <a:lstStyle/>
                    <a:p>
                      <a:endParaRPr lang="en-GB"/>
                    </a:p>
                  </a:txBody>
                  <a:tcPr/>
                </a:tc>
                <a:tc hMerge="1">
                  <a:txBody>
                    <a:bodyPr/>
                    <a:lstStyle/>
                    <a:p>
                      <a:endParaRPr lang="en-GB"/>
                    </a:p>
                  </a:txBody>
                  <a:tcPr/>
                </a:tc>
                <a:tc gridSpan="3">
                  <a:txBody>
                    <a:bodyPr/>
                    <a:lstStyle/>
                    <a:p>
                      <a:pPr algn="ctr" fontAlgn="b"/>
                      <a:r>
                        <a:rPr lang="en-GB" sz="1400" u="none" strike="noStrike" dirty="0" err="1">
                          <a:effectLst/>
                        </a:rPr>
                        <a:t>XRootD</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accent2">
                        <a:lumMod val="40000"/>
                        <a:lumOff val="60000"/>
                      </a:schemeClr>
                    </a:solidFill>
                  </a:tcPr>
                </a:tc>
                <a:tc hMerge="1">
                  <a:txBody>
                    <a:bodyPr/>
                    <a:lstStyle/>
                    <a:p>
                      <a:endParaRPr lang="en-GB"/>
                    </a:p>
                  </a:txBody>
                  <a:tcPr/>
                </a:tc>
                <a:tc hMerge="1">
                  <a:txBody>
                    <a:bodyPr/>
                    <a:lstStyle/>
                    <a:p>
                      <a:endParaRPr lang="en-GB"/>
                    </a:p>
                  </a:txBody>
                  <a:tcPr/>
                </a:tc>
                <a:tc gridSpan="3">
                  <a:txBody>
                    <a:bodyPr/>
                    <a:lstStyle/>
                    <a:p>
                      <a:pPr algn="ctr" fontAlgn="b"/>
                      <a:r>
                        <a:rPr lang="en-GB" sz="1400" u="none" strike="noStrike" dirty="0">
                          <a:effectLst/>
                        </a:rPr>
                        <a:t>Curl</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accent2">
                        <a:lumMod val="40000"/>
                        <a:lumOff val="60000"/>
                      </a:schemeClr>
                    </a:solidFill>
                  </a:tcPr>
                </a:tc>
                <a:tc hMerge="1">
                  <a:txBody>
                    <a:bodyPr/>
                    <a:lstStyle/>
                    <a:p>
                      <a:endParaRPr lang="en-GB"/>
                    </a:p>
                  </a:txBody>
                  <a:tcPr/>
                </a:tc>
                <a:tc hMerge="1">
                  <a:txBody>
                    <a:bodyPr/>
                    <a:lstStyle/>
                    <a:p>
                      <a:endParaRPr lang="en-GB"/>
                    </a:p>
                  </a:txBody>
                  <a:tcPr/>
                </a:tc>
              </a:tr>
              <a:tr h="190500">
                <a:tc>
                  <a:txBody>
                    <a:bodyPr/>
                    <a:lstStyle/>
                    <a:p>
                      <a:pPr algn="ctr" fontAlgn="b"/>
                      <a:r>
                        <a:rPr lang="en-GB" sz="1400" u="none" strike="noStrike" dirty="0">
                          <a:effectLst/>
                        </a:rPr>
                        <a:t>Apache</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accent2">
                        <a:lumMod val="40000"/>
                        <a:lumOff val="60000"/>
                      </a:schemeClr>
                    </a:solidFill>
                  </a:tcPr>
                </a:tc>
                <a:tc>
                  <a:txBody>
                    <a:bodyPr/>
                    <a:lstStyle/>
                    <a:p>
                      <a:pPr algn="ctr" fontAlgn="b"/>
                      <a:r>
                        <a:rPr lang="en-GB" sz="1400" u="none" strike="noStrike" dirty="0" err="1">
                          <a:effectLst/>
                        </a:rPr>
                        <a:t>Appl</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Storage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LazyD</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 </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dirty="0">
                          <a:effectLst/>
                        </a:rPr>
                        <a:t> </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dirty="0">
                          <a:effectLst/>
                        </a:rPr>
                        <a:t> </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dirty="0">
                          <a:effectLst/>
                        </a:rPr>
                        <a:t> </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a:effectLst/>
                        </a:rPr>
                        <a:t> </a:t>
                      </a:r>
                      <a:endParaRPr lang="en-GB" sz="1400" b="0" i="0" u="none" strike="noStrike">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dirty="0">
                          <a:effectLst/>
                        </a:rPr>
                        <a:t>LazyD</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solidFill>
                  </a:tcPr>
                </a:tc>
              </a:tr>
              <a:tr h="190500">
                <a:tc>
                  <a:txBody>
                    <a:bodyPr/>
                    <a:lstStyle/>
                    <a:p>
                      <a:pPr algn="ctr" fontAlgn="b"/>
                      <a:r>
                        <a:rPr lang="en-GB" sz="1400" u="none" strike="noStrike" dirty="0">
                          <a:effectLst/>
                        </a:rPr>
                        <a:t>Nginx</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accent2">
                        <a:lumMod val="40000"/>
                        <a:lumOff val="60000"/>
                      </a:schemeClr>
                    </a:solidFill>
                  </a:tcPr>
                </a:tc>
                <a:tc>
                  <a:txBody>
                    <a:bodyPr/>
                    <a:lstStyle/>
                    <a:p>
                      <a:pPr algn="ctr" fontAlgn="b"/>
                      <a:r>
                        <a:rPr lang="en-GB" sz="1400" u="none" strike="noStrike" dirty="0" err="1">
                          <a:effectLst/>
                        </a:rPr>
                        <a:t>Appl</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Storage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LazyD</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 </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dirty="0">
                          <a:effectLst/>
                        </a:rPr>
                        <a:t> </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a:effectLst/>
                        </a:rPr>
                        <a:t> </a:t>
                      </a:r>
                      <a:endParaRPr lang="en-GB" sz="1400" b="0" i="0" u="none" strike="noStrike">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dirty="0">
                          <a:effectLst/>
                        </a:rPr>
                        <a:t> </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dirty="0">
                          <a:effectLst/>
                        </a:rPr>
                        <a:t> </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dirty="0">
                          <a:effectLst/>
                        </a:rPr>
                        <a:t>LazyD</a:t>
                      </a:r>
                      <a:endParaRPr lang="en-GB" sz="1400" b="0" i="0" u="none" strike="noStrike" dirty="0">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400" u="none" strike="noStrike" dirty="0" err="1">
                          <a:effectLst/>
                        </a:rPr>
                        <a:t>XrootD</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accent2">
                        <a:lumMod val="40000"/>
                        <a:lumOff val="60000"/>
                      </a:schemeClr>
                    </a:solidFill>
                  </a:tcPr>
                </a:tc>
                <a:tc>
                  <a:txBody>
                    <a:bodyPr/>
                    <a:lstStyle/>
                    <a:p>
                      <a:pPr algn="ctr" fontAlgn="b"/>
                      <a:r>
                        <a:rPr lang="en-GB" sz="1400" u="none" strike="noStrike">
                          <a:effectLst/>
                        </a:rPr>
                        <a:t>Appl</a:t>
                      </a:r>
                      <a:endParaRPr lang="en-GB"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Storage</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LazyD</a:t>
                      </a:r>
                      <a:endParaRPr lang="en-GB" sz="1400" b="0" i="0" u="none" strike="noStrike" dirty="0">
                        <a:solidFill>
                          <a:srgbClr val="000000"/>
                        </a:solidFill>
                        <a:effectLst/>
                        <a:latin typeface="Calibri" panose="020F0502020204030204" pitchFamily="34" charset="0"/>
                      </a:endParaRPr>
                    </a:p>
                  </a:txBody>
                  <a:tcPr marL="9525" marR="9525" marT="9525" marB="0" anchor="ctr">
                    <a:solidFill>
                      <a:srgbClr val="FF0000"/>
                    </a:solidFill>
                  </a:tcPr>
                </a:tc>
                <a:tc>
                  <a:txBody>
                    <a:bodyPr/>
                    <a:lstStyle/>
                    <a:p>
                      <a:pPr algn="ctr" fontAlgn="b"/>
                      <a:r>
                        <a:rPr lang="en-GB" sz="1400" u="none" strike="noStrike">
                          <a:effectLst/>
                        </a:rPr>
                        <a:t>Appl</a:t>
                      </a:r>
                      <a:endParaRPr lang="en-GB"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a:effectLst/>
                        </a:rPr>
                        <a:t>Storage</a:t>
                      </a:r>
                      <a:endParaRPr lang="en-GB"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LazyD</a:t>
                      </a:r>
                      <a:endParaRPr lang="en-GB"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GB" sz="1400" u="none" strike="noStrike" dirty="0">
                          <a:effectLst/>
                        </a:rPr>
                        <a:t> </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dirty="0">
                          <a:effectLst/>
                        </a:rPr>
                        <a:t> </a:t>
                      </a:r>
                      <a:endParaRPr lang="en-GB" sz="1400" b="0" i="0" u="none" strike="noStrike" dirty="0">
                        <a:solidFill>
                          <a:srgbClr val="000000"/>
                        </a:solidFill>
                        <a:effectLst/>
                        <a:latin typeface="Calibri" panose="020F0502020204030204" pitchFamily="34" charset="0"/>
                      </a:endParaRPr>
                    </a:p>
                  </a:txBody>
                  <a:tcPr marL="9525" marR="9525" marT="9525" marB="0" anchor="ctr">
                    <a:solidFill>
                      <a:schemeClr val="bg1">
                        <a:lumMod val="75000"/>
                      </a:schemeClr>
                    </a:solidFill>
                  </a:tcPr>
                </a:tc>
                <a:tc>
                  <a:txBody>
                    <a:bodyPr/>
                    <a:lstStyle/>
                    <a:p>
                      <a:pPr algn="ctr" fontAlgn="b"/>
                      <a:r>
                        <a:rPr lang="en-GB" sz="1400" u="none" strike="noStrike" dirty="0">
                          <a:effectLst/>
                        </a:rPr>
                        <a:t>LazyD</a:t>
                      </a:r>
                      <a:endParaRPr lang="en-GB" sz="1400" b="0" i="0" u="none" strike="noStrike" dirty="0">
                        <a:solidFill>
                          <a:srgbClr val="000000"/>
                        </a:solidFill>
                        <a:effectLst/>
                        <a:latin typeface="Calibri" panose="020F0502020204030204" pitchFamily="34" charset="0"/>
                      </a:endParaRPr>
                    </a:p>
                  </a:txBody>
                  <a:tcPr marL="9525" marR="9525" marT="9525" marB="0" anchor="ct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053741166"/>
              </p:ext>
            </p:extLst>
          </p:nvPr>
        </p:nvGraphicFramePr>
        <p:xfrm>
          <a:off x="1445135" y="4908366"/>
          <a:ext cx="2438400" cy="916305"/>
        </p:xfrm>
        <a:graphic>
          <a:graphicData uri="http://schemas.openxmlformats.org/drawingml/2006/table">
            <a:tbl>
              <a:tblPr>
                <a:tableStyleId>{8799B23B-EC83-4686-B30A-512413B5E67A}</a:tableStyleId>
              </a:tblPr>
              <a:tblGrid>
                <a:gridCol w="1720095"/>
                <a:gridCol w="223804"/>
                <a:gridCol w="255776"/>
                <a:gridCol w="238725"/>
              </a:tblGrid>
              <a:tr h="190500">
                <a:tc>
                  <a:txBody>
                    <a:bodyPr/>
                    <a:lstStyle/>
                    <a:p>
                      <a:pPr algn="ctr" fontAlgn="b"/>
                      <a:r>
                        <a:rPr lang="en-GB" sz="1100" u="none" strike="noStrike" dirty="0" smtClean="0">
                          <a:effectLst/>
                        </a:rPr>
                        <a:t>Percent of Branches/</a:t>
                      </a:r>
                    </a:p>
                    <a:p>
                      <a:pPr algn="ctr" fontAlgn="b"/>
                      <a:r>
                        <a:rPr lang="en-GB" sz="1100" u="none" strike="noStrike" dirty="0" smtClean="0">
                          <a:effectLst/>
                        </a:rPr>
                        <a:t>Trigger Factor [1]</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smtClean="0">
                          <a:effectLst/>
                        </a:rPr>
                        <a:t>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smtClean="0">
                          <a:effectLst/>
                        </a:rPr>
                        <a:t>1</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smtClean="0">
                          <a:effectLst/>
                        </a:rPr>
                        <a:t>20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r>
              <a:tr h="190500">
                <a:tc>
                  <a:txBody>
                    <a:bodyPr/>
                    <a:lstStyle/>
                    <a:p>
                      <a:pPr algn="ctr" fontAlgn="b"/>
                      <a:r>
                        <a:rPr lang="en-GB" sz="1100" u="none" strike="noStrike" dirty="0">
                          <a:effectLst/>
                        </a:rPr>
                        <a:t>1</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30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100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F0000"/>
                    </a:solidFill>
                  </a:tcPr>
                </a:tc>
              </a:tr>
            </a:tbl>
          </a:graphicData>
        </a:graphic>
      </p:graphicFrame>
      <p:cxnSp>
        <p:nvCxnSpPr>
          <p:cNvPr id="17" name="Straight Arrow Connector 16"/>
          <p:cNvCxnSpPr>
            <a:endCxn id="18" idx="0"/>
          </p:cNvCxnSpPr>
          <p:nvPr/>
        </p:nvCxnSpPr>
        <p:spPr>
          <a:xfrm>
            <a:off x="2709460" y="4018990"/>
            <a:ext cx="1" cy="761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Table 18"/>
          <p:cNvGraphicFramePr>
            <a:graphicFrameLocks noGrp="1"/>
          </p:cNvGraphicFramePr>
          <p:nvPr>
            <p:extLst>
              <p:ext uri="{D42A27DB-BD31-4B8C-83A1-F6EECF244321}">
                <p14:modId xmlns:p14="http://schemas.microsoft.com/office/powerpoint/2010/main" val="1255725739"/>
              </p:ext>
            </p:extLst>
          </p:nvPr>
        </p:nvGraphicFramePr>
        <p:xfrm>
          <a:off x="7147479" y="3637823"/>
          <a:ext cx="4579301" cy="2095500"/>
        </p:xfrm>
        <a:graphic>
          <a:graphicData uri="http://schemas.openxmlformats.org/drawingml/2006/table">
            <a:tbl>
              <a:tblPr>
                <a:tableStyleId>{8799B23B-EC83-4686-B30A-512413B5E67A}</a:tableStyleId>
              </a:tblPr>
              <a:tblGrid>
                <a:gridCol w="799301"/>
                <a:gridCol w="252000"/>
                <a:gridCol w="252000"/>
                <a:gridCol w="252000"/>
                <a:gridCol w="252000"/>
                <a:gridCol w="252000"/>
                <a:gridCol w="252000"/>
                <a:gridCol w="252000"/>
                <a:gridCol w="252000"/>
                <a:gridCol w="252000"/>
                <a:gridCol w="252000"/>
                <a:gridCol w="252000"/>
                <a:gridCol w="252000"/>
                <a:gridCol w="252000"/>
                <a:gridCol w="252000"/>
                <a:gridCol w="252000"/>
              </a:tblGrid>
              <a:tr h="190500">
                <a:tc>
                  <a:txBody>
                    <a:bodyPr/>
                    <a:lstStyle/>
                    <a:p>
                      <a:pPr algn="ctr" fontAlgn="b"/>
                      <a:r>
                        <a:rPr lang="en-GB" sz="1100" u="none" strike="noStrike" dirty="0" err="1" smtClean="0">
                          <a:effectLst/>
                        </a:rPr>
                        <a:t>JobN</a:t>
                      </a:r>
                      <a:r>
                        <a:rPr lang="en-GB" sz="1100" u="none" strike="noStrike" dirty="0" smtClean="0">
                          <a:effectLst/>
                        </a:rPr>
                        <a:t>/Delay</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2</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5</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10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15</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20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25</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30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40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50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60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70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a:effectLst/>
                        </a:rPr>
                        <a:t>80</a:t>
                      </a:r>
                      <a:endParaRPr lang="en-GB" sz="1100" b="0" i="0" u="none" strike="noStrike">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a:effectLst/>
                        </a:rPr>
                        <a:t>90</a:t>
                      </a:r>
                      <a:endParaRPr lang="en-GB" sz="1100" b="0" i="0" u="none" strike="noStrike">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r>
                        <a:rPr lang="en-GB" sz="1100" u="none" strike="noStrike" dirty="0">
                          <a:effectLst/>
                        </a:rPr>
                        <a:t>100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r>
              <a:tr h="190500">
                <a:tc>
                  <a:txBody>
                    <a:bodyPr/>
                    <a:lstStyle/>
                    <a:p>
                      <a:pPr algn="ctr" fontAlgn="b"/>
                      <a:r>
                        <a:rPr lang="en-GB" sz="1100" u="none" strike="noStrike" dirty="0">
                          <a:effectLst/>
                        </a:rPr>
                        <a:t>0</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1</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2</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3</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4</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5</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6</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7</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8</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r>
              <a:tr h="190500">
                <a:tc>
                  <a:txBody>
                    <a:bodyPr/>
                    <a:lstStyle/>
                    <a:p>
                      <a:pPr algn="ctr" fontAlgn="b"/>
                      <a:r>
                        <a:rPr lang="en-GB" sz="1100" u="none" strike="noStrike" dirty="0">
                          <a:effectLst/>
                        </a:rPr>
                        <a:t>9</a:t>
                      </a:r>
                      <a:endParaRPr lang="en-GB" sz="1100" b="0" i="0" u="none" strike="noStrike" dirty="0">
                        <a:solidFill>
                          <a:srgbClr val="000000"/>
                        </a:solidFill>
                        <a:effectLst/>
                        <a:latin typeface="Calibri" panose="020F0502020204030204" pitchFamily="34" charset="0"/>
                      </a:endParaRPr>
                    </a:p>
                  </a:txBody>
                  <a:tcPr marL="9525" marR="9525" marT="9525" marB="0" anchor="ctr">
                    <a:solidFill>
                      <a:srgbClr val="F8CBAD"/>
                    </a:solidFill>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ctr"/>
                </a:tc>
              </a:tr>
            </a:tbl>
          </a:graphicData>
        </a:graphic>
      </p:graphicFrame>
      <p:sp>
        <p:nvSpPr>
          <p:cNvPr id="20" name="Rectangle 19"/>
          <p:cNvSpPr/>
          <p:nvPr/>
        </p:nvSpPr>
        <p:spPr>
          <a:xfrm>
            <a:off x="124088" y="6195545"/>
            <a:ext cx="6532531" cy="276999"/>
          </a:xfrm>
          <a:prstGeom prst="rect">
            <a:avLst/>
          </a:prstGeom>
        </p:spPr>
        <p:txBody>
          <a:bodyPr wrap="square">
            <a:spAutoFit/>
          </a:bodyPr>
          <a:lstStyle/>
          <a:p>
            <a:r>
              <a:rPr lang="en-GB" sz="1200" dirty="0" smtClean="0"/>
              <a:t>[1] - https</a:t>
            </a:r>
            <a:r>
              <a:rPr lang="en-GB" sz="1200" dirty="0"/>
              <a:t>://github.com/cms-sw/cmssw/blob/CMSSW_8_1_X/IOPool/Input/doc/IOExerciser-README</a:t>
            </a:r>
          </a:p>
        </p:txBody>
      </p:sp>
      <p:cxnSp>
        <p:nvCxnSpPr>
          <p:cNvPr id="23" name="Straight Arrow Connector 22"/>
          <p:cNvCxnSpPr>
            <a:endCxn id="21" idx="1"/>
          </p:cNvCxnSpPr>
          <p:nvPr/>
        </p:nvCxnSpPr>
        <p:spPr>
          <a:xfrm flipV="1">
            <a:off x="3883535" y="4658675"/>
            <a:ext cx="3132184" cy="10746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Date Placeholder 27"/>
          <p:cNvSpPr>
            <a:spLocks noGrp="1"/>
          </p:cNvSpPr>
          <p:nvPr>
            <p:ph type="dt" sz="half" idx="10"/>
          </p:nvPr>
        </p:nvSpPr>
        <p:spPr/>
        <p:txBody>
          <a:bodyPr/>
          <a:lstStyle/>
          <a:p>
            <a:r>
              <a:rPr lang="en-US" smtClean="0"/>
              <a:t>13/10/2016</a:t>
            </a:r>
            <a:endParaRPr lang="en-GB"/>
          </a:p>
        </p:txBody>
      </p:sp>
      <p:sp>
        <p:nvSpPr>
          <p:cNvPr id="29" name="Footer Placeholder 28"/>
          <p:cNvSpPr>
            <a:spLocks noGrp="1"/>
          </p:cNvSpPr>
          <p:nvPr>
            <p:ph type="ftr" sz="quarter" idx="11"/>
          </p:nvPr>
        </p:nvSpPr>
        <p:spPr/>
        <p:txBody>
          <a:bodyPr/>
          <a:lstStyle/>
          <a:p>
            <a:r>
              <a:rPr lang="en-GB" smtClean="0"/>
              <a:t>Jean-Roch Vlimant &amp; Justas Balcas</a:t>
            </a:r>
            <a:endParaRPr lang="en-GB"/>
          </a:p>
        </p:txBody>
      </p:sp>
      <p:sp>
        <p:nvSpPr>
          <p:cNvPr id="30" name="Slide Number Placeholder 29"/>
          <p:cNvSpPr>
            <a:spLocks noGrp="1"/>
          </p:cNvSpPr>
          <p:nvPr>
            <p:ph type="sldNum" sz="quarter" idx="12"/>
          </p:nvPr>
        </p:nvSpPr>
        <p:spPr/>
        <p:txBody>
          <a:bodyPr/>
          <a:lstStyle/>
          <a:p>
            <a:fld id="{F16C04A8-3194-4548-96B6-07828A9153A5}" type="slidenum">
              <a:rPr lang="en-GB" smtClean="0"/>
              <a:t>7</a:t>
            </a:fld>
            <a:endParaRPr lang="en-GB"/>
          </a:p>
        </p:txBody>
      </p:sp>
    </p:spTree>
    <p:extLst>
      <p:ext uri="{BB962C8B-B14F-4D97-AF65-F5344CB8AC3E}">
        <p14:creationId xmlns:p14="http://schemas.microsoft.com/office/powerpoint/2010/main" val="4854421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9860"/>
            <a:ext cx="10151476" cy="862096"/>
          </a:xfrm>
        </p:spPr>
        <p:txBody>
          <a:bodyPr>
            <a:normAutofit/>
          </a:bodyPr>
          <a:lstStyle/>
          <a:p>
            <a:r>
              <a:rPr lang="en-GB" sz="3600" b="1" dirty="0" err="1" smtClean="0">
                <a:solidFill>
                  <a:schemeClr val="tx1">
                    <a:lumMod val="75000"/>
                    <a:lumOff val="25000"/>
                  </a:schemeClr>
                </a:solidFill>
              </a:rPr>
              <a:t>Tesbed</a:t>
            </a:r>
            <a:r>
              <a:rPr lang="en-GB" sz="3600" b="1" dirty="0" smtClean="0">
                <a:solidFill>
                  <a:schemeClr val="tx1">
                    <a:lumMod val="75000"/>
                    <a:lumOff val="25000"/>
                  </a:schemeClr>
                </a:solidFill>
              </a:rPr>
              <a:t> environment performance</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421" y="1499087"/>
            <a:ext cx="6744992" cy="4102794"/>
          </a:xfrm>
          <a:prstGeom prst="rect">
            <a:avLst/>
          </a:prstGeom>
        </p:spPr>
      </p:pic>
      <p:sp>
        <p:nvSpPr>
          <p:cNvPr id="15" name="Rectangle 14"/>
          <p:cNvSpPr/>
          <p:nvPr/>
        </p:nvSpPr>
        <p:spPr>
          <a:xfrm>
            <a:off x="162386" y="863383"/>
            <a:ext cx="6743028" cy="646331"/>
          </a:xfrm>
          <a:prstGeom prst="rect">
            <a:avLst/>
          </a:prstGeom>
          <a:ln w="9525">
            <a:solidFill>
              <a:srgbClr val="FF711F"/>
            </a:solidFill>
            <a:prstDash val="sysDash"/>
          </a:ln>
        </p:spPr>
        <p:style>
          <a:lnRef idx="2">
            <a:schemeClr val="dk1"/>
          </a:lnRef>
          <a:fillRef idx="1">
            <a:schemeClr val="lt1"/>
          </a:fillRef>
          <a:effectRef idx="0">
            <a:schemeClr val="dk1"/>
          </a:effectRef>
          <a:fontRef idx="minor">
            <a:schemeClr val="dk1"/>
          </a:fontRef>
        </p:style>
        <p:txBody>
          <a:bodyPr wrap="square">
            <a:spAutoFit/>
          </a:bodyPr>
          <a:lstStyle/>
          <a:p>
            <a:r>
              <a:rPr lang="en-US" sz="3600" b="1" dirty="0" err="1" smtClean="0">
                <a:solidFill>
                  <a:srgbClr val="FF711F"/>
                </a:solidFill>
                <a:latin typeface="+mj-lt"/>
                <a:cs typeface="Arial" panose="020B0604020202020204" pitchFamily="34" charset="0"/>
              </a:rPr>
              <a:t>Nettest</a:t>
            </a:r>
            <a:r>
              <a:rPr lang="en-US" sz="3600" b="1" dirty="0">
                <a:solidFill>
                  <a:srgbClr val="FF711F"/>
                </a:solidFill>
                <a:latin typeface="+mj-lt"/>
                <a:cs typeface="Arial" panose="020B0604020202020204" pitchFamily="34" charset="0"/>
              </a:rPr>
              <a:t> – stable </a:t>
            </a:r>
            <a:r>
              <a:rPr lang="en-US" sz="3600" b="1" dirty="0" smtClean="0">
                <a:solidFill>
                  <a:srgbClr val="FF711F"/>
                </a:solidFill>
                <a:latin typeface="+mj-lt"/>
                <a:cs typeface="Arial" panose="020B0604020202020204" pitchFamily="34" charset="0"/>
              </a:rPr>
              <a:t>9.9 </a:t>
            </a:r>
            <a:r>
              <a:rPr lang="en-US" sz="3600" b="1" dirty="0" smtClean="0">
                <a:solidFill>
                  <a:srgbClr val="FF711F"/>
                </a:solidFill>
                <a:latin typeface="+mj-lt"/>
                <a:cs typeface="Arial" panose="020B0604020202020204" pitchFamily="34" charset="0"/>
              </a:rPr>
              <a:t>Gb/s</a:t>
            </a:r>
            <a:endParaRPr lang="en-US" sz="3600" b="1" dirty="0">
              <a:solidFill>
                <a:srgbClr val="FF711F"/>
              </a:solidFill>
              <a:latin typeface="+mj-lt"/>
              <a:cs typeface="Arial" panose="020B0604020202020204" pitchFamily="34" charset="0"/>
            </a:endParaRPr>
          </a:p>
        </p:txBody>
      </p:sp>
      <p:sp>
        <p:nvSpPr>
          <p:cNvPr id="16" name="Rectangle 15"/>
          <p:cNvSpPr/>
          <p:nvPr/>
        </p:nvSpPr>
        <p:spPr>
          <a:xfrm>
            <a:off x="160420" y="5611909"/>
            <a:ext cx="6744993" cy="830997"/>
          </a:xfrm>
          <a:prstGeom prst="rect">
            <a:avLst/>
          </a:prstGeom>
          <a:ln w="6350">
            <a:noFill/>
            <a:prstDash val="sysDash"/>
          </a:ln>
        </p:spPr>
        <p:style>
          <a:lnRef idx="2">
            <a:schemeClr val="dk1"/>
          </a:lnRef>
          <a:fillRef idx="1">
            <a:schemeClr val="lt1"/>
          </a:fillRef>
          <a:effectRef idx="0">
            <a:schemeClr val="dk1"/>
          </a:effectRef>
          <a:fontRef idx="minor">
            <a:schemeClr val="dk1"/>
          </a:fontRef>
        </p:style>
        <p:txBody>
          <a:bodyPr wrap="square">
            <a:spAutoFit/>
          </a:bodyPr>
          <a:lstStyle/>
          <a:p>
            <a:r>
              <a:rPr lang="en-US" sz="1600" b="1" dirty="0" smtClean="0">
                <a:solidFill>
                  <a:schemeClr val="tx1"/>
                </a:solidFill>
                <a:latin typeface="+mj-lt"/>
                <a:cs typeface="Arial" panose="020B0604020202020204" pitchFamily="34" charset="0"/>
              </a:rPr>
              <a:t>Used tools:</a:t>
            </a:r>
          </a:p>
          <a:p>
            <a:r>
              <a:rPr lang="en-US" sz="1600" b="1" dirty="0" smtClean="0">
                <a:solidFill>
                  <a:schemeClr val="tx1"/>
                </a:solidFill>
                <a:latin typeface="+mj-lt"/>
                <a:cs typeface="Arial" panose="020B0604020202020204" pitchFamily="34" charset="0"/>
              </a:rPr>
              <a:t>FDT – Application For Fast </a:t>
            </a:r>
            <a:r>
              <a:rPr lang="en-US" sz="1600" b="1" dirty="0">
                <a:solidFill>
                  <a:schemeClr val="tx1"/>
                </a:solidFill>
                <a:latin typeface="+mj-lt"/>
                <a:cs typeface="Arial" panose="020B0604020202020204" pitchFamily="34" charset="0"/>
              </a:rPr>
              <a:t>D</a:t>
            </a:r>
            <a:r>
              <a:rPr lang="en-US" sz="1600" b="1" dirty="0" smtClean="0">
                <a:solidFill>
                  <a:schemeClr val="tx1"/>
                </a:solidFill>
                <a:latin typeface="+mj-lt"/>
                <a:cs typeface="Arial" panose="020B0604020202020204" pitchFamily="34" charset="0"/>
              </a:rPr>
              <a:t>ata Transfers over WAN</a:t>
            </a:r>
          </a:p>
          <a:p>
            <a:r>
              <a:rPr lang="en-US" sz="1600" b="1" dirty="0" err="1" smtClean="0">
                <a:solidFill>
                  <a:schemeClr val="tx1"/>
                </a:solidFill>
                <a:latin typeface="+mj-lt"/>
                <a:cs typeface="Arial" panose="020B0604020202020204" pitchFamily="34" charset="0"/>
              </a:rPr>
              <a:t>Monalisa</a:t>
            </a:r>
            <a:r>
              <a:rPr lang="en-US" sz="1600" b="1" dirty="0" smtClean="0">
                <a:solidFill>
                  <a:schemeClr val="tx1"/>
                </a:solidFill>
                <a:latin typeface="+mj-lt"/>
                <a:cs typeface="Arial" panose="020B0604020202020204" pitchFamily="34" charset="0"/>
              </a:rPr>
              <a:t> – Monitoring agents for the end hosts</a:t>
            </a:r>
            <a:endParaRPr lang="en-US" sz="1600" b="1" dirty="0">
              <a:solidFill>
                <a:schemeClr val="tx1"/>
              </a:solidFill>
              <a:latin typeface="+mj-lt"/>
              <a:cs typeface="Arial" panose="020B0604020202020204" pitchFamily="34" charset="0"/>
            </a:endParaRPr>
          </a:p>
        </p:txBody>
      </p:sp>
      <p:sp>
        <p:nvSpPr>
          <p:cNvPr id="7" name="Rectangle 6"/>
          <p:cNvSpPr/>
          <p:nvPr/>
        </p:nvSpPr>
        <p:spPr>
          <a:xfrm>
            <a:off x="6981296" y="872292"/>
            <a:ext cx="5295203" cy="5447645"/>
          </a:xfrm>
          <a:prstGeom prst="rect">
            <a:avLst/>
          </a:prstGeom>
        </p:spPr>
        <p:txBody>
          <a:bodyPr wrap="square">
            <a:spAutoFit/>
          </a:bodyPr>
          <a:lstStyle/>
          <a:p>
            <a:r>
              <a:rPr lang="en-GB" sz="3200" b="1" dirty="0" smtClean="0">
                <a:solidFill>
                  <a:srgbClr val="FF6E1E"/>
                </a:solidFill>
              </a:rPr>
              <a:t>Storage write/read speed</a:t>
            </a:r>
          </a:p>
          <a:p>
            <a:pPr marL="285750" indent="-285750">
              <a:buFont typeface="Wingdings" panose="05000000000000000000" pitchFamily="2" charset="2"/>
              <a:buChar char="q"/>
            </a:pPr>
            <a:r>
              <a:rPr lang="en-GB" dirty="0" smtClean="0"/>
              <a:t>Data node</a:t>
            </a:r>
          </a:p>
          <a:p>
            <a:pPr marL="800100" lvl="1" indent="-342900">
              <a:buFont typeface="Wingdings" panose="05000000000000000000" pitchFamily="2" charset="2"/>
              <a:buChar char="Ø"/>
            </a:pPr>
            <a:r>
              <a:rPr lang="en-GB" dirty="0" smtClean="0"/>
              <a:t>Timing </a:t>
            </a:r>
            <a:r>
              <a:rPr lang="en-GB" dirty="0"/>
              <a:t>cached </a:t>
            </a:r>
            <a:r>
              <a:rPr lang="en-GB" dirty="0" smtClean="0"/>
              <a:t>reads:</a:t>
            </a:r>
            <a:br>
              <a:rPr lang="en-GB" dirty="0" smtClean="0"/>
            </a:br>
            <a:r>
              <a:rPr lang="en-GB" dirty="0" smtClean="0"/>
              <a:t> </a:t>
            </a:r>
            <a:r>
              <a:rPr lang="en-GB" dirty="0" smtClean="0"/>
              <a:t>18312 MB </a:t>
            </a:r>
            <a:r>
              <a:rPr lang="en-GB" dirty="0"/>
              <a:t>in  </a:t>
            </a:r>
            <a:r>
              <a:rPr lang="en-GB" dirty="0" smtClean="0"/>
              <a:t>2 seconds </a:t>
            </a:r>
            <a:r>
              <a:rPr lang="en-GB" dirty="0"/>
              <a:t>= </a:t>
            </a:r>
            <a:r>
              <a:rPr lang="en-GB" b="1" dirty="0" smtClean="0">
                <a:solidFill>
                  <a:srgbClr val="FF6E1E"/>
                </a:solidFill>
              </a:rPr>
              <a:t>9.2 GB/sec</a:t>
            </a:r>
            <a:endParaRPr lang="en-GB" b="1" dirty="0">
              <a:solidFill>
                <a:srgbClr val="FF6E1E"/>
              </a:solidFill>
            </a:endParaRPr>
          </a:p>
          <a:p>
            <a:pPr marL="800100" lvl="1" indent="-342900">
              <a:buFont typeface="Wingdings" panose="05000000000000000000" pitchFamily="2" charset="2"/>
              <a:buChar char="Ø"/>
            </a:pPr>
            <a:r>
              <a:rPr lang="en-GB" dirty="0" smtClean="0"/>
              <a:t>Timing </a:t>
            </a:r>
            <a:r>
              <a:rPr lang="en-GB" dirty="0"/>
              <a:t>buffered disk </a:t>
            </a:r>
            <a:r>
              <a:rPr lang="en-GB" dirty="0" smtClean="0"/>
              <a:t>reads:</a:t>
            </a:r>
            <a:br>
              <a:rPr lang="en-GB" dirty="0" smtClean="0"/>
            </a:br>
            <a:r>
              <a:rPr lang="en-GB" dirty="0" smtClean="0"/>
              <a:t>  </a:t>
            </a:r>
            <a:r>
              <a:rPr lang="en-GB" dirty="0" smtClean="0"/>
              <a:t>6974 MB </a:t>
            </a:r>
            <a:r>
              <a:rPr lang="en-GB" dirty="0"/>
              <a:t>in  </a:t>
            </a:r>
            <a:r>
              <a:rPr lang="en-GB" dirty="0" smtClean="0"/>
              <a:t>3 </a:t>
            </a:r>
            <a:r>
              <a:rPr lang="en-GB" dirty="0" smtClean="0"/>
              <a:t>seconds </a:t>
            </a:r>
            <a:r>
              <a:rPr lang="en-GB" dirty="0"/>
              <a:t>= </a:t>
            </a:r>
            <a:r>
              <a:rPr lang="en-GB" b="1" dirty="0" smtClean="0">
                <a:solidFill>
                  <a:srgbClr val="FF6E1E"/>
                </a:solidFill>
              </a:rPr>
              <a:t>2.3 GB/sec</a:t>
            </a:r>
            <a:endParaRPr lang="en-GB" b="1" dirty="0" smtClean="0">
              <a:solidFill>
                <a:srgbClr val="FF6E1E"/>
              </a:solidFill>
            </a:endParaRPr>
          </a:p>
          <a:p>
            <a:pPr marL="800100" lvl="1" indent="-342900">
              <a:buFont typeface="Wingdings" panose="05000000000000000000" pitchFamily="2" charset="2"/>
              <a:buChar char="Ø"/>
            </a:pPr>
            <a:r>
              <a:rPr lang="en-GB" dirty="0" smtClean="0"/>
              <a:t>Write speed:</a:t>
            </a:r>
            <a:br>
              <a:rPr lang="en-GB" dirty="0" smtClean="0"/>
            </a:br>
            <a:r>
              <a:rPr lang="en-GB" dirty="0" smtClean="0"/>
              <a:t>2.1 GB </a:t>
            </a:r>
            <a:r>
              <a:rPr lang="en-GB" dirty="0"/>
              <a:t>copied, </a:t>
            </a:r>
            <a:r>
              <a:rPr lang="en-GB" dirty="0" smtClean="0"/>
              <a:t>1.70 </a:t>
            </a:r>
            <a:r>
              <a:rPr lang="en-GB" dirty="0"/>
              <a:t>s, </a:t>
            </a:r>
            <a:r>
              <a:rPr lang="en-GB" b="1" dirty="0">
                <a:solidFill>
                  <a:srgbClr val="FF6E1E"/>
                </a:solidFill>
              </a:rPr>
              <a:t>1.3 </a:t>
            </a:r>
            <a:r>
              <a:rPr lang="en-GB" b="1" dirty="0" smtClean="0">
                <a:solidFill>
                  <a:srgbClr val="FF6E1E"/>
                </a:solidFill>
              </a:rPr>
              <a:t>GB/s</a:t>
            </a:r>
          </a:p>
          <a:p>
            <a:pPr marL="285750" indent="-285750">
              <a:buFont typeface="Wingdings" panose="05000000000000000000" pitchFamily="2" charset="2"/>
              <a:buChar char="q"/>
            </a:pPr>
            <a:r>
              <a:rPr lang="en-GB" dirty="0" smtClean="0"/>
              <a:t>Execute node</a:t>
            </a:r>
            <a:endParaRPr lang="en-GB" dirty="0"/>
          </a:p>
          <a:p>
            <a:pPr marL="742950" lvl="1" indent="-285750">
              <a:buFont typeface="Wingdings" panose="05000000000000000000" pitchFamily="2" charset="2"/>
              <a:buChar char="Ø"/>
            </a:pPr>
            <a:r>
              <a:rPr lang="en-GB" dirty="0" smtClean="0"/>
              <a:t>Timing </a:t>
            </a:r>
            <a:r>
              <a:rPr lang="en-GB" dirty="0"/>
              <a:t>cached </a:t>
            </a:r>
            <a:r>
              <a:rPr lang="en-GB" dirty="0" smtClean="0"/>
              <a:t>reads:</a:t>
            </a:r>
            <a:br>
              <a:rPr lang="en-GB" dirty="0" smtClean="0"/>
            </a:br>
            <a:r>
              <a:rPr lang="en-GB" dirty="0" smtClean="0"/>
              <a:t>17884 </a:t>
            </a:r>
            <a:r>
              <a:rPr lang="en-GB" dirty="0"/>
              <a:t>MB in  </a:t>
            </a:r>
            <a:r>
              <a:rPr lang="en-GB" dirty="0" smtClean="0"/>
              <a:t>2 </a:t>
            </a:r>
            <a:r>
              <a:rPr lang="en-GB" dirty="0"/>
              <a:t>seconds = </a:t>
            </a:r>
            <a:r>
              <a:rPr lang="en-GB" b="1" dirty="0" smtClean="0">
                <a:solidFill>
                  <a:srgbClr val="FF6E1E"/>
                </a:solidFill>
              </a:rPr>
              <a:t>9.0</a:t>
            </a:r>
            <a:r>
              <a:rPr lang="en-GB" b="1" dirty="0" smtClean="0">
                <a:solidFill>
                  <a:srgbClr val="FF6E1E"/>
                </a:solidFill>
              </a:rPr>
              <a:t> GB/sec</a:t>
            </a:r>
            <a:endParaRPr lang="en-GB" b="1" dirty="0">
              <a:solidFill>
                <a:srgbClr val="FF6E1E"/>
              </a:solidFill>
            </a:endParaRPr>
          </a:p>
          <a:p>
            <a:pPr marL="742950" lvl="1" indent="-285750">
              <a:buFont typeface="Wingdings" panose="05000000000000000000" pitchFamily="2" charset="2"/>
              <a:buChar char="Ø"/>
            </a:pPr>
            <a:r>
              <a:rPr lang="en-GB" dirty="0"/>
              <a:t> Timing buffered disk </a:t>
            </a:r>
            <a:r>
              <a:rPr lang="en-GB" dirty="0" smtClean="0"/>
              <a:t>reads:</a:t>
            </a:r>
            <a:br>
              <a:rPr lang="en-GB" dirty="0" smtClean="0"/>
            </a:br>
            <a:r>
              <a:rPr lang="en-GB" dirty="0" smtClean="0"/>
              <a:t> 5952 </a:t>
            </a:r>
            <a:r>
              <a:rPr lang="en-GB" dirty="0"/>
              <a:t>MB in  </a:t>
            </a:r>
            <a:r>
              <a:rPr lang="en-GB" dirty="0" smtClean="0"/>
              <a:t>3 seconds </a:t>
            </a:r>
            <a:r>
              <a:rPr lang="en-GB" dirty="0"/>
              <a:t>=  </a:t>
            </a:r>
            <a:r>
              <a:rPr lang="en-GB" b="1" dirty="0" smtClean="0">
                <a:solidFill>
                  <a:srgbClr val="FF6E1E"/>
                </a:solidFill>
              </a:rPr>
              <a:t>1.9 GB/sec</a:t>
            </a:r>
            <a:endParaRPr lang="en-GB" b="1" dirty="0" smtClean="0">
              <a:solidFill>
                <a:srgbClr val="FF6E1E"/>
              </a:solidFill>
            </a:endParaRPr>
          </a:p>
          <a:p>
            <a:pPr marL="742950" lvl="1" indent="-285750">
              <a:buFont typeface="Wingdings" panose="05000000000000000000" pitchFamily="2" charset="2"/>
              <a:buChar char="Ø"/>
            </a:pPr>
            <a:r>
              <a:rPr lang="en-GB" dirty="0" smtClean="0"/>
              <a:t>Write speed:</a:t>
            </a:r>
            <a:br>
              <a:rPr lang="en-GB" dirty="0" smtClean="0"/>
            </a:br>
            <a:r>
              <a:rPr lang="en-GB" dirty="0" smtClean="0"/>
              <a:t>2.1 GB </a:t>
            </a:r>
            <a:r>
              <a:rPr lang="en-GB" dirty="0"/>
              <a:t>copied, </a:t>
            </a:r>
            <a:r>
              <a:rPr lang="en-GB" dirty="0" smtClean="0"/>
              <a:t>2.2 </a:t>
            </a:r>
            <a:r>
              <a:rPr lang="en-GB" dirty="0"/>
              <a:t>s, </a:t>
            </a:r>
            <a:r>
              <a:rPr lang="en-GB" b="1" dirty="0" smtClean="0">
                <a:solidFill>
                  <a:srgbClr val="FF6E1E"/>
                </a:solidFill>
              </a:rPr>
              <a:t>1.0</a:t>
            </a:r>
            <a:r>
              <a:rPr lang="en-GB" b="1" dirty="0" smtClean="0">
                <a:solidFill>
                  <a:srgbClr val="FF6E1E"/>
                </a:solidFill>
              </a:rPr>
              <a:t> GB/s</a:t>
            </a:r>
          </a:p>
          <a:p>
            <a:pPr marL="742950" lvl="1" indent="-285750">
              <a:buFont typeface="Wingdings" panose="05000000000000000000" pitchFamily="2" charset="2"/>
              <a:buChar char="Ø"/>
            </a:pPr>
            <a:endParaRPr lang="en-GB" b="1" dirty="0" smtClean="0">
              <a:solidFill>
                <a:srgbClr val="FF6E1E"/>
              </a:solidFill>
            </a:endParaRPr>
          </a:p>
          <a:p>
            <a:pPr marL="742950" lvl="1" indent="-285750">
              <a:buFont typeface="Wingdings" panose="05000000000000000000" pitchFamily="2" charset="2"/>
              <a:buChar char="Ø"/>
            </a:pPr>
            <a:endParaRPr lang="en-GB" b="1" dirty="0" smtClean="0">
              <a:solidFill>
                <a:srgbClr val="FF6E1E"/>
              </a:solidFill>
            </a:endParaRPr>
          </a:p>
          <a:p>
            <a:pPr marL="285750" indent="-285750">
              <a:buFont typeface="Wingdings" panose="05000000000000000000" pitchFamily="2" charset="2"/>
              <a:buChar char="ü"/>
            </a:pPr>
            <a:r>
              <a:rPr lang="en-GB" sz="2800" b="1" dirty="0" smtClean="0">
                <a:solidFill>
                  <a:srgbClr val="FF6E1E"/>
                </a:solidFill>
              </a:rPr>
              <a:t>No limitations from hardware</a:t>
            </a:r>
            <a:endParaRPr lang="en-GB" sz="2800" b="1" dirty="0">
              <a:solidFill>
                <a:srgbClr val="FF6E1E"/>
              </a:solidFill>
            </a:endParaRPr>
          </a:p>
        </p:txBody>
      </p:sp>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r>
              <a:rPr lang="en-US" smtClean="0"/>
              <a:t>13/10/2016</a:t>
            </a:r>
            <a:endParaRPr lang="en-GB"/>
          </a:p>
        </p:txBody>
      </p:sp>
      <p:sp>
        <p:nvSpPr>
          <p:cNvPr id="8" name="Footer Placeholder 7"/>
          <p:cNvSpPr>
            <a:spLocks noGrp="1"/>
          </p:cNvSpPr>
          <p:nvPr>
            <p:ph type="ftr" sz="quarter" idx="11"/>
          </p:nvPr>
        </p:nvSpPr>
        <p:spPr/>
        <p:txBody>
          <a:bodyPr/>
          <a:lstStyle/>
          <a:p>
            <a:r>
              <a:rPr lang="en-GB" smtClean="0"/>
              <a:t>Jean-Roch Vlimant &amp; Justas Balcas</a:t>
            </a:r>
            <a:endParaRPr lang="en-GB"/>
          </a:p>
        </p:txBody>
      </p:sp>
      <p:sp>
        <p:nvSpPr>
          <p:cNvPr id="9" name="Slide Number Placeholder 8"/>
          <p:cNvSpPr>
            <a:spLocks noGrp="1"/>
          </p:cNvSpPr>
          <p:nvPr>
            <p:ph type="sldNum" sz="quarter" idx="12"/>
          </p:nvPr>
        </p:nvSpPr>
        <p:spPr/>
        <p:txBody>
          <a:bodyPr/>
          <a:lstStyle/>
          <a:p>
            <a:fld id="{F16C04A8-3194-4548-96B6-07828A9153A5}" type="slidenum">
              <a:rPr lang="en-GB" smtClean="0"/>
              <a:t>8</a:t>
            </a:fld>
            <a:endParaRPr lang="en-GB"/>
          </a:p>
        </p:txBody>
      </p:sp>
    </p:spTree>
    <p:extLst>
      <p:ext uri="{BB962C8B-B14F-4D97-AF65-F5344CB8AC3E}">
        <p14:creationId xmlns:p14="http://schemas.microsoft.com/office/powerpoint/2010/main" val="27654106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0"/>
            <a:ext cx="10151476" cy="862096"/>
          </a:xfrm>
        </p:spPr>
        <p:txBody>
          <a:bodyPr>
            <a:normAutofit/>
          </a:bodyPr>
          <a:lstStyle/>
          <a:p>
            <a:r>
              <a:rPr lang="en-GB" sz="3600" b="1" dirty="0" smtClean="0">
                <a:solidFill>
                  <a:schemeClr val="tx1">
                    <a:lumMod val="75000"/>
                    <a:lumOff val="25000"/>
                  </a:schemeClr>
                </a:solidFill>
              </a:rPr>
              <a:t>Transfer test: </a:t>
            </a:r>
            <a:r>
              <a:rPr lang="en-GB" sz="3600" b="1" dirty="0" err="1" smtClean="0">
                <a:solidFill>
                  <a:srgbClr val="FF6E1E"/>
                </a:solidFill>
              </a:rPr>
              <a:t>xrdcp</a:t>
            </a:r>
            <a:r>
              <a:rPr lang="en-GB" sz="3600" b="1" dirty="0" smtClean="0">
                <a:solidFill>
                  <a:schemeClr val="tx1">
                    <a:lumMod val="75000"/>
                    <a:lumOff val="25000"/>
                  </a:schemeClr>
                </a:solidFill>
              </a:rPr>
              <a:t> vs </a:t>
            </a:r>
            <a:r>
              <a:rPr lang="en-GB" sz="3600" b="1" dirty="0" smtClean="0">
                <a:solidFill>
                  <a:srgbClr val="FF6E1E"/>
                </a:solidFill>
              </a:rPr>
              <a:t>curl</a:t>
            </a:r>
            <a:r>
              <a:rPr lang="en-GB" sz="3600" b="1" dirty="0" smtClean="0">
                <a:solidFill>
                  <a:schemeClr val="tx1">
                    <a:lumMod val="75000"/>
                    <a:lumOff val="25000"/>
                  </a:schemeClr>
                </a:solidFill>
              </a:rPr>
              <a:t> vs </a:t>
            </a:r>
            <a:r>
              <a:rPr lang="en-GB" sz="3600" b="1" dirty="0" err="1" smtClean="0">
                <a:solidFill>
                  <a:srgbClr val="FF6E1E"/>
                </a:solidFill>
              </a:rPr>
              <a:t>fdt</a:t>
            </a:r>
            <a:r>
              <a:rPr lang="en-GB" sz="3600" b="1" dirty="0" smtClean="0">
                <a:solidFill>
                  <a:srgbClr val="FF6E1E"/>
                </a:solidFill>
              </a:rPr>
              <a:t> </a:t>
            </a:r>
            <a:r>
              <a:rPr lang="en-GB" sz="3600" b="1" dirty="0" smtClean="0"/>
              <a:t>(</a:t>
            </a:r>
            <a:r>
              <a:rPr lang="en-GB" sz="3600" b="1" dirty="0" smtClean="0">
                <a:solidFill>
                  <a:srgbClr val="FF6E1E"/>
                </a:solidFill>
              </a:rPr>
              <a:t>Mbytes/s</a:t>
            </a:r>
            <a:r>
              <a:rPr lang="en-GB" sz="3600" b="1" dirty="0" smtClean="0"/>
              <a:t>)</a:t>
            </a:r>
            <a:endParaRPr lang="en-GB" sz="3600" b="1" dirty="0"/>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9860"/>
            <a:ext cx="1984892" cy="852236"/>
          </a:xfrm>
        </p:spPr>
      </p:pic>
      <p:cxnSp>
        <p:nvCxnSpPr>
          <p:cNvPr id="6" name="Straight Connector 5"/>
          <p:cNvCxnSpPr/>
          <p:nvPr/>
        </p:nvCxnSpPr>
        <p:spPr>
          <a:xfrm>
            <a:off x="160421" y="86209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5276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8" name="Chart 17"/>
          <p:cNvGraphicFramePr>
            <a:graphicFrameLocks/>
          </p:cNvGraphicFramePr>
          <p:nvPr>
            <p:extLst>
              <p:ext uri="{D42A27DB-BD31-4B8C-83A1-F6EECF244321}">
                <p14:modId xmlns:p14="http://schemas.microsoft.com/office/powerpoint/2010/main" val="281917029"/>
              </p:ext>
            </p:extLst>
          </p:nvPr>
        </p:nvGraphicFramePr>
        <p:xfrm>
          <a:off x="160420" y="868818"/>
          <a:ext cx="11935327" cy="558395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574459000"/>
              </p:ext>
            </p:extLst>
          </p:nvPr>
        </p:nvGraphicFramePr>
        <p:xfrm>
          <a:off x="5236159" y="976122"/>
          <a:ext cx="6636936" cy="1354440"/>
        </p:xfrm>
        <a:graphic>
          <a:graphicData uri="http://schemas.openxmlformats.org/drawingml/2006/table">
            <a:tbl>
              <a:tblPr>
                <a:tableStyleId>{5940675A-B579-460E-94D1-54222C63F5DA}</a:tableStyleId>
              </a:tblPr>
              <a:tblGrid>
                <a:gridCol w="967119"/>
                <a:gridCol w="354363"/>
                <a:gridCol w="450339"/>
                <a:gridCol w="354363"/>
                <a:gridCol w="354363"/>
                <a:gridCol w="354363"/>
                <a:gridCol w="354363"/>
                <a:gridCol w="450339"/>
                <a:gridCol w="370974"/>
                <a:gridCol w="370974"/>
                <a:gridCol w="370974"/>
                <a:gridCol w="370974"/>
                <a:gridCol w="354363"/>
                <a:gridCol w="450339"/>
                <a:gridCol w="354363"/>
                <a:gridCol w="354363"/>
              </a:tblGrid>
              <a:tr h="193215">
                <a:tc>
                  <a:txBody>
                    <a:bodyPr/>
                    <a:lstStyle/>
                    <a:p>
                      <a:pPr algn="l" fontAlgn="b"/>
                      <a:endParaRPr lang="en-GB" sz="1050" b="1" i="0" u="none" strike="noStrike" dirty="0">
                        <a:solidFill>
                          <a:schemeClr val="bg1"/>
                        </a:solidFill>
                        <a:effectLst/>
                        <a:latin typeface="+mn-lt"/>
                      </a:endParaRPr>
                    </a:p>
                  </a:txBody>
                  <a:tcPr marL="8783" marR="8783" marT="17565" marB="17565" anchor="b"/>
                </a:tc>
                <a:tc>
                  <a:txBody>
                    <a:bodyPr/>
                    <a:lstStyle/>
                    <a:p>
                      <a:pPr algn="ctr" fontAlgn="b"/>
                      <a:r>
                        <a:rPr lang="en-GB" sz="1050" b="1" u="none" strike="noStrike" dirty="0">
                          <a:solidFill>
                            <a:schemeClr val="bg1"/>
                          </a:solidFill>
                          <a:effectLst/>
                          <a:latin typeface="+mn-lt"/>
                        </a:rPr>
                        <a:t>0</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2</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5</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10</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15</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20</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25</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30</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40</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50</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60</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70</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80</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90</a:t>
                      </a:r>
                      <a:endParaRPr lang="en-GB" sz="1050" b="1" i="1" u="none" strike="noStrike" dirty="0">
                        <a:solidFill>
                          <a:schemeClr val="bg1"/>
                        </a:solidFill>
                        <a:effectLst/>
                        <a:latin typeface="+mn-lt"/>
                      </a:endParaRPr>
                    </a:p>
                  </a:txBody>
                  <a:tcPr marL="8783" marR="8783" marT="8783" marB="0" anchor="b"/>
                </a:tc>
                <a:tc>
                  <a:txBody>
                    <a:bodyPr/>
                    <a:lstStyle/>
                    <a:p>
                      <a:pPr algn="ctr" fontAlgn="b"/>
                      <a:r>
                        <a:rPr lang="en-GB" sz="1050" b="1" u="none" strike="noStrike" dirty="0">
                          <a:solidFill>
                            <a:schemeClr val="bg1"/>
                          </a:solidFill>
                          <a:effectLst/>
                          <a:latin typeface="+mn-lt"/>
                        </a:rPr>
                        <a:t>100</a:t>
                      </a:r>
                      <a:endParaRPr lang="en-GB" sz="1050" b="1" i="1" u="none" strike="noStrike" dirty="0">
                        <a:solidFill>
                          <a:schemeClr val="bg1"/>
                        </a:solidFill>
                        <a:effectLst/>
                        <a:latin typeface="+mn-lt"/>
                      </a:endParaRPr>
                    </a:p>
                  </a:txBody>
                  <a:tcPr marL="8783" marR="8783" marT="8783" marB="0" anchor="b"/>
                </a:tc>
              </a:tr>
              <a:tr h="193215">
                <a:tc>
                  <a:txBody>
                    <a:bodyPr/>
                    <a:lstStyle/>
                    <a:p>
                      <a:pPr algn="l" fontAlgn="b"/>
                      <a:r>
                        <a:rPr lang="en-GB" sz="1050" b="1" i="0" u="none" strike="noStrike" dirty="0" err="1">
                          <a:solidFill>
                            <a:schemeClr val="bg1"/>
                          </a:solidFill>
                          <a:effectLst/>
                          <a:latin typeface="+mn-lt"/>
                        </a:rPr>
                        <a:t>xrdcp</a:t>
                      </a:r>
                      <a:r>
                        <a:rPr lang="en-GB" sz="1050" b="1" i="0" u="none" strike="noStrike" dirty="0">
                          <a:solidFill>
                            <a:schemeClr val="bg1"/>
                          </a:solidFill>
                          <a:effectLst/>
                          <a:latin typeface="+mn-lt"/>
                        </a:rPr>
                        <a:t> (4streams)</a:t>
                      </a:r>
                    </a:p>
                  </a:txBody>
                  <a:tcPr marL="9525" marR="9525" marT="9525" marB="0" anchor="b"/>
                </a:tc>
                <a:tc>
                  <a:txBody>
                    <a:bodyPr/>
                    <a:lstStyle/>
                    <a:p>
                      <a:pPr algn="ctr" fontAlgn="b"/>
                      <a:r>
                        <a:rPr lang="en-GB" sz="1050" b="1" i="0" u="none" strike="noStrike" dirty="0">
                          <a:solidFill>
                            <a:schemeClr val="bg1"/>
                          </a:solidFill>
                          <a:effectLst/>
                          <a:latin typeface="+mn-lt"/>
                        </a:rPr>
                        <a:t>1046</a:t>
                      </a:r>
                    </a:p>
                  </a:txBody>
                  <a:tcPr marL="9525" marR="9525" marT="9525" marB="0" anchor="b"/>
                </a:tc>
                <a:tc>
                  <a:txBody>
                    <a:bodyPr/>
                    <a:lstStyle/>
                    <a:p>
                      <a:pPr algn="ctr" fontAlgn="b"/>
                      <a:r>
                        <a:rPr lang="en-GB" sz="1050" b="1" i="0" u="none" strike="noStrike" dirty="0">
                          <a:solidFill>
                            <a:srgbClr val="FF0000"/>
                          </a:solidFill>
                          <a:effectLst/>
                          <a:latin typeface="+mn-lt"/>
                        </a:rPr>
                        <a:t>1130</a:t>
                      </a:r>
                    </a:p>
                  </a:txBody>
                  <a:tcPr marL="9525" marR="9525" marT="9525" marB="0" anchor="b"/>
                </a:tc>
                <a:tc>
                  <a:txBody>
                    <a:bodyPr/>
                    <a:lstStyle/>
                    <a:p>
                      <a:pPr algn="ctr" fontAlgn="b"/>
                      <a:r>
                        <a:rPr lang="en-GB" sz="1050" b="1" i="0" u="none" strike="noStrike" dirty="0">
                          <a:solidFill>
                            <a:schemeClr val="bg1"/>
                          </a:solidFill>
                          <a:effectLst/>
                          <a:latin typeface="+mn-lt"/>
                        </a:rPr>
                        <a:t>982</a:t>
                      </a:r>
                    </a:p>
                  </a:txBody>
                  <a:tcPr marL="9525" marR="9525" marT="9525" marB="0" anchor="b"/>
                </a:tc>
                <a:tc>
                  <a:txBody>
                    <a:bodyPr/>
                    <a:lstStyle/>
                    <a:p>
                      <a:pPr algn="ctr" fontAlgn="b"/>
                      <a:r>
                        <a:rPr lang="en-GB" sz="1050" b="1" i="0" u="none" strike="noStrike" dirty="0">
                          <a:solidFill>
                            <a:schemeClr val="bg1"/>
                          </a:solidFill>
                          <a:effectLst/>
                          <a:latin typeface="+mn-lt"/>
                        </a:rPr>
                        <a:t>561</a:t>
                      </a:r>
                    </a:p>
                  </a:txBody>
                  <a:tcPr marL="9525" marR="9525" marT="9525" marB="0" anchor="b"/>
                </a:tc>
                <a:tc>
                  <a:txBody>
                    <a:bodyPr/>
                    <a:lstStyle/>
                    <a:p>
                      <a:pPr algn="ctr" fontAlgn="b"/>
                      <a:r>
                        <a:rPr lang="en-GB" sz="1050" b="1" i="0" u="none" strike="noStrike">
                          <a:solidFill>
                            <a:schemeClr val="bg1"/>
                          </a:solidFill>
                          <a:effectLst/>
                          <a:latin typeface="+mn-lt"/>
                        </a:rPr>
                        <a:t>357</a:t>
                      </a:r>
                    </a:p>
                  </a:txBody>
                  <a:tcPr marL="9525" marR="9525" marT="9525" marB="0" anchor="b"/>
                </a:tc>
                <a:tc>
                  <a:txBody>
                    <a:bodyPr/>
                    <a:lstStyle/>
                    <a:p>
                      <a:pPr algn="ctr" fontAlgn="b"/>
                      <a:r>
                        <a:rPr lang="en-GB" sz="1050" b="1" i="0" u="none" strike="noStrike">
                          <a:solidFill>
                            <a:schemeClr val="bg1"/>
                          </a:solidFill>
                          <a:effectLst/>
                          <a:latin typeface="+mn-lt"/>
                        </a:rPr>
                        <a:t>302</a:t>
                      </a:r>
                    </a:p>
                  </a:txBody>
                  <a:tcPr marL="9525" marR="9525" marT="9525" marB="0" anchor="b"/>
                </a:tc>
                <a:tc>
                  <a:txBody>
                    <a:bodyPr/>
                    <a:lstStyle/>
                    <a:p>
                      <a:pPr algn="ctr" fontAlgn="b"/>
                      <a:r>
                        <a:rPr lang="en-GB" sz="1050" b="1" i="0" u="none" strike="noStrike">
                          <a:solidFill>
                            <a:schemeClr val="bg1"/>
                          </a:solidFill>
                          <a:effectLst/>
                          <a:latin typeface="+mn-lt"/>
                        </a:rPr>
                        <a:t>192</a:t>
                      </a:r>
                    </a:p>
                  </a:txBody>
                  <a:tcPr marL="9525" marR="9525" marT="9525" marB="0" anchor="b"/>
                </a:tc>
                <a:tc>
                  <a:txBody>
                    <a:bodyPr/>
                    <a:lstStyle/>
                    <a:p>
                      <a:pPr algn="ctr" fontAlgn="b"/>
                      <a:r>
                        <a:rPr lang="en-GB" sz="1050" b="1" i="0" u="none" strike="noStrike">
                          <a:solidFill>
                            <a:schemeClr val="bg1"/>
                          </a:solidFill>
                          <a:effectLst/>
                          <a:latin typeface="+mn-lt"/>
                        </a:rPr>
                        <a:t>163</a:t>
                      </a:r>
                    </a:p>
                  </a:txBody>
                  <a:tcPr marL="9525" marR="9525" marT="9525" marB="0" anchor="b"/>
                </a:tc>
                <a:tc>
                  <a:txBody>
                    <a:bodyPr/>
                    <a:lstStyle/>
                    <a:p>
                      <a:pPr algn="ctr" fontAlgn="b"/>
                      <a:r>
                        <a:rPr lang="en-GB" sz="1050" b="1" i="0" u="none" strike="noStrike">
                          <a:solidFill>
                            <a:schemeClr val="bg1"/>
                          </a:solidFill>
                          <a:effectLst/>
                          <a:latin typeface="+mn-lt"/>
                        </a:rPr>
                        <a:t>157</a:t>
                      </a:r>
                    </a:p>
                  </a:txBody>
                  <a:tcPr marL="9525" marR="9525" marT="9525" marB="0" anchor="b"/>
                </a:tc>
                <a:tc>
                  <a:txBody>
                    <a:bodyPr/>
                    <a:lstStyle/>
                    <a:p>
                      <a:pPr algn="ctr" fontAlgn="b"/>
                      <a:r>
                        <a:rPr lang="en-GB" sz="1050" b="1" i="0" u="none" strike="noStrike">
                          <a:solidFill>
                            <a:schemeClr val="bg1"/>
                          </a:solidFill>
                          <a:effectLst/>
                          <a:latin typeface="+mn-lt"/>
                        </a:rPr>
                        <a:t>133</a:t>
                      </a:r>
                    </a:p>
                  </a:txBody>
                  <a:tcPr marL="9525" marR="9525" marT="9525" marB="0" anchor="b"/>
                </a:tc>
                <a:tc>
                  <a:txBody>
                    <a:bodyPr/>
                    <a:lstStyle/>
                    <a:p>
                      <a:pPr algn="ctr" fontAlgn="b"/>
                      <a:r>
                        <a:rPr lang="en-GB" sz="1050" b="1" i="0" u="none" strike="noStrike">
                          <a:solidFill>
                            <a:schemeClr val="bg1"/>
                          </a:solidFill>
                          <a:effectLst/>
                          <a:latin typeface="+mn-lt"/>
                        </a:rPr>
                        <a:t>128</a:t>
                      </a:r>
                    </a:p>
                  </a:txBody>
                  <a:tcPr marL="9525" marR="9525" marT="9525" marB="0" anchor="b"/>
                </a:tc>
                <a:tc>
                  <a:txBody>
                    <a:bodyPr/>
                    <a:lstStyle/>
                    <a:p>
                      <a:pPr algn="ctr" fontAlgn="b"/>
                      <a:r>
                        <a:rPr lang="en-GB" sz="1050" b="1" i="0" u="none" strike="noStrike">
                          <a:solidFill>
                            <a:schemeClr val="bg1"/>
                          </a:solidFill>
                          <a:effectLst/>
                          <a:latin typeface="+mn-lt"/>
                        </a:rPr>
                        <a:t>109</a:t>
                      </a:r>
                    </a:p>
                  </a:txBody>
                  <a:tcPr marL="9525" marR="9525" marT="9525" marB="0" anchor="b"/>
                </a:tc>
                <a:tc>
                  <a:txBody>
                    <a:bodyPr/>
                    <a:lstStyle/>
                    <a:p>
                      <a:pPr algn="ctr" fontAlgn="b"/>
                      <a:r>
                        <a:rPr lang="en-GB" sz="1050" b="1" i="0" u="none" strike="noStrike">
                          <a:solidFill>
                            <a:schemeClr val="bg1"/>
                          </a:solidFill>
                          <a:effectLst/>
                          <a:latin typeface="+mn-lt"/>
                        </a:rPr>
                        <a:t>80</a:t>
                      </a:r>
                    </a:p>
                  </a:txBody>
                  <a:tcPr marL="9525" marR="9525" marT="9525" marB="0" anchor="b"/>
                </a:tc>
                <a:tc>
                  <a:txBody>
                    <a:bodyPr/>
                    <a:lstStyle/>
                    <a:p>
                      <a:pPr algn="ctr" fontAlgn="b"/>
                      <a:r>
                        <a:rPr lang="en-GB" sz="1050" b="1" i="0" u="none" strike="noStrike">
                          <a:solidFill>
                            <a:schemeClr val="bg1"/>
                          </a:solidFill>
                          <a:effectLst/>
                          <a:latin typeface="+mn-lt"/>
                        </a:rPr>
                        <a:t>64</a:t>
                      </a:r>
                    </a:p>
                  </a:txBody>
                  <a:tcPr marL="9525" marR="9525" marT="9525" marB="0" anchor="b"/>
                </a:tc>
                <a:tc>
                  <a:txBody>
                    <a:bodyPr/>
                    <a:lstStyle/>
                    <a:p>
                      <a:pPr algn="ctr" fontAlgn="b"/>
                      <a:r>
                        <a:rPr lang="en-GB" sz="1050" b="1" i="0" u="none" strike="noStrike">
                          <a:solidFill>
                            <a:schemeClr val="bg1"/>
                          </a:solidFill>
                          <a:effectLst/>
                          <a:latin typeface="+mn-lt"/>
                        </a:rPr>
                        <a:t>62</a:t>
                      </a:r>
                    </a:p>
                  </a:txBody>
                  <a:tcPr marL="9525" marR="9525" marT="9525" marB="0" anchor="b"/>
                </a:tc>
              </a:tr>
              <a:tr h="193215">
                <a:tc>
                  <a:txBody>
                    <a:bodyPr/>
                    <a:lstStyle/>
                    <a:p>
                      <a:pPr algn="l" fontAlgn="b"/>
                      <a:r>
                        <a:rPr lang="en-GB" sz="1050" b="1" i="0" u="none" strike="noStrike" dirty="0" err="1">
                          <a:solidFill>
                            <a:schemeClr val="bg1"/>
                          </a:solidFill>
                          <a:effectLst/>
                          <a:latin typeface="+mn-lt"/>
                        </a:rPr>
                        <a:t>xrdcp</a:t>
                      </a:r>
                      <a:r>
                        <a:rPr lang="en-GB" sz="1050" b="1" i="0" u="none" strike="noStrike" dirty="0">
                          <a:solidFill>
                            <a:schemeClr val="bg1"/>
                          </a:solidFill>
                          <a:effectLst/>
                          <a:latin typeface="+mn-lt"/>
                        </a:rPr>
                        <a:t> (8streams)</a:t>
                      </a:r>
                    </a:p>
                  </a:txBody>
                  <a:tcPr marL="9525" marR="9525" marT="9525" marB="0" anchor="b"/>
                </a:tc>
                <a:tc>
                  <a:txBody>
                    <a:bodyPr/>
                    <a:lstStyle/>
                    <a:p>
                      <a:pPr algn="ctr" fontAlgn="b"/>
                      <a:r>
                        <a:rPr lang="en-GB" sz="1050" b="1" i="0" u="none" strike="noStrike">
                          <a:solidFill>
                            <a:schemeClr val="bg1"/>
                          </a:solidFill>
                          <a:effectLst/>
                          <a:latin typeface="+mn-lt"/>
                        </a:rPr>
                        <a:t>1046</a:t>
                      </a:r>
                    </a:p>
                  </a:txBody>
                  <a:tcPr marL="9525" marR="9525" marT="9525" marB="0" anchor="b"/>
                </a:tc>
                <a:tc>
                  <a:txBody>
                    <a:bodyPr/>
                    <a:lstStyle/>
                    <a:p>
                      <a:pPr algn="ctr" fontAlgn="b"/>
                      <a:r>
                        <a:rPr lang="en-GB" sz="1050" b="1" i="0" u="none" strike="noStrike" dirty="0">
                          <a:solidFill>
                            <a:srgbClr val="FF0000"/>
                          </a:solidFill>
                          <a:effectLst/>
                          <a:latin typeface="+mn-lt"/>
                        </a:rPr>
                        <a:t>1130</a:t>
                      </a:r>
                    </a:p>
                  </a:txBody>
                  <a:tcPr marL="9525" marR="9525" marT="9525" marB="0" anchor="b"/>
                </a:tc>
                <a:tc>
                  <a:txBody>
                    <a:bodyPr/>
                    <a:lstStyle/>
                    <a:p>
                      <a:pPr algn="ctr" fontAlgn="b"/>
                      <a:r>
                        <a:rPr lang="en-GB" sz="1050" b="1" i="0" u="none" strike="noStrike">
                          <a:solidFill>
                            <a:schemeClr val="bg1"/>
                          </a:solidFill>
                          <a:effectLst/>
                          <a:latin typeface="+mn-lt"/>
                        </a:rPr>
                        <a:t>982</a:t>
                      </a:r>
                    </a:p>
                  </a:txBody>
                  <a:tcPr marL="9525" marR="9525" marT="9525" marB="0" anchor="b"/>
                </a:tc>
                <a:tc>
                  <a:txBody>
                    <a:bodyPr/>
                    <a:lstStyle/>
                    <a:p>
                      <a:pPr algn="ctr" fontAlgn="b"/>
                      <a:r>
                        <a:rPr lang="en-GB" sz="1050" b="1" i="0" u="none" strike="noStrike" dirty="0">
                          <a:solidFill>
                            <a:schemeClr val="bg1"/>
                          </a:solidFill>
                          <a:effectLst/>
                          <a:latin typeface="+mn-lt"/>
                        </a:rPr>
                        <a:t>655</a:t>
                      </a:r>
                    </a:p>
                  </a:txBody>
                  <a:tcPr marL="9525" marR="9525" marT="9525" marB="0" anchor="b"/>
                </a:tc>
                <a:tc>
                  <a:txBody>
                    <a:bodyPr/>
                    <a:lstStyle/>
                    <a:p>
                      <a:pPr algn="ctr" fontAlgn="b"/>
                      <a:r>
                        <a:rPr lang="en-GB" sz="1050" b="1" i="0" u="none" strike="noStrike" dirty="0">
                          <a:solidFill>
                            <a:schemeClr val="bg1"/>
                          </a:solidFill>
                          <a:effectLst/>
                          <a:latin typeface="+mn-lt"/>
                        </a:rPr>
                        <a:t>393</a:t>
                      </a:r>
                    </a:p>
                  </a:txBody>
                  <a:tcPr marL="9525" marR="9525" marT="9525" marB="0" anchor="b"/>
                </a:tc>
                <a:tc>
                  <a:txBody>
                    <a:bodyPr/>
                    <a:lstStyle/>
                    <a:p>
                      <a:pPr algn="ctr" fontAlgn="b"/>
                      <a:r>
                        <a:rPr lang="en-GB" sz="1050" b="1" i="0" u="none" strike="noStrike" dirty="0">
                          <a:solidFill>
                            <a:schemeClr val="bg1"/>
                          </a:solidFill>
                          <a:effectLst/>
                          <a:latin typeface="+mn-lt"/>
                        </a:rPr>
                        <a:t>327</a:t>
                      </a:r>
                    </a:p>
                  </a:txBody>
                  <a:tcPr marL="9525" marR="9525" marT="9525" marB="0" anchor="b"/>
                </a:tc>
                <a:tc>
                  <a:txBody>
                    <a:bodyPr/>
                    <a:lstStyle/>
                    <a:p>
                      <a:pPr algn="ctr" fontAlgn="b"/>
                      <a:r>
                        <a:rPr lang="en-GB" sz="1050" b="1" i="0" u="none" strike="noStrike" dirty="0">
                          <a:solidFill>
                            <a:schemeClr val="bg1"/>
                          </a:solidFill>
                          <a:effectLst/>
                          <a:latin typeface="+mn-lt"/>
                        </a:rPr>
                        <a:t>196</a:t>
                      </a:r>
                    </a:p>
                  </a:txBody>
                  <a:tcPr marL="9525" marR="9525" marT="9525" marB="0" anchor="b"/>
                </a:tc>
                <a:tc>
                  <a:txBody>
                    <a:bodyPr/>
                    <a:lstStyle/>
                    <a:p>
                      <a:pPr algn="ctr" fontAlgn="b"/>
                      <a:r>
                        <a:rPr lang="en-GB" sz="1050" b="1" i="0" u="none" strike="noStrike" dirty="0">
                          <a:solidFill>
                            <a:schemeClr val="bg1"/>
                          </a:solidFill>
                          <a:effectLst/>
                          <a:latin typeface="+mn-lt"/>
                        </a:rPr>
                        <a:t>164</a:t>
                      </a:r>
                    </a:p>
                  </a:txBody>
                  <a:tcPr marL="9525" marR="9525" marT="9525" marB="0" anchor="b"/>
                </a:tc>
                <a:tc>
                  <a:txBody>
                    <a:bodyPr/>
                    <a:lstStyle/>
                    <a:p>
                      <a:pPr algn="ctr" fontAlgn="b"/>
                      <a:r>
                        <a:rPr lang="en-GB" sz="1050" b="1" i="0" u="none" strike="noStrike">
                          <a:solidFill>
                            <a:schemeClr val="bg1"/>
                          </a:solidFill>
                          <a:effectLst/>
                          <a:latin typeface="+mn-lt"/>
                        </a:rPr>
                        <a:t>164</a:t>
                      </a:r>
                    </a:p>
                  </a:txBody>
                  <a:tcPr marL="9525" marR="9525" marT="9525" marB="0" anchor="b"/>
                </a:tc>
                <a:tc>
                  <a:txBody>
                    <a:bodyPr/>
                    <a:lstStyle/>
                    <a:p>
                      <a:pPr algn="ctr" fontAlgn="b"/>
                      <a:r>
                        <a:rPr lang="en-GB" sz="1050" b="1" i="0" u="none" strike="noStrike">
                          <a:solidFill>
                            <a:schemeClr val="bg1"/>
                          </a:solidFill>
                          <a:effectLst/>
                          <a:latin typeface="+mn-lt"/>
                        </a:rPr>
                        <a:t>136</a:t>
                      </a:r>
                    </a:p>
                  </a:txBody>
                  <a:tcPr marL="9525" marR="9525" marT="9525" marB="0" anchor="b"/>
                </a:tc>
                <a:tc>
                  <a:txBody>
                    <a:bodyPr/>
                    <a:lstStyle/>
                    <a:p>
                      <a:pPr algn="ctr" fontAlgn="b"/>
                      <a:r>
                        <a:rPr lang="en-GB" sz="1050" b="1" i="0" u="none" strike="noStrike">
                          <a:solidFill>
                            <a:schemeClr val="bg1"/>
                          </a:solidFill>
                          <a:effectLst/>
                          <a:latin typeface="+mn-lt"/>
                        </a:rPr>
                        <a:t>136</a:t>
                      </a:r>
                    </a:p>
                  </a:txBody>
                  <a:tcPr marL="9525" marR="9525" marT="9525" marB="0" anchor="b"/>
                </a:tc>
                <a:tc>
                  <a:txBody>
                    <a:bodyPr/>
                    <a:lstStyle/>
                    <a:p>
                      <a:pPr algn="ctr" fontAlgn="b"/>
                      <a:r>
                        <a:rPr lang="en-GB" sz="1050" b="1" i="0" u="none" strike="noStrike">
                          <a:solidFill>
                            <a:schemeClr val="bg1"/>
                          </a:solidFill>
                          <a:effectLst/>
                          <a:latin typeface="+mn-lt"/>
                        </a:rPr>
                        <a:t>114</a:t>
                      </a:r>
                    </a:p>
                  </a:txBody>
                  <a:tcPr marL="9525" marR="9525" marT="9525" marB="0" anchor="b"/>
                </a:tc>
                <a:tc>
                  <a:txBody>
                    <a:bodyPr/>
                    <a:lstStyle/>
                    <a:p>
                      <a:pPr algn="ctr" fontAlgn="b"/>
                      <a:r>
                        <a:rPr lang="en-GB" sz="1050" b="1" i="0" u="none" strike="noStrike">
                          <a:solidFill>
                            <a:schemeClr val="bg1"/>
                          </a:solidFill>
                          <a:effectLst/>
                          <a:latin typeface="+mn-lt"/>
                        </a:rPr>
                        <a:t>76</a:t>
                      </a:r>
                    </a:p>
                  </a:txBody>
                  <a:tcPr marL="9525" marR="9525" marT="9525" marB="0" anchor="b"/>
                </a:tc>
                <a:tc>
                  <a:txBody>
                    <a:bodyPr/>
                    <a:lstStyle/>
                    <a:p>
                      <a:pPr algn="ctr" fontAlgn="b"/>
                      <a:r>
                        <a:rPr lang="en-GB" sz="1050" b="1" i="0" u="none" strike="noStrike">
                          <a:solidFill>
                            <a:schemeClr val="bg1"/>
                          </a:solidFill>
                          <a:effectLst/>
                          <a:latin typeface="+mn-lt"/>
                        </a:rPr>
                        <a:t>72</a:t>
                      </a:r>
                    </a:p>
                  </a:txBody>
                  <a:tcPr marL="9525" marR="9525" marT="9525" marB="0" anchor="b"/>
                </a:tc>
                <a:tc>
                  <a:txBody>
                    <a:bodyPr/>
                    <a:lstStyle/>
                    <a:p>
                      <a:pPr algn="ctr" fontAlgn="b"/>
                      <a:r>
                        <a:rPr lang="en-GB" sz="1050" b="1" i="0" u="none" strike="noStrike">
                          <a:solidFill>
                            <a:schemeClr val="bg1"/>
                          </a:solidFill>
                          <a:effectLst/>
                          <a:latin typeface="+mn-lt"/>
                        </a:rPr>
                        <a:t>59</a:t>
                      </a:r>
                    </a:p>
                  </a:txBody>
                  <a:tcPr marL="9525" marR="9525" marT="9525" marB="0" anchor="b"/>
                </a:tc>
              </a:tr>
              <a:tr h="193215">
                <a:tc>
                  <a:txBody>
                    <a:bodyPr/>
                    <a:lstStyle/>
                    <a:p>
                      <a:pPr algn="l" fontAlgn="b"/>
                      <a:r>
                        <a:rPr lang="en-GB" sz="1050" b="1" i="0" u="none" strike="noStrike" dirty="0" err="1">
                          <a:solidFill>
                            <a:schemeClr val="bg1"/>
                          </a:solidFill>
                          <a:effectLst/>
                          <a:latin typeface="+mn-lt"/>
                        </a:rPr>
                        <a:t>fdt</a:t>
                      </a:r>
                      <a:r>
                        <a:rPr lang="en-GB" sz="1050" b="1" i="0" u="none" strike="noStrike" dirty="0">
                          <a:solidFill>
                            <a:schemeClr val="bg1"/>
                          </a:solidFill>
                          <a:effectLst/>
                          <a:latin typeface="+mn-lt"/>
                        </a:rPr>
                        <a:t> (2streams)</a:t>
                      </a:r>
                    </a:p>
                  </a:txBody>
                  <a:tcPr marL="9525" marR="9525" marT="9525" marB="0" anchor="b"/>
                </a:tc>
                <a:tc>
                  <a:txBody>
                    <a:bodyPr/>
                    <a:lstStyle/>
                    <a:p>
                      <a:pPr algn="ctr" fontAlgn="b"/>
                      <a:r>
                        <a:rPr lang="en-GB" sz="1050" b="1" i="0" u="none" strike="noStrike">
                          <a:solidFill>
                            <a:schemeClr val="bg1"/>
                          </a:solidFill>
                          <a:effectLst/>
                          <a:latin typeface="+mn-lt"/>
                        </a:rPr>
                        <a:t>901</a:t>
                      </a:r>
                    </a:p>
                  </a:txBody>
                  <a:tcPr marL="9525" marR="9525" marT="9525" marB="0" anchor="b"/>
                </a:tc>
                <a:tc>
                  <a:txBody>
                    <a:bodyPr/>
                    <a:lstStyle/>
                    <a:p>
                      <a:pPr algn="ctr" fontAlgn="b"/>
                      <a:r>
                        <a:rPr lang="en-GB" sz="1050" b="1" i="0" u="none" strike="noStrike">
                          <a:solidFill>
                            <a:schemeClr val="bg1"/>
                          </a:solidFill>
                          <a:effectLst/>
                          <a:latin typeface="+mn-lt"/>
                        </a:rPr>
                        <a:t>900</a:t>
                      </a:r>
                    </a:p>
                  </a:txBody>
                  <a:tcPr marL="9525" marR="9525" marT="9525" marB="0" anchor="b"/>
                </a:tc>
                <a:tc>
                  <a:txBody>
                    <a:bodyPr/>
                    <a:lstStyle/>
                    <a:p>
                      <a:pPr algn="ctr" fontAlgn="b"/>
                      <a:r>
                        <a:rPr lang="en-GB" sz="1050" b="1" i="0" u="none" strike="noStrike">
                          <a:solidFill>
                            <a:schemeClr val="bg1"/>
                          </a:solidFill>
                          <a:effectLst/>
                          <a:latin typeface="+mn-lt"/>
                        </a:rPr>
                        <a:t>850</a:t>
                      </a:r>
                    </a:p>
                  </a:txBody>
                  <a:tcPr marL="9525" marR="9525" marT="9525" marB="0" anchor="b"/>
                </a:tc>
                <a:tc>
                  <a:txBody>
                    <a:bodyPr/>
                    <a:lstStyle/>
                    <a:p>
                      <a:pPr algn="ctr" fontAlgn="b"/>
                      <a:r>
                        <a:rPr lang="en-GB" sz="1050" b="1" i="0" u="none" strike="noStrike">
                          <a:solidFill>
                            <a:schemeClr val="bg1"/>
                          </a:solidFill>
                          <a:effectLst/>
                          <a:latin typeface="+mn-lt"/>
                        </a:rPr>
                        <a:t>842</a:t>
                      </a:r>
                    </a:p>
                  </a:txBody>
                  <a:tcPr marL="9525" marR="9525" marT="9525" marB="0" anchor="b"/>
                </a:tc>
                <a:tc>
                  <a:txBody>
                    <a:bodyPr/>
                    <a:lstStyle/>
                    <a:p>
                      <a:pPr algn="ctr" fontAlgn="b"/>
                      <a:r>
                        <a:rPr lang="en-GB" sz="1050" b="1" i="0" u="none" strike="noStrike" dirty="0">
                          <a:solidFill>
                            <a:srgbClr val="FF0000"/>
                          </a:solidFill>
                          <a:effectLst/>
                          <a:latin typeface="+mn-lt"/>
                        </a:rPr>
                        <a:t>805</a:t>
                      </a:r>
                    </a:p>
                  </a:txBody>
                  <a:tcPr marL="9525" marR="9525" marT="9525" marB="0" anchor="b"/>
                </a:tc>
                <a:tc>
                  <a:txBody>
                    <a:bodyPr/>
                    <a:lstStyle/>
                    <a:p>
                      <a:pPr algn="ctr" fontAlgn="b"/>
                      <a:r>
                        <a:rPr lang="en-GB" sz="1050" b="1" i="0" u="none" strike="noStrike" dirty="0">
                          <a:solidFill>
                            <a:srgbClr val="FF0000"/>
                          </a:solidFill>
                          <a:effectLst/>
                          <a:latin typeface="+mn-lt"/>
                        </a:rPr>
                        <a:t>777</a:t>
                      </a:r>
                    </a:p>
                  </a:txBody>
                  <a:tcPr marL="9525" marR="9525" marT="9525" marB="0" anchor="b"/>
                </a:tc>
                <a:tc>
                  <a:txBody>
                    <a:bodyPr/>
                    <a:lstStyle/>
                    <a:p>
                      <a:pPr algn="ctr" fontAlgn="b"/>
                      <a:r>
                        <a:rPr lang="en-GB" sz="1050" b="1" i="0" u="none" strike="noStrike" dirty="0">
                          <a:solidFill>
                            <a:srgbClr val="FF0000"/>
                          </a:solidFill>
                          <a:effectLst/>
                          <a:latin typeface="+mn-lt"/>
                        </a:rPr>
                        <a:t>732</a:t>
                      </a:r>
                    </a:p>
                  </a:txBody>
                  <a:tcPr marL="9525" marR="9525" marT="9525" marB="0" anchor="b"/>
                </a:tc>
                <a:tc>
                  <a:txBody>
                    <a:bodyPr/>
                    <a:lstStyle/>
                    <a:p>
                      <a:pPr algn="ctr" fontAlgn="b"/>
                      <a:r>
                        <a:rPr lang="en-GB" sz="1050" b="1" i="0" u="none" strike="noStrike" dirty="0">
                          <a:solidFill>
                            <a:srgbClr val="FF0000"/>
                          </a:solidFill>
                          <a:effectLst/>
                          <a:latin typeface="+mn-lt"/>
                        </a:rPr>
                        <a:t>684</a:t>
                      </a:r>
                    </a:p>
                  </a:txBody>
                  <a:tcPr marL="9525" marR="9525" marT="9525" marB="0" anchor="b"/>
                </a:tc>
                <a:tc>
                  <a:txBody>
                    <a:bodyPr/>
                    <a:lstStyle/>
                    <a:p>
                      <a:pPr algn="ctr" fontAlgn="b"/>
                      <a:r>
                        <a:rPr lang="en-GB" sz="1050" b="1" i="0" u="none" strike="noStrike" dirty="0">
                          <a:solidFill>
                            <a:srgbClr val="FF0000"/>
                          </a:solidFill>
                          <a:effectLst/>
                          <a:latin typeface="+mn-lt"/>
                        </a:rPr>
                        <a:t>548</a:t>
                      </a:r>
                    </a:p>
                  </a:txBody>
                  <a:tcPr marL="9525" marR="9525" marT="9525" marB="0" anchor="b"/>
                </a:tc>
                <a:tc>
                  <a:txBody>
                    <a:bodyPr/>
                    <a:lstStyle/>
                    <a:p>
                      <a:pPr algn="ctr" fontAlgn="b"/>
                      <a:r>
                        <a:rPr lang="en-GB" sz="1050" b="1" i="0" u="none" strike="noStrike" dirty="0">
                          <a:solidFill>
                            <a:srgbClr val="FF0000"/>
                          </a:solidFill>
                          <a:effectLst/>
                          <a:latin typeface="+mn-lt"/>
                        </a:rPr>
                        <a:t>439</a:t>
                      </a:r>
                    </a:p>
                  </a:txBody>
                  <a:tcPr marL="9525" marR="9525" marT="9525" marB="0" anchor="b"/>
                </a:tc>
                <a:tc>
                  <a:txBody>
                    <a:bodyPr/>
                    <a:lstStyle/>
                    <a:p>
                      <a:pPr algn="ctr" fontAlgn="b"/>
                      <a:r>
                        <a:rPr lang="en-GB" sz="1050" b="1" i="0" u="none" strike="noStrike" dirty="0">
                          <a:solidFill>
                            <a:srgbClr val="FF0000"/>
                          </a:solidFill>
                          <a:effectLst/>
                          <a:latin typeface="+mn-lt"/>
                        </a:rPr>
                        <a:t>352</a:t>
                      </a:r>
                    </a:p>
                  </a:txBody>
                  <a:tcPr marL="9525" marR="9525" marT="9525" marB="0" anchor="b"/>
                </a:tc>
                <a:tc>
                  <a:txBody>
                    <a:bodyPr/>
                    <a:lstStyle/>
                    <a:p>
                      <a:pPr algn="ctr" fontAlgn="b"/>
                      <a:r>
                        <a:rPr lang="en-GB" sz="1050" b="1" i="0" u="none" strike="noStrike" dirty="0">
                          <a:solidFill>
                            <a:srgbClr val="FF0000"/>
                          </a:solidFill>
                          <a:effectLst/>
                          <a:latin typeface="+mn-lt"/>
                        </a:rPr>
                        <a:t>282</a:t>
                      </a:r>
                    </a:p>
                  </a:txBody>
                  <a:tcPr marL="9525" marR="9525" marT="9525" marB="0" anchor="b"/>
                </a:tc>
                <a:tc>
                  <a:txBody>
                    <a:bodyPr/>
                    <a:lstStyle/>
                    <a:p>
                      <a:pPr algn="ctr" fontAlgn="b"/>
                      <a:r>
                        <a:rPr lang="en-GB" sz="1050" b="1" i="0" u="none" strike="noStrike">
                          <a:solidFill>
                            <a:schemeClr val="bg1"/>
                          </a:solidFill>
                          <a:effectLst/>
                          <a:latin typeface="+mn-lt"/>
                        </a:rPr>
                        <a:t>226</a:t>
                      </a:r>
                    </a:p>
                  </a:txBody>
                  <a:tcPr marL="9525" marR="9525" marT="9525" marB="0" anchor="b"/>
                </a:tc>
                <a:tc>
                  <a:txBody>
                    <a:bodyPr/>
                    <a:lstStyle/>
                    <a:p>
                      <a:pPr algn="ctr" fontAlgn="b"/>
                      <a:r>
                        <a:rPr lang="en-GB" sz="1050" b="1" i="0" u="none" strike="noStrike">
                          <a:solidFill>
                            <a:schemeClr val="bg1"/>
                          </a:solidFill>
                          <a:effectLst/>
                          <a:latin typeface="+mn-lt"/>
                        </a:rPr>
                        <a:t>181</a:t>
                      </a:r>
                    </a:p>
                  </a:txBody>
                  <a:tcPr marL="9525" marR="9525" marT="9525" marB="0" anchor="b"/>
                </a:tc>
                <a:tc>
                  <a:txBody>
                    <a:bodyPr/>
                    <a:lstStyle/>
                    <a:p>
                      <a:pPr algn="ctr" fontAlgn="b"/>
                      <a:r>
                        <a:rPr lang="en-GB" sz="1050" b="1" i="0" u="none" strike="noStrike">
                          <a:solidFill>
                            <a:schemeClr val="bg1"/>
                          </a:solidFill>
                          <a:effectLst/>
                          <a:latin typeface="+mn-lt"/>
                        </a:rPr>
                        <a:t>163</a:t>
                      </a:r>
                    </a:p>
                  </a:txBody>
                  <a:tcPr marL="9525" marR="9525" marT="9525" marB="0" anchor="b"/>
                </a:tc>
              </a:tr>
              <a:tr h="193215">
                <a:tc>
                  <a:txBody>
                    <a:bodyPr/>
                    <a:lstStyle/>
                    <a:p>
                      <a:pPr algn="l" fontAlgn="b"/>
                      <a:r>
                        <a:rPr lang="en-GB" sz="1050" b="1" i="0" u="none" strike="noStrike" dirty="0" err="1">
                          <a:solidFill>
                            <a:schemeClr val="bg1"/>
                          </a:solidFill>
                          <a:effectLst/>
                          <a:latin typeface="+mn-lt"/>
                        </a:rPr>
                        <a:t>fdt</a:t>
                      </a:r>
                      <a:r>
                        <a:rPr lang="en-GB" sz="1050" b="1" i="0" u="none" strike="noStrike" dirty="0">
                          <a:solidFill>
                            <a:schemeClr val="bg1"/>
                          </a:solidFill>
                          <a:effectLst/>
                          <a:latin typeface="+mn-lt"/>
                        </a:rPr>
                        <a:t> (15streams)</a:t>
                      </a:r>
                    </a:p>
                  </a:txBody>
                  <a:tcPr marL="9525" marR="9525" marT="9525" marB="0" anchor="b"/>
                </a:tc>
                <a:tc>
                  <a:txBody>
                    <a:bodyPr/>
                    <a:lstStyle/>
                    <a:p>
                      <a:pPr algn="ctr" fontAlgn="b"/>
                      <a:r>
                        <a:rPr lang="en-GB" sz="1050" b="1" i="0" u="none" strike="noStrike" dirty="0">
                          <a:solidFill>
                            <a:srgbClr val="FF0000"/>
                          </a:solidFill>
                          <a:effectLst/>
                          <a:latin typeface="+mn-lt"/>
                        </a:rPr>
                        <a:t>1123</a:t>
                      </a:r>
                    </a:p>
                  </a:txBody>
                  <a:tcPr marL="9525" marR="9525" marT="9525" marB="0" anchor="b"/>
                </a:tc>
                <a:tc>
                  <a:txBody>
                    <a:bodyPr/>
                    <a:lstStyle/>
                    <a:p>
                      <a:pPr algn="ctr" fontAlgn="b"/>
                      <a:r>
                        <a:rPr lang="en-GB" sz="1050" b="1" i="0" u="none" strike="noStrike">
                          <a:solidFill>
                            <a:schemeClr val="bg1"/>
                          </a:solidFill>
                          <a:effectLst/>
                          <a:latin typeface="+mn-lt"/>
                        </a:rPr>
                        <a:t>1074</a:t>
                      </a:r>
                    </a:p>
                  </a:txBody>
                  <a:tcPr marL="9525" marR="9525" marT="9525" marB="0" anchor="b"/>
                </a:tc>
                <a:tc>
                  <a:txBody>
                    <a:bodyPr/>
                    <a:lstStyle/>
                    <a:p>
                      <a:pPr algn="ctr" fontAlgn="b"/>
                      <a:r>
                        <a:rPr lang="en-GB" sz="1050" b="1" i="0" u="none" strike="noStrike" dirty="0">
                          <a:solidFill>
                            <a:srgbClr val="FF0000"/>
                          </a:solidFill>
                          <a:effectLst/>
                          <a:latin typeface="+mn-lt"/>
                        </a:rPr>
                        <a:t>1023</a:t>
                      </a:r>
                    </a:p>
                  </a:txBody>
                  <a:tcPr marL="9525" marR="9525" marT="9525" marB="0" anchor="b"/>
                </a:tc>
                <a:tc>
                  <a:txBody>
                    <a:bodyPr/>
                    <a:lstStyle/>
                    <a:p>
                      <a:pPr algn="ctr" fontAlgn="b"/>
                      <a:r>
                        <a:rPr lang="en-GB" sz="1050" b="1" i="0" u="none" strike="noStrike" dirty="0">
                          <a:solidFill>
                            <a:srgbClr val="FF0000"/>
                          </a:solidFill>
                          <a:effectLst/>
                          <a:latin typeface="+mn-lt"/>
                        </a:rPr>
                        <a:t>880</a:t>
                      </a:r>
                    </a:p>
                  </a:txBody>
                  <a:tcPr marL="9525" marR="9525" marT="9525" marB="0" anchor="b"/>
                </a:tc>
                <a:tc>
                  <a:txBody>
                    <a:bodyPr/>
                    <a:lstStyle/>
                    <a:p>
                      <a:pPr algn="ctr" fontAlgn="b"/>
                      <a:r>
                        <a:rPr lang="en-GB" sz="1050" b="1" i="0" u="none" strike="noStrike">
                          <a:solidFill>
                            <a:schemeClr val="bg1"/>
                          </a:solidFill>
                          <a:effectLst/>
                          <a:latin typeface="+mn-lt"/>
                        </a:rPr>
                        <a:t>757</a:t>
                      </a:r>
                    </a:p>
                  </a:txBody>
                  <a:tcPr marL="9525" marR="9525" marT="9525" marB="0" anchor="b"/>
                </a:tc>
                <a:tc>
                  <a:txBody>
                    <a:bodyPr/>
                    <a:lstStyle/>
                    <a:p>
                      <a:pPr algn="ctr" fontAlgn="b"/>
                      <a:r>
                        <a:rPr lang="en-GB" sz="1050" b="1" i="0" u="none" strike="noStrike">
                          <a:solidFill>
                            <a:schemeClr val="bg1"/>
                          </a:solidFill>
                          <a:effectLst/>
                          <a:latin typeface="+mn-lt"/>
                        </a:rPr>
                        <a:t>651</a:t>
                      </a:r>
                    </a:p>
                  </a:txBody>
                  <a:tcPr marL="9525" marR="9525" marT="9525" marB="0" anchor="b"/>
                </a:tc>
                <a:tc>
                  <a:txBody>
                    <a:bodyPr/>
                    <a:lstStyle/>
                    <a:p>
                      <a:pPr algn="ctr" fontAlgn="b"/>
                      <a:r>
                        <a:rPr lang="en-GB" sz="1050" b="1" i="0" u="none" strike="noStrike">
                          <a:solidFill>
                            <a:schemeClr val="bg1"/>
                          </a:solidFill>
                          <a:effectLst/>
                          <a:latin typeface="+mn-lt"/>
                        </a:rPr>
                        <a:t>561</a:t>
                      </a:r>
                    </a:p>
                  </a:txBody>
                  <a:tcPr marL="9525" marR="9525" marT="9525" marB="0" anchor="b"/>
                </a:tc>
                <a:tc>
                  <a:txBody>
                    <a:bodyPr/>
                    <a:lstStyle/>
                    <a:p>
                      <a:pPr algn="ctr" fontAlgn="b"/>
                      <a:r>
                        <a:rPr lang="en-GB" sz="1050" b="1" i="0" u="none" strike="noStrike">
                          <a:solidFill>
                            <a:schemeClr val="bg1"/>
                          </a:solidFill>
                          <a:effectLst/>
                          <a:latin typeface="+mn-lt"/>
                        </a:rPr>
                        <a:t>482</a:t>
                      </a:r>
                    </a:p>
                  </a:txBody>
                  <a:tcPr marL="9525" marR="9525" marT="9525" marB="0" anchor="b"/>
                </a:tc>
                <a:tc>
                  <a:txBody>
                    <a:bodyPr/>
                    <a:lstStyle/>
                    <a:p>
                      <a:pPr algn="ctr" fontAlgn="b"/>
                      <a:r>
                        <a:rPr lang="en-GB" sz="1050" b="1" i="0" u="none" strike="noStrike">
                          <a:solidFill>
                            <a:schemeClr val="bg1"/>
                          </a:solidFill>
                          <a:effectLst/>
                          <a:latin typeface="+mn-lt"/>
                        </a:rPr>
                        <a:t>415</a:t>
                      </a:r>
                    </a:p>
                  </a:txBody>
                  <a:tcPr marL="9525" marR="9525" marT="9525" marB="0" anchor="b"/>
                </a:tc>
                <a:tc>
                  <a:txBody>
                    <a:bodyPr/>
                    <a:lstStyle/>
                    <a:p>
                      <a:pPr algn="ctr" fontAlgn="b"/>
                      <a:r>
                        <a:rPr lang="en-GB" sz="1050" b="1" i="0" u="none" strike="noStrike" dirty="0">
                          <a:solidFill>
                            <a:schemeClr val="bg1"/>
                          </a:solidFill>
                          <a:effectLst/>
                          <a:latin typeface="+mn-lt"/>
                        </a:rPr>
                        <a:t>357</a:t>
                      </a:r>
                    </a:p>
                  </a:txBody>
                  <a:tcPr marL="9525" marR="9525" marT="9525" marB="0" anchor="b"/>
                </a:tc>
                <a:tc>
                  <a:txBody>
                    <a:bodyPr/>
                    <a:lstStyle/>
                    <a:p>
                      <a:pPr algn="ctr" fontAlgn="b"/>
                      <a:r>
                        <a:rPr lang="en-GB" sz="1050" b="1" i="0" u="none" strike="noStrike" dirty="0">
                          <a:solidFill>
                            <a:schemeClr val="bg1"/>
                          </a:solidFill>
                          <a:effectLst/>
                          <a:latin typeface="+mn-lt"/>
                        </a:rPr>
                        <a:t>307</a:t>
                      </a:r>
                    </a:p>
                  </a:txBody>
                  <a:tcPr marL="9525" marR="9525" marT="9525" marB="0" anchor="b"/>
                </a:tc>
                <a:tc>
                  <a:txBody>
                    <a:bodyPr/>
                    <a:lstStyle/>
                    <a:p>
                      <a:pPr algn="ctr" fontAlgn="b"/>
                      <a:r>
                        <a:rPr lang="en-GB" sz="1050" b="1" i="0" u="none" strike="noStrike">
                          <a:solidFill>
                            <a:schemeClr val="bg1"/>
                          </a:solidFill>
                          <a:effectLst/>
                          <a:latin typeface="+mn-lt"/>
                        </a:rPr>
                        <a:t>264</a:t>
                      </a:r>
                    </a:p>
                  </a:txBody>
                  <a:tcPr marL="9525" marR="9525" marT="9525" marB="0" anchor="b"/>
                </a:tc>
                <a:tc>
                  <a:txBody>
                    <a:bodyPr/>
                    <a:lstStyle/>
                    <a:p>
                      <a:pPr algn="ctr" fontAlgn="b"/>
                      <a:r>
                        <a:rPr lang="en-GB" sz="1050" b="1" i="0" u="none" strike="noStrike" dirty="0">
                          <a:solidFill>
                            <a:srgbClr val="FF0000"/>
                          </a:solidFill>
                          <a:effectLst/>
                          <a:latin typeface="+mn-lt"/>
                        </a:rPr>
                        <a:t>227</a:t>
                      </a:r>
                    </a:p>
                  </a:txBody>
                  <a:tcPr marL="9525" marR="9525" marT="9525" marB="0" anchor="b"/>
                </a:tc>
                <a:tc>
                  <a:txBody>
                    <a:bodyPr/>
                    <a:lstStyle/>
                    <a:p>
                      <a:pPr algn="ctr" fontAlgn="b"/>
                      <a:r>
                        <a:rPr lang="en-GB" sz="1050" b="1" i="0" u="none" strike="noStrike" dirty="0">
                          <a:solidFill>
                            <a:srgbClr val="FF0000"/>
                          </a:solidFill>
                          <a:effectLst/>
                          <a:latin typeface="+mn-lt"/>
                        </a:rPr>
                        <a:t>196</a:t>
                      </a:r>
                    </a:p>
                  </a:txBody>
                  <a:tcPr marL="9525" marR="9525" marT="9525" marB="0" anchor="b"/>
                </a:tc>
                <a:tc>
                  <a:txBody>
                    <a:bodyPr/>
                    <a:lstStyle/>
                    <a:p>
                      <a:pPr algn="ctr" fontAlgn="b"/>
                      <a:r>
                        <a:rPr lang="en-GB" sz="1050" b="1" i="0" u="none" strike="noStrike" dirty="0">
                          <a:solidFill>
                            <a:srgbClr val="FF0000"/>
                          </a:solidFill>
                          <a:effectLst/>
                          <a:latin typeface="+mn-lt"/>
                        </a:rPr>
                        <a:t>188</a:t>
                      </a:r>
                    </a:p>
                  </a:txBody>
                  <a:tcPr marL="9525" marR="9525" marT="9525" marB="0" anchor="b"/>
                </a:tc>
              </a:tr>
              <a:tr h="193215">
                <a:tc>
                  <a:txBody>
                    <a:bodyPr/>
                    <a:lstStyle/>
                    <a:p>
                      <a:pPr algn="l" fontAlgn="b"/>
                      <a:r>
                        <a:rPr lang="en-GB" sz="1050" b="1" i="0" u="none" strike="noStrike" dirty="0">
                          <a:solidFill>
                            <a:schemeClr val="bg1"/>
                          </a:solidFill>
                          <a:effectLst/>
                          <a:latin typeface="+mn-lt"/>
                        </a:rPr>
                        <a:t>Curl</a:t>
                      </a:r>
                    </a:p>
                  </a:txBody>
                  <a:tcPr marL="9525" marR="9525" marT="9525" marB="0" anchor="b"/>
                </a:tc>
                <a:tc>
                  <a:txBody>
                    <a:bodyPr/>
                    <a:lstStyle/>
                    <a:p>
                      <a:pPr algn="ctr" fontAlgn="b"/>
                      <a:r>
                        <a:rPr lang="en-GB" sz="1050" b="1" i="0" u="none" strike="noStrike">
                          <a:solidFill>
                            <a:schemeClr val="bg1"/>
                          </a:solidFill>
                          <a:effectLst/>
                          <a:latin typeface="+mn-lt"/>
                        </a:rPr>
                        <a:t>508</a:t>
                      </a:r>
                    </a:p>
                  </a:txBody>
                  <a:tcPr marL="9525" marR="9525" marT="9525" marB="0" anchor="b"/>
                </a:tc>
                <a:tc>
                  <a:txBody>
                    <a:bodyPr/>
                    <a:lstStyle/>
                    <a:p>
                      <a:pPr algn="ctr" fontAlgn="b"/>
                      <a:r>
                        <a:rPr lang="en-GB" sz="1050" b="1" i="0" u="none" strike="noStrike">
                          <a:solidFill>
                            <a:schemeClr val="bg1"/>
                          </a:solidFill>
                          <a:effectLst/>
                          <a:latin typeface="+mn-lt"/>
                        </a:rPr>
                        <a:t>408</a:t>
                      </a:r>
                    </a:p>
                  </a:txBody>
                  <a:tcPr marL="9525" marR="9525" marT="9525" marB="0" anchor="b"/>
                </a:tc>
                <a:tc>
                  <a:txBody>
                    <a:bodyPr/>
                    <a:lstStyle/>
                    <a:p>
                      <a:pPr algn="ctr" fontAlgn="b"/>
                      <a:r>
                        <a:rPr lang="en-GB" sz="1050" b="1" i="0" u="none" strike="noStrike">
                          <a:solidFill>
                            <a:schemeClr val="bg1"/>
                          </a:solidFill>
                          <a:effectLst/>
                          <a:latin typeface="+mn-lt"/>
                        </a:rPr>
                        <a:t>445</a:t>
                      </a:r>
                    </a:p>
                  </a:txBody>
                  <a:tcPr marL="9525" marR="9525" marT="9525" marB="0" anchor="b"/>
                </a:tc>
                <a:tc>
                  <a:txBody>
                    <a:bodyPr/>
                    <a:lstStyle/>
                    <a:p>
                      <a:pPr algn="ctr" fontAlgn="b"/>
                      <a:r>
                        <a:rPr lang="en-GB" sz="1050" b="1" i="0" u="none" strike="noStrike">
                          <a:solidFill>
                            <a:schemeClr val="bg1"/>
                          </a:solidFill>
                          <a:effectLst/>
                          <a:latin typeface="+mn-lt"/>
                        </a:rPr>
                        <a:t>269</a:t>
                      </a:r>
                    </a:p>
                  </a:txBody>
                  <a:tcPr marL="9525" marR="9525" marT="9525" marB="0" anchor="b"/>
                </a:tc>
                <a:tc>
                  <a:txBody>
                    <a:bodyPr/>
                    <a:lstStyle/>
                    <a:p>
                      <a:pPr algn="ctr" fontAlgn="b"/>
                      <a:r>
                        <a:rPr lang="en-GB" sz="1050" b="1" i="0" u="none" strike="noStrike">
                          <a:solidFill>
                            <a:schemeClr val="bg1"/>
                          </a:solidFill>
                          <a:effectLst/>
                          <a:latin typeface="+mn-lt"/>
                        </a:rPr>
                        <a:t>200</a:t>
                      </a:r>
                    </a:p>
                  </a:txBody>
                  <a:tcPr marL="9525" marR="9525" marT="9525" marB="0" anchor="b"/>
                </a:tc>
                <a:tc>
                  <a:txBody>
                    <a:bodyPr/>
                    <a:lstStyle/>
                    <a:p>
                      <a:pPr algn="ctr" fontAlgn="b"/>
                      <a:r>
                        <a:rPr lang="en-GB" sz="1050" b="1" i="0" u="none" strike="noStrike">
                          <a:solidFill>
                            <a:schemeClr val="bg1"/>
                          </a:solidFill>
                          <a:effectLst/>
                          <a:latin typeface="+mn-lt"/>
                        </a:rPr>
                        <a:t>150</a:t>
                      </a:r>
                    </a:p>
                  </a:txBody>
                  <a:tcPr marL="9525" marR="9525" marT="9525" marB="0" anchor="b"/>
                </a:tc>
                <a:tc>
                  <a:txBody>
                    <a:bodyPr/>
                    <a:lstStyle/>
                    <a:p>
                      <a:pPr algn="ctr" fontAlgn="b"/>
                      <a:r>
                        <a:rPr lang="en-GB" sz="1050" b="1" i="0" u="none" strike="noStrike">
                          <a:solidFill>
                            <a:schemeClr val="bg1"/>
                          </a:solidFill>
                          <a:effectLst/>
                          <a:latin typeface="+mn-lt"/>
                        </a:rPr>
                        <a:t>126</a:t>
                      </a:r>
                    </a:p>
                  </a:txBody>
                  <a:tcPr marL="9525" marR="9525" marT="9525" marB="0" anchor="b"/>
                </a:tc>
                <a:tc>
                  <a:txBody>
                    <a:bodyPr/>
                    <a:lstStyle/>
                    <a:p>
                      <a:pPr algn="ctr" fontAlgn="b"/>
                      <a:r>
                        <a:rPr lang="en-GB" sz="1050" b="1" i="0" u="none" strike="noStrike">
                          <a:solidFill>
                            <a:schemeClr val="bg1"/>
                          </a:solidFill>
                          <a:effectLst/>
                          <a:latin typeface="+mn-lt"/>
                        </a:rPr>
                        <a:t>100</a:t>
                      </a:r>
                    </a:p>
                  </a:txBody>
                  <a:tcPr marL="9525" marR="9525" marT="9525" marB="0" anchor="b"/>
                </a:tc>
                <a:tc>
                  <a:txBody>
                    <a:bodyPr/>
                    <a:lstStyle/>
                    <a:p>
                      <a:pPr algn="ctr" fontAlgn="b"/>
                      <a:r>
                        <a:rPr lang="en-GB" sz="1050" b="1" i="0" u="none" strike="noStrike">
                          <a:solidFill>
                            <a:schemeClr val="bg1"/>
                          </a:solidFill>
                          <a:effectLst/>
                          <a:latin typeface="+mn-lt"/>
                        </a:rPr>
                        <a:t>63</a:t>
                      </a:r>
                    </a:p>
                  </a:txBody>
                  <a:tcPr marL="9525" marR="9525" marT="9525" marB="0" anchor="b"/>
                </a:tc>
                <a:tc>
                  <a:txBody>
                    <a:bodyPr/>
                    <a:lstStyle/>
                    <a:p>
                      <a:pPr algn="ctr" fontAlgn="b"/>
                      <a:r>
                        <a:rPr lang="en-GB" sz="1050" b="1" i="0" u="none" strike="noStrike">
                          <a:solidFill>
                            <a:schemeClr val="bg1"/>
                          </a:solidFill>
                          <a:effectLst/>
                          <a:latin typeface="+mn-lt"/>
                        </a:rPr>
                        <a:t>45</a:t>
                      </a:r>
                    </a:p>
                  </a:txBody>
                  <a:tcPr marL="9525" marR="9525" marT="9525" marB="0" anchor="b"/>
                </a:tc>
                <a:tc>
                  <a:txBody>
                    <a:bodyPr/>
                    <a:lstStyle/>
                    <a:p>
                      <a:pPr algn="ctr" fontAlgn="b"/>
                      <a:r>
                        <a:rPr lang="en-GB" sz="1050" b="1" i="0" u="none" strike="noStrike">
                          <a:solidFill>
                            <a:schemeClr val="bg1"/>
                          </a:solidFill>
                          <a:effectLst/>
                          <a:latin typeface="+mn-lt"/>
                        </a:rPr>
                        <a:t>39</a:t>
                      </a:r>
                    </a:p>
                  </a:txBody>
                  <a:tcPr marL="9525" marR="9525" marT="9525" marB="0" anchor="b"/>
                </a:tc>
                <a:tc>
                  <a:txBody>
                    <a:bodyPr/>
                    <a:lstStyle/>
                    <a:p>
                      <a:pPr algn="ctr" fontAlgn="b"/>
                      <a:r>
                        <a:rPr lang="en-GB" sz="1050" b="1" i="0" u="none" strike="noStrike" dirty="0">
                          <a:solidFill>
                            <a:schemeClr val="bg1"/>
                          </a:solidFill>
                          <a:effectLst/>
                          <a:latin typeface="+mn-lt"/>
                        </a:rPr>
                        <a:t>36</a:t>
                      </a:r>
                    </a:p>
                  </a:txBody>
                  <a:tcPr marL="9525" marR="9525" marT="9525" marB="0" anchor="b"/>
                </a:tc>
                <a:tc>
                  <a:txBody>
                    <a:bodyPr/>
                    <a:lstStyle/>
                    <a:p>
                      <a:pPr algn="ctr" fontAlgn="b"/>
                      <a:r>
                        <a:rPr lang="en-GB" sz="1050" b="1" i="0" u="none" strike="noStrike" dirty="0">
                          <a:solidFill>
                            <a:schemeClr val="bg1"/>
                          </a:solidFill>
                          <a:effectLst/>
                          <a:latin typeface="+mn-lt"/>
                        </a:rPr>
                        <a:t>33</a:t>
                      </a:r>
                    </a:p>
                  </a:txBody>
                  <a:tcPr marL="9525" marR="9525" marT="9525" marB="0" anchor="b"/>
                </a:tc>
                <a:tc>
                  <a:txBody>
                    <a:bodyPr/>
                    <a:lstStyle/>
                    <a:p>
                      <a:pPr algn="ctr" fontAlgn="b"/>
                      <a:r>
                        <a:rPr lang="en-GB" sz="1050" b="1" i="0" u="none" strike="noStrike" dirty="0">
                          <a:solidFill>
                            <a:schemeClr val="bg1"/>
                          </a:solidFill>
                          <a:effectLst/>
                          <a:latin typeface="+mn-lt"/>
                        </a:rPr>
                        <a:t>30</a:t>
                      </a:r>
                    </a:p>
                  </a:txBody>
                  <a:tcPr marL="9525" marR="9525" marT="9525" marB="0" anchor="b"/>
                </a:tc>
                <a:tc>
                  <a:txBody>
                    <a:bodyPr/>
                    <a:lstStyle/>
                    <a:p>
                      <a:pPr algn="ctr" fontAlgn="b"/>
                      <a:r>
                        <a:rPr lang="en-GB" sz="1050" b="1" i="0" u="none" strike="noStrike" dirty="0">
                          <a:solidFill>
                            <a:schemeClr val="bg1"/>
                          </a:solidFill>
                          <a:effectLst/>
                          <a:latin typeface="+mn-lt"/>
                        </a:rPr>
                        <a:t>28</a:t>
                      </a:r>
                    </a:p>
                  </a:txBody>
                  <a:tcPr marL="9525" marR="9525" marT="9525" marB="0" anchor="b"/>
                </a:tc>
              </a:tr>
              <a:tr h="193215">
                <a:tc gridSpan="16">
                  <a:txBody>
                    <a:bodyPr/>
                    <a:lstStyle/>
                    <a:p>
                      <a:pPr algn="ctr" fontAlgn="b"/>
                      <a:r>
                        <a:rPr lang="en-GB" sz="1050" b="1" i="0" u="none" strike="noStrike" dirty="0">
                          <a:solidFill>
                            <a:schemeClr val="bg1"/>
                          </a:solidFill>
                          <a:effectLst/>
                          <a:latin typeface="+mn-lt"/>
                        </a:rPr>
                        <a:t>Only highest values are shown</a:t>
                      </a:r>
                      <a:r>
                        <a:rPr lang="en-GB" sz="1050" b="1" i="0" u="none" strike="noStrike" dirty="0" smtClean="0">
                          <a:solidFill>
                            <a:schemeClr val="bg1"/>
                          </a:solidFill>
                          <a:effectLst/>
                          <a:latin typeface="+mn-lt"/>
                        </a:rPr>
                        <a:t>.</a:t>
                      </a:r>
                      <a:endParaRPr lang="en-GB" sz="1050" b="1" i="0" u="none" strike="noStrike" dirty="0">
                        <a:solidFill>
                          <a:schemeClr val="bg1"/>
                        </a:solidFill>
                        <a:effectLst/>
                        <a:latin typeface="+mn-lt"/>
                      </a:endParaRPr>
                    </a:p>
                  </a:txBody>
                  <a:tcPr marL="9525" marR="9525" marT="9525"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pPr algn="ctr" fontAlgn="b"/>
                      <a:endParaRPr lang="en-GB" sz="11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bl>
          </a:graphicData>
        </a:graphic>
      </p:graphicFrame>
      <p:sp>
        <p:nvSpPr>
          <p:cNvPr id="5" name="Date Placeholder 4"/>
          <p:cNvSpPr>
            <a:spLocks noGrp="1"/>
          </p:cNvSpPr>
          <p:nvPr>
            <p:ph type="dt" sz="half" idx="10"/>
          </p:nvPr>
        </p:nvSpPr>
        <p:spPr/>
        <p:txBody>
          <a:bodyPr/>
          <a:lstStyle/>
          <a:p>
            <a:r>
              <a:rPr lang="en-US" smtClean="0"/>
              <a:t>13/10/2016</a:t>
            </a:r>
            <a:endParaRPr lang="en-GB"/>
          </a:p>
        </p:txBody>
      </p:sp>
      <p:sp>
        <p:nvSpPr>
          <p:cNvPr id="7" name="Footer Placeholder 6"/>
          <p:cNvSpPr>
            <a:spLocks noGrp="1"/>
          </p:cNvSpPr>
          <p:nvPr>
            <p:ph type="ftr" sz="quarter" idx="11"/>
          </p:nvPr>
        </p:nvSpPr>
        <p:spPr/>
        <p:txBody>
          <a:bodyPr/>
          <a:lstStyle/>
          <a:p>
            <a:r>
              <a:rPr lang="en-GB" smtClean="0"/>
              <a:t>Jean-Roch Vlimant &amp; Justas Balcas</a:t>
            </a:r>
            <a:endParaRPr lang="en-GB"/>
          </a:p>
        </p:txBody>
      </p:sp>
      <p:sp>
        <p:nvSpPr>
          <p:cNvPr id="8" name="Slide Number Placeholder 7"/>
          <p:cNvSpPr>
            <a:spLocks noGrp="1"/>
          </p:cNvSpPr>
          <p:nvPr>
            <p:ph type="sldNum" sz="quarter" idx="12"/>
          </p:nvPr>
        </p:nvSpPr>
        <p:spPr/>
        <p:txBody>
          <a:bodyPr/>
          <a:lstStyle/>
          <a:p>
            <a:fld id="{F16C04A8-3194-4548-96B6-07828A9153A5}" type="slidenum">
              <a:rPr lang="en-GB" smtClean="0"/>
              <a:t>9</a:t>
            </a:fld>
            <a:endParaRPr lang="en-GB"/>
          </a:p>
        </p:txBody>
      </p:sp>
      <p:sp>
        <p:nvSpPr>
          <p:cNvPr id="9" name="TextBox 8"/>
          <p:cNvSpPr txBox="1"/>
          <p:nvPr/>
        </p:nvSpPr>
        <p:spPr>
          <a:xfrm>
            <a:off x="838200" y="4994629"/>
            <a:ext cx="5152436" cy="461665"/>
          </a:xfrm>
          <a:prstGeom prst="rect">
            <a:avLst/>
          </a:prstGeom>
          <a:solidFill>
            <a:schemeClr val="bg1">
              <a:alpha val="10000"/>
            </a:schemeClr>
          </a:solidFill>
        </p:spPr>
        <p:txBody>
          <a:bodyPr wrap="none" rtlCol="0">
            <a:spAutoFit/>
          </a:bodyPr>
          <a:lstStyle/>
          <a:p>
            <a:r>
              <a:rPr lang="en-GB" sz="2400" b="1" dirty="0" smtClean="0">
                <a:solidFill>
                  <a:srgbClr val="FF0000"/>
                </a:solidFill>
              </a:rPr>
              <a:t>FDT scales better with Round Trip Time</a:t>
            </a:r>
            <a:endParaRPr lang="en-GB" sz="2400" b="1" dirty="0">
              <a:solidFill>
                <a:srgbClr val="FF0000"/>
              </a:solidFill>
            </a:endParaRPr>
          </a:p>
        </p:txBody>
      </p:sp>
    </p:spTree>
    <p:extLst>
      <p:ext uri="{BB962C8B-B14F-4D97-AF65-F5344CB8AC3E}">
        <p14:creationId xmlns:p14="http://schemas.microsoft.com/office/powerpoint/2010/main" val="23799035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0"/>
            <a:ext cx="10151476" cy="862096"/>
          </a:xfrm>
        </p:spPr>
        <p:txBody>
          <a:bodyPr>
            <a:normAutofit/>
          </a:bodyPr>
          <a:lstStyle/>
          <a:p>
            <a:r>
              <a:rPr lang="en-GB" sz="3200" b="1" dirty="0" smtClean="0">
                <a:solidFill>
                  <a:schemeClr val="tx1">
                    <a:lumMod val="75000"/>
                    <a:lumOff val="25000"/>
                  </a:schemeClr>
                </a:solidFill>
              </a:rPr>
              <a:t>Compare CMSSW caching types </a:t>
            </a:r>
            <a:r>
              <a:rPr lang="en-GB" sz="3200" b="1" dirty="0" smtClean="0"/>
              <a:t>(</a:t>
            </a:r>
            <a:r>
              <a:rPr lang="en-GB" sz="3200" b="1" dirty="0" smtClean="0">
                <a:solidFill>
                  <a:srgbClr val="FF6E1E"/>
                </a:solidFill>
              </a:rPr>
              <a:t>Mbytes/s</a:t>
            </a:r>
            <a:r>
              <a:rPr lang="en-GB" sz="3200" b="1" dirty="0" smtClean="0"/>
              <a:t>)</a:t>
            </a:r>
            <a:endParaRPr lang="en-GB" sz="3200" b="1" dirty="0"/>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9860"/>
            <a:ext cx="1984892" cy="852236"/>
          </a:xfrm>
        </p:spPr>
      </p:pic>
      <p:cxnSp>
        <p:nvCxnSpPr>
          <p:cNvPr id="6" name="Straight Connector 5"/>
          <p:cNvCxnSpPr/>
          <p:nvPr/>
        </p:nvCxnSpPr>
        <p:spPr>
          <a:xfrm>
            <a:off x="160421" y="86209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5276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9" name="Chart 18"/>
          <p:cNvGraphicFramePr>
            <a:graphicFrameLocks/>
          </p:cNvGraphicFramePr>
          <p:nvPr>
            <p:extLst>
              <p:ext uri="{D42A27DB-BD31-4B8C-83A1-F6EECF244321}">
                <p14:modId xmlns:p14="http://schemas.microsoft.com/office/powerpoint/2010/main" val="1023156831"/>
              </p:ext>
            </p:extLst>
          </p:nvPr>
        </p:nvGraphicFramePr>
        <p:xfrm>
          <a:off x="160422" y="888874"/>
          <a:ext cx="11935326" cy="557392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755034316"/>
              </p:ext>
            </p:extLst>
          </p:nvPr>
        </p:nvGraphicFramePr>
        <p:xfrm>
          <a:off x="2900345" y="1176292"/>
          <a:ext cx="9000004" cy="837230"/>
        </p:xfrm>
        <a:graphic>
          <a:graphicData uri="http://schemas.openxmlformats.org/drawingml/2006/table">
            <a:tbl>
              <a:tblPr>
                <a:tableStyleId>{5940675A-B579-460E-94D1-54222C63F5DA}</a:tableStyleId>
              </a:tblPr>
              <a:tblGrid>
                <a:gridCol w="1563013"/>
                <a:gridCol w="504248"/>
                <a:gridCol w="519611"/>
                <a:gridCol w="602092"/>
                <a:gridCol w="479820"/>
                <a:gridCol w="601910"/>
                <a:gridCol w="601910"/>
                <a:gridCol w="458600"/>
                <a:gridCol w="458600"/>
                <a:gridCol w="458600"/>
                <a:gridCol w="458600"/>
                <a:gridCol w="458600"/>
                <a:gridCol w="458600"/>
                <a:gridCol w="458600"/>
                <a:gridCol w="458600"/>
                <a:gridCol w="458600"/>
              </a:tblGrid>
              <a:tr h="167446">
                <a:tc>
                  <a:txBody>
                    <a:bodyPr/>
                    <a:lstStyle/>
                    <a:p>
                      <a:pPr algn="l" fontAlgn="b"/>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0</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2</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5</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10</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15</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20</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25</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30</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40</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50</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60</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70</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80</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90</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100</a:t>
                      </a:r>
                      <a:endParaRPr lang="en-GB" sz="1000" b="1" i="0" u="none" strike="noStrike" dirty="0">
                        <a:solidFill>
                          <a:schemeClr val="bg1"/>
                        </a:solidFill>
                        <a:effectLst/>
                        <a:latin typeface="+mn-lt"/>
                      </a:endParaRPr>
                    </a:p>
                  </a:txBody>
                  <a:tcPr marL="8372" marR="8372" marT="8372" marB="0" anchor="b"/>
                </a:tc>
              </a:tr>
              <a:tr h="167446">
                <a:tc>
                  <a:txBody>
                    <a:bodyPr/>
                    <a:lstStyle/>
                    <a:p>
                      <a:pPr algn="l" fontAlgn="b"/>
                      <a:r>
                        <a:rPr lang="en-GB" sz="1000" b="1" u="none" strike="noStrike" dirty="0" err="1">
                          <a:solidFill>
                            <a:srgbClr val="FF0000"/>
                          </a:solidFill>
                          <a:effectLst/>
                          <a:latin typeface="+mn-lt"/>
                        </a:rPr>
                        <a:t>LazyDownload</a:t>
                      </a:r>
                      <a:r>
                        <a:rPr lang="en-GB" sz="1000" b="1" u="none" strike="noStrike" dirty="0">
                          <a:solidFill>
                            <a:srgbClr val="FF0000"/>
                          </a:solidFill>
                          <a:effectLst/>
                          <a:latin typeface="+mn-lt"/>
                        </a:rPr>
                        <a:t> (Nginx </a:t>
                      </a:r>
                      <a:r>
                        <a:rPr lang="en-GB" sz="1000" b="1" u="none" strike="noStrike" dirty="0" err="1">
                          <a:solidFill>
                            <a:srgbClr val="FF0000"/>
                          </a:solidFill>
                          <a:effectLst/>
                          <a:latin typeface="+mn-lt"/>
                        </a:rPr>
                        <a:t>Davix</a:t>
                      </a:r>
                      <a:r>
                        <a:rPr lang="en-GB" sz="1000" b="1" u="none" strike="noStrike" dirty="0">
                          <a:solidFill>
                            <a:srgbClr val="FF0000"/>
                          </a:solidFill>
                          <a:effectLst/>
                          <a:latin typeface="+mn-lt"/>
                        </a:rPr>
                        <a:t>)</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767.20</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641.15</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426.37</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226.71</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158.89</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123.77</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87.59</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85.97</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65.65</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53.80</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45.88</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39.99</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34.55</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28.83</a:t>
                      </a:r>
                      <a:endParaRPr lang="en-GB" sz="1000" b="1" i="0" u="none" strike="noStrike" dirty="0">
                        <a:solidFill>
                          <a:srgbClr val="FF0000"/>
                        </a:solidFill>
                        <a:effectLst/>
                        <a:latin typeface="+mn-lt"/>
                      </a:endParaRPr>
                    </a:p>
                  </a:txBody>
                  <a:tcPr marL="8372" marR="8372" marT="8372" marB="0" anchor="b"/>
                </a:tc>
                <a:tc>
                  <a:txBody>
                    <a:bodyPr/>
                    <a:lstStyle/>
                    <a:p>
                      <a:pPr algn="ctr" fontAlgn="b"/>
                      <a:r>
                        <a:rPr lang="en-GB" sz="1000" b="1" u="none" strike="noStrike" dirty="0">
                          <a:solidFill>
                            <a:srgbClr val="FF0000"/>
                          </a:solidFill>
                          <a:effectLst/>
                          <a:latin typeface="+mn-lt"/>
                        </a:rPr>
                        <a:t>24.86</a:t>
                      </a:r>
                      <a:endParaRPr lang="en-GB" sz="1000" b="1" i="0" u="none" strike="noStrike" dirty="0">
                        <a:solidFill>
                          <a:srgbClr val="FF0000"/>
                        </a:solidFill>
                        <a:effectLst/>
                        <a:latin typeface="+mn-lt"/>
                      </a:endParaRPr>
                    </a:p>
                  </a:txBody>
                  <a:tcPr marL="8372" marR="8372" marT="8372" marB="0" anchor="b"/>
                </a:tc>
              </a:tr>
              <a:tr h="167446">
                <a:tc>
                  <a:txBody>
                    <a:bodyPr/>
                    <a:lstStyle/>
                    <a:p>
                      <a:pPr algn="l" fontAlgn="b"/>
                      <a:r>
                        <a:rPr lang="en-GB" sz="1000" b="1" u="none" strike="noStrike" dirty="0">
                          <a:solidFill>
                            <a:srgbClr val="FFFF00"/>
                          </a:solidFill>
                          <a:effectLst/>
                          <a:latin typeface="+mn-lt"/>
                        </a:rPr>
                        <a:t>Application (</a:t>
                      </a:r>
                      <a:r>
                        <a:rPr lang="en-GB" sz="1000" b="1" u="none" strike="noStrike" dirty="0" err="1">
                          <a:solidFill>
                            <a:srgbClr val="FFFF00"/>
                          </a:solidFill>
                          <a:effectLst/>
                          <a:latin typeface="+mn-lt"/>
                        </a:rPr>
                        <a:t>XrootD</a:t>
                      </a:r>
                      <a:r>
                        <a:rPr lang="en-GB" sz="1000" b="1" u="none" strike="noStrike" dirty="0">
                          <a:solidFill>
                            <a:srgbClr val="FFFF00"/>
                          </a:solidFill>
                          <a:effectLst/>
                          <a:latin typeface="+mn-lt"/>
                        </a:rPr>
                        <a:t> </a:t>
                      </a:r>
                      <a:r>
                        <a:rPr lang="en-GB" sz="1000" b="1" u="none" strike="noStrike" dirty="0" err="1">
                          <a:solidFill>
                            <a:srgbClr val="FFFF00"/>
                          </a:solidFill>
                          <a:effectLst/>
                          <a:latin typeface="+mn-lt"/>
                        </a:rPr>
                        <a:t>XrootD</a:t>
                      </a:r>
                      <a:r>
                        <a:rPr lang="en-GB" sz="1000" b="1" u="none" strike="noStrike" dirty="0">
                          <a:solidFill>
                            <a:srgbClr val="FFFF00"/>
                          </a:solidFill>
                          <a:effectLst/>
                          <a:latin typeface="+mn-lt"/>
                        </a:rPr>
                        <a:t>)</a:t>
                      </a:r>
                      <a:endParaRPr lang="en-GB" sz="1000" b="1" i="0" u="none" strike="noStrike" dirty="0">
                        <a:solidFill>
                          <a:srgbClr val="FFFF00"/>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671.08</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314.64</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301.17</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182.89</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125.66</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103.33</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76.77</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73.09</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56.82</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42.72</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38.70</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31.49</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29.64</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27.35</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3.98</a:t>
                      </a:r>
                      <a:endParaRPr lang="en-GB" sz="1000" b="1" i="0" u="none" strike="noStrike">
                        <a:solidFill>
                          <a:schemeClr val="bg1"/>
                        </a:solidFill>
                        <a:effectLst/>
                        <a:latin typeface="+mn-lt"/>
                      </a:endParaRPr>
                    </a:p>
                  </a:txBody>
                  <a:tcPr marL="8372" marR="8372" marT="8372" marB="0" anchor="b"/>
                </a:tc>
              </a:tr>
              <a:tr h="167446">
                <a:tc>
                  <a:txBody>
                    <a:bodyPr/>
                    <a:lstStyle/>
                    <a:p>
                      <a:pPr algn="l" fontAlgn="b"/>
                      <a:r>
                        <a:rPr lang="en-GB" sz="1000" b="1" u="none" strike="noStrike" dirty="0">
                          <a:solidFill>
                            <a:srgbClr val="2471BD"/>
                          </a:solidFill>
                          <a:effectLst/>
                          <a:latin typeface="+mn-lt"/>
                        </a:rPr>
                        <a:t>Storage (</a:t>
                      </a:r>
                      <a:r>
                        <a:rPr lang="en-GB" sz="1000" b="1" u="none" strike="noStrike" dirty="0" err="1">
                          <a:solidFill>
                            <a:srgbClr val="2471BD"/>
                          </a:solidFill>
                          <a:effectLst/>
                          <a:latin typeface="+mn-lt"/>
                        </a:rPr>
                        <a:t>XrootD</a:t>
                      </a:r>
                      <a:r>
                        <a:rPr lang="en-GB" sz="1000" b="1" u="none" strike="noStrike" dirty="0">
                          <a:solidFill>
                            <a:srgbClr val="2471BD"/>
                          </a:solidFill>
                          <a:effectLst/>
                          <a:latin typeface="+mn-lt"/>
                        </a:rPr>
                        <a:t> </a:t>
                      </a:r>
                      <a:r>
                        <a:rPr lang="en-GB" sz="1000" b="1" u="none" strike="noStrike" dirty="0" err="1">
                          <a:solidFill>
                            <a:srgbClr val="2471BD"/>
                          </a:solidFill>
                          <a:effectLst/>
                          <a:latin typeface="+mn-lt"/>
                        </a:rPr>
                        <a:t>Davix</a:t>
                      </a:r>
                      <a:r>
                        <a:rPr lang="en-GB" sz="1000" b="1" u="none" strike="noStrike" dirty="0">
                          <a:solidFill>
                            <a:srgbClr val="2471BD"/>
                          </a:solidFill>
                          <a:effectLst/>
                          <a:latin typeface="+mn-lt"/>
                        </a:rPr>
                        <a:t>)</a:t>
                      </a:r>
                      <a:endParaRPr lang="en-GB" sz="1000" b="1" i="0" u="none" strike="noStrike" dirty="0">
                        <a:solidFill>
                          <a:srgbClr val="2471BD"/>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95.14</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14.17</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7.29</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a:solidFill>
                            <a:schemeClr val="bg1"/>
                          </a:solidFill>
                          <a:effectLst/>
                          <a:latin typeface="+mn-lt"/>
                        </a:rPr>
                        <a:t>3.73</a:t>
                      </a:r>
                      <a:endParaRPr lang="en-GB" sz="1000" b="1" i="0" u="none" strike="noStrike">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2.52</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1.98</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1.58</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1.19</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1.01</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0.81</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0.61</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0.46</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0.35</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0.25</a:t>
                      </a:r>
                      <a:endParaRPr lang="en-GB" sz="1000" b="1" i="0" u="none" strike="noStrike" dirty="0">
                        <a:solidFill>
                          <a:schemeClr val="bg1"/>
                        </a:solidFill>
                        <a:effectLst/>
                        <a:latin typeface="+mn-lt"/>
                      </a:endParaRPr>
                    </a:p>
                  </a:txBody>
                  <a:tcPr marL="8372" marR="8372" marT="8372" marB="0" anchor="b"/>
                </a:tc>
                <a:tc>
                  <a:txBody>
                    <a:bodyPr/>
                    <a:lstStyle/>
                    <a:p>
                      <a:pPr algn="ctr" fontAlgn="b"/>
                      <a:r>
                        <a:rPr lang="en-GB" sz="1000" b="1" u="none" strike="noStrike" dirty="0">
                          <a:solidFill>
                            <a:schemeClr val="bg1"/>
                          </a:solidFill>
                          <a:effectLst/>
                          <a:latin typeface="+mn-lt"/>
                        </a:rPr>
                        <a:t>0.25</a:t>
                      </a:r>
                      <a:endParaRPr lang="en-GB" sz="1000" b="1" i="0" u="none" strike="noStrike" dirty="0">
                        <a:solidFill>
                          <a:schemeClr val="bg1"/>
                        </a:solidFill>
                        <a:effectLst/>
                        <a:latin typeface="+mn-lt"/>
                      </a:endParaRPr>
                    </a:p>
                  </a:txBody>
                  <a:tcPr marL="8372" marR="8372" marT="8372" marB="0" anchor="b"/>
                </a:tc>
              </a:tr>
              <a:tr h="167446">
                <a:tc gridSpan="16">
                  <a:txBody>
                    <a:bodyPr/>
                    <a:lstStyle/>
                    <a:p>
                      <a:pPr algn="ctr" fontAlgn="b"/>
                      <a:r>
                        <a:rPr lang="en-GB" sz="1000" b="1" i="0" u="none" strike="noStrike" dirty="0" smtClean="0">
                          <a:solidFill>
                            <a:schemeClr val="bg1"/>
                          </a:solidFill>
                          <a:effectLst/>
                          <a:latin typeface="+mn-lt"/>
                        </a:rPr>
                        <a:t>Only highest values are shown.</a:t>
                      </a:r>
                      <a:endParaRPr lang="en-GB" sz="1000" b="1"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c hMerge="1">
                  <a:txBody>
                    <a:bodyPr/>
                    <a:lstStyle/>
                    <a:p>
                      <a:pPr algn="ctr" fontAlgn="b"/>
                      <a:endParaRPr lang="en-GB" sz="1000" b="0" i="0" u="none" strike="noStrike" dirty="0">
                        <a:solidFill>
                          <a:schemeClr val="bg1"/>
                        </a:solidFill>
                        <a:effectLst/>
                        <a:latin typeface="+mn-lt"/>
                      </a:endParaRPr>
                    </a:p>
                  </a:txBody>
                  <a:tcPr marL="8372" marR="8372" marT="8372" marB="0" anchor="b"/>
                </a:tc>
              </a:tr>
            </a:tbl>
          </a:graphicData>
        </a:graphic>
      </p:graphicFrame>
      <p:sp>
        <p:nvSpPr>
          <p:cNvPr id="8" name="Date Placeholder 7"/>
          <p:cNvSpPr>
            <a:spLocks noGrp="1"/>
          </p:cNvSpPr>
          <p:nvPr>
            <p:ph type="dt" sz="half" idx="10"/>
          </p:nvPr>
        </p:nvSpPr>
        <p:spPr/>
        <p:txBody>
          <a:bodyPr/>
          <a:lstStyle/>
          <a:p>
            <a:r>
              <a:rPr lang="en-US" smtClean="0"/>
              <a:t>13/10/2016</a:t>
            </a:r>
            <a:endParaRPr lang="en-GB"/>
          </a:p>
        </p:txBody>
      </p:sp>
      <p:sp>
        <p:nvSpPr>
          <p:cNvPr id="9" name="Footer Placeholder 8"/>
          <p:cNvSpPr>
            <a:spLocks noGrp="1"/>
          </p:cNvSpPr>
          <p:nvPr>
            <p:ph type="ftr" sz="quarter" idx="11"/>
          </p:nvPr>
        </p:nvSpPr>
        <p:spPr/>
        <p:txBody>
          <a:bodyPr/>
          <a:lstStyle/>
          <a:p>
            <a:r>
              <a:rPr lang="en-GB" smtClean="0"/>
              <a:t>Jean-Roch Vlimant &amp; Justas Balcas</a:t>
            </a:r>
            <a:endParaRPr lang="en-GB"/>
          </a:p>
        </p:txBody>
      </p:sp>
      <p:sp>
        <p:nvSpPr>
          <p:cNvPr id="20" name="Slide Number Placeholder 19"/>
          <p:cNvSpPr>
            <a:spLocks noGrp="1"/>
          </p:cNvSpPr>
          <p:nvPr>
            <p:ph type="sldNum" sz="quarter" idx="12"/>
          </p:nvPr>
        </p:nvSpPr>
        <p:spPr/>
        <p:txBody>
          <a:bodyPr/>
          <a:lstStyle/>
          <a:p>
            <a:fld id="{F16C04A8-3194-4548-96B6-07828A9153A5}" type="slidenum">
              <a:rPr lang="en-GB" smtClean="0"/>
              <a:t>10</a:t>
            </a:fld>
            <a:endParaRPr lang="en-GB"/>
          </a:p>
        </p:txBody>
      </p:sp>
      <p:sp>
        <p:nvSpPr>
          <p:cNvPr id="21" name="TextBox 20"/>
          <p:cNvSpPr txBox="1"/>
          <p:nvPr/>
        </p:nvSpPr>
        <p:spPr>
          <a:xfrm>
            <a:off x="1202682" y="4984119"/>
            <a:ext cx="4449103" cy="461665"/>
          </a:xfrm>
          <a:prstGeom prst="rect">
            <a:avLst/>
          </a:prstGeom>
          <a:solidFill>
            <a:schemeClr val="bg1">
              <a:alpha val="10000"/>
            </a:schemeClr>
          </a:solidFill>
        </p:spPr>
        <p:txBody>
          <a:bodyPr wrap="none" rtlCol="0">
            <a:spAutoFit/>
          </a:bodyPr>
          <a:lstStyle/>
          <a:p>
            <a:r>
              <a:rPr lang="en-GB" sz="2400" b="1" dirty="0" smtClean="0">
                <a:solidFill>
                  <a:srgbClr val="FF0000"/>
                </a:solidFill>
              </a:rPr>
              <a:t>No advantage in Storage Caching</a:t>
            </a:r>
            <a:endParaRPr lang="en-GB" sz="2400" b="1" dirty="0">
              <a:solidFill>
                <a:srgbClr val="FF0000"/>
              </a:solidFill>
            </a:endParaRPr>
          </a:p>
        </p:txBody>
      </p:sp>
    </p:spTree>
    <p:extLst>
      <p:ext uri="{BB962C8B-B14F-4D97-AF65-F5344CB8AC3E}">
        <p14:creationId xmlns:p14="http://schemas.microsoft.com/office/powerpoint/2010/main" val="11947960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0" y="-9860"/>
            <a:ext cx="9735017" cy="862096"/>
          </a:xfrm>
        </p:spPr>
        <p:txBody>
          <a:bodyPr>
            <a:normAutofit/>
          </a:bodyPr>
          <a:lstStyle/>
          <a:p>
            <a:r>
              <a:rPr lang="en-GB" sz="3600" b="1" dirty="0" smtClean="0">
                <a:solidFill>
                  <a:schemeClr val="tx1">
                    <a:lumMod val="75000"/>
                    <a:lumOff val="25000"/>
                  </a:schemeClr>
                </a:solidFill>
              </a:rPr>
              <a:t>Application caching (</a:t>
            </a:r>
            <a:r>
              <a:rPr lang="en-GB" sz="3600" b="1" dirty="0" smtClean="0">
                <a:solidFill>
                  <a:srgbClr val="FF6E1E"/>
                </a:solidFill>
              </a:rPr>
              <a:t>Mbytes/s</a:t>
            </a:r>
            <a:r>
              <a:rPr lang="en-GB" sz="3600" b="1" dirty="0" smtClean="0">
                <a:solidFill>
                  <a:schemeClr val="tx1">
                    <a:lumMod val="75000"/>
                    <a:lumOff val="25000"/>
                  </a:schemeClr>
                </a:solidFill>
              </a:rPr>
              <a:t>)</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aphicFrame>
        <p:nvGraphicFramePr>
          <p:cNvPr id="17" name="Chart 16"/>
          <p:cNvGraphicFramePr>
            <a:graphicFrameLocks/>
          </p:cNvGraphicFramePr>
          <p:nvPr>
            <p:extLst>
              <p:ext uri="{D42A27DB-BD31-4B8C-83A1-F6EECF244321}">
                <p14:modId xmlns:p14="http://schemas.microsoft.com/office/powerpoint/2010/main" val="3064733449"/>
              </p:ext>
            </p:extLst>
          </p:nvPr>
        </p:nvGraphicFramePr>
        <p:xfrm>
          <a:off x="160420" y="852235"/>
          <a:ext cx="11935327" cy="560070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Table 3"/>
          <p:cNvGraphicFramePr>
            <a:graphicFrameLocks noGrp="1"/>
          </p:cNvGraphicFramePr>
          <p:nvPr>
            <p:extLst>
              <p:ext uri="{D42A27DB-BD31-4B8C-83A1-F6EECF244321}">
                <p14:modId xmlns:p14="http://schemas.microsoft.com/office/powerpoint/2010/main" val="79984347"/>
              </p:ext>
            </p:extLst>
          </p:nvPr>
        </p:nvGraphicFramePr>
        <p:xfrm>
          <a:off x="2471594" y="1204111"/>
          <a:ext cx="9374866" cy="1114785"/>
        </p:xfrm>
        <a:graphic>
          <a:graphicData uri="http://schemas.openxmlformats.org/drawingml/2006/table">
            <a:tbl>
              <a:tblPr>
                <a:tableStyleId>{5940675A-B579-460E-94D1-54222C63F5DA}</a:tableStyleId>
              </a:tblPr>
              <a:tblGrid>
                <a:gridCol w="1315629"/>
                <a:gridCol w="541106"/>
                <a:gridCol w="638332"/>
                <a:gridCol w="638332"/>
                <a:gridCol w="587671"/>
                <a:gridCol w="638332"/>
                <a:gridCol w="638332"/>
                <a:gridCol w="486348"/>
                <a:gridCol w="486348"/>
                <a:gridCol w="486348"/>
                <a:gridCol w="486348"/>
                <a:gridCol w="486348"/>
                <a:gridCol w="486348"/>
                <a:gridCol w="486348"/>
                <a:gridCol w="486348"/>
                <a:gridCol w="486348"/>
              </a:tblGrid>
              <a:tr h="179049">
                <a:tc>
                  <a:txBody>
                    <a:bodyPr/>
                    <a:lstStyle/>
                    <a:p>
                      <a:pPr algn="l" fontAlgn="b"/>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5</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15</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25</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30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40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50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60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70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80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90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100</a:t>
                      </a:r>
                      <a:endParaRPr lang="en-GB" sz="1000" b="1" i="0" u="none" strike="noStrike" dirty="0">
                        <a:solidFill>
                          <a:schemeClr val="bg1"/>
                        </a:solidFill>
                        <a:effectLst/>
                        <a:latin typeface="+mn-lt"/>
                      </a:endParaRPr>
                    </a:p>
                  </a:txBody>
                  <a:tcPr marL="8526" marR="8526" marT="8526" marB="0" anchor="b"/>
                </a:tc>
              </a:tr>
              <a:tr h="187576">
                <a:tc>
                  <a:txBody>
                    <a:bodyPr/>
                    <a:lstStyle/>
                    <a:p>
                      <a:pPr algn="l" fontAlgn="b"/>
                      <a:r>
                        <a:rPr lang="en-GB" sz="1000" b="1" u="none" strike="noStrike" dirty="0" err="1">
                          <a:solidFill>
                            <a:schemeClr val="bg1"/>
                          </a:solidFill>
                          <a:effectLst/>
                          <a:latin typeface="+mn-lt"/>
                        </a:rPr>
                        <a:t>ApacheDavixApplication</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603.76</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346.05</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229.81</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110.70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41.44</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77.98</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23.21</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32.29</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15.46</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40.70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a:solidFill>
                            <a:schemeClr val="bg1"/>
                          </a:solidFill>
                          <a:effectLst/>
                          <a:latin typeface="+mn-lt"/>
                        </a:rPr>
                        <a:t>34.17</a:t>
                      </a:r>
                      <a:endParaRPr lang="en-GB" sz="1000" b="1" i="0" u="none" strike="noStrike">
                        <a:solidFill>
                          <a:schemeClr val="bg1"/>
                        </a:solidFill>
                        <a:effectLst/>
                        <a:latin typeface="+mn-lt"/>
                      </a:endParaRPr>
                    </a:p>
                  </a:txBody>
                  <a:tcPr marL="8526" marR="8526" marT="8526" marB="0" anchor="b"/>
                </a:tc>
                <a:tc>
                  <a:txBody>
                    <a:bodyPr/>
                    <a:lstStyle/>
                    <a:p>
                      <a:pPr algn="ctr" fontAlgn="b"/>
                      <a:r>
                        <a:rPr lang="en-GB" sz="1000" b="1" u="none" strike="noStrike">
                          <a:solidFill>
                            <a:schemeClr val="bg1"/>
                          </a:solidFill>
                          <a:effectLst/>
                          <a:latin typeface="+mn-lt"/>
                        </a:rPr>
                        <a:t>30.73</a:t>
                      </a:r>
                      <a:endParaRPr lang="en-GB" sz="1000" b="1" i="0" u="none" strike="noStrike">
                        <a:solidFill>
                          <a:schemeClr val="bg1"/>
                        </a:solidFill>
                        <a:effectLst/>
                        <a:latin typeface="+mn-lt"/>
                      </a:endParaRPr>
                    </a:p>
                  </a:txBody>
                  <a:tcPr marL="8526" marR="8526" marT="8526" marB="0" anchor="b"/>
                </a:tc>
                <a:tc>
                  <a:txBody>
                    <a:bodyPr/>
                    <a:lstStyle/>
                    <a:p>
                      <a:pPr algn="ctr" fontAlgn="b"/>
                      <a:r>
                        <a:rPr lang="en-GB" sz="1000" b="1" u="none" strike="noStrike">
                          <a:solidFill>
                            <a:schemeClr val="bg1"/>
                          </a:solidFill>
                          <a:effectLst/>
                          <a:latin typeface="+mn-lt"/>
                        </a:rPr>
                        <a:t>25.11</a:t>
                      </a:r>
                      <a:endParaRPr lang="en-GB" sz="1000" b="1" i="0" u="none" strike="noStrike">
                        <a:solidFill>
                          <a:schemeClr val="bg1"/>
                        </a:solidFill>
                        <a:effectLst/>
                        <a:latin typeface="+mn-lt"/>
                      </a:endParaRPr>
                    </a:p>
                  </a:txBody>
                  <a:tcPr marL="8526" marR="8526" marT="8526" marB="0" anchor="b"/>
                </a:tc>
                <a:tc>
                  <a:txBody>
                    <a:bodyPr/>
                    <a:lstStyle/>
                    <a:p>
                      <a:pPr algn="ctr" fontAlgn="b"/>
                      <a:r>
                        <a:rPr lang="en-GB" sz="1000" b="1" u="none" strike="noStrike">
                          <a:solidFill>
                            <a:schemeClr val="bg1"/>
                          </a:solidFill>
                          <a:effectLst/>
                          <a:latin typeface="+mn-lt"/>
                        </a:rPr>
                        <a:t>24.54</a:t>
                      </a:r>
                      <a:endParaRPr lang="en-GB" sz="1000" b="1" i="0" u="none" strike="noStrike">
                        <a:solidFill>
                          <a:schemeClr val="bg1"/>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4.54</a:t>
                      </a:r>
                      <a:endParaRPr lang="en-GB" sz="1000" b="1" i="0" u="none" strike="noStrike" dirty="0">
                        <a:solidFill>
                          <a:srgbClr val="FF0000"/>
                        </a:solidFill>
                        <a:effectLst/>
                        <a:latin typeface="+mn-lt"/>
                      </a:endParaRPr>
                    </a:p>
                  </a:txBody>
                  <a:tcPr marL="8526" marR="8526" marT="8526" marB="0" anchor="b"/>
                </a:tc>
              </a:tr>
              <a:tr h="187576">
                <a:tc>
                  <a:txBody>
                    <a:bodyPr/>
                    <a:lstStyle/>
                    <a:p>
                      <a:pPr algn="l" fontAlgn="b"/>
                      <a:r>
                        <a:rPr lang="en-GB" sz="1000" b="1" u="none" strike="noStrike" dirty="0" err="1">
                          <a:solidFill>
                            <a:schemeClr val="bg1"/>
                          </a:solidFill>
                          <a:effectLst/>
                          <a:latin typeface="+mn-lt"/>
                        </a:rPr>
                        <a:t>XrootdApplication</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671.08</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314.64</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301.17</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182.89</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125.66</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103.33</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76.77</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73.09</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56.82</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42.72</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38.70</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31.49</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29.64</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dirty="0">
                          <a:solidFill>
                            <a:srgbClr val="FF0000"/>
                          </a:solidFill>
                          <a:effectLst/>
                          <a:latin typeface="+mn-lt"/>
                        </a:rPr>
                        <a:t>27.35</a:t>
                      </a:r>
                      <a:endParaRPr lang="en-GB" sz="1000" b="1" i="0" u="none" strike="noStrike" dirty="0">
                        <a:solidFill>
                          <a:srgbClr val="FF0000"/>
                        </a:solidFill>
                        <a:effectLst/>
                        <a:latin typeface="+mn-lt"/>
                      </a:endParaRPr>
                    </a:p>
                  </a:txBody>
                  <a:tcPr marL="8526" marR="8526" marT="8526" marB="0" anchor="b"/>
                </a:tc>
                <a:tc>
                  <a:txBody>
                    <a:bodyPr/>
                    <a:lstStyle/>
                    <a:p>
                      <a:pPr algn="ctr" fontAlgn="b"/>
                      <a:r>
                        <a:rPr lang="en-GB" sz="1000" b="1" u="none" strike="noStrike">
                          <a:solidFill>
                            <a:schemeClr val="bg1"/>
                          </a:solidFill>
                          <a:effectLst/>
                          <a:latin typeface="+mn-lt"/>
                        </a:rPr>
                        <a:t>3.98</a:t>
                      </a:r>
                      <a:endParaRPr lang="en-GB" sz="1000" b="1" i="0" u="none" strike="noStrike">
                        <a:solidFill>
                          <a:schemeClr val="bg1"/>
                        </a:solidFill>
                        <a:effectLst/>
                        <a:latin typeface="+mn-lt"/>
                      </a:endParaRPr>
                    </a:p>
                  </a:txBody>
                  <a:tcPr marL="8526" marR="8526" marT="8526" marB="0" anchor="b"/>
                </a:tc>
              </a:tr>
              <a:tr h="187576">
                <a:tc>
                  <a:txBody>
                    <a:bodyPr/>
                    <a:lstStyle/>
                    <a:p>
                      <a:pPr algn="l" fontAlgn="b"/>
                      <a:r>
                        <a:rPr lang="en-GB" sz="1000" b="1" u="none" strike="noStrike" dirty="0" err="1">
                          <a:solidFill>
                            <a:schemeClr val="bg1"/>
                          </a:solidFill>
                          <a:effectLst/>
                          <a:latin typeface="+mn-lt"/>
                        </a:rPr>
                        <a:t>XrootDDavixApplication</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a:solidFill>
                            <a:schemeClr val="bg1"/>
                          </a:solidFill>
                          <a:effectLst/>
                          <a:latin typeface="+mn-lt"/>
                        </a:rPr>
                        <a:t>472.03</a:t>
                      </a:r>
                      <a:endParaRPr lang="en-GB" sz="1000" b="1" i="0" u="none" strike="noStrike">
                        <a:solidFill>
                          <a:schemeClr val="bg1"/>
                        </a:solidFill>
                        <a:effectLst/>
                        <a:latin typeface="+mn-lt"/>
                      </a:endParaRPr>
                    </a:p>
                  </a:txBody>
                  <a:tcPr marL="8526" marR="8526" marT="8526" marB="0" anchor="b"/>
                </a:tc>
                <a:tc>
                  <a:txBody>
                    <a:bodyPr/>
                    <a:lstStyle/>
                    <a:p>
                      <a:pPr algn="ctr" fontAlgn="b"/>
                      <a:r>
                        <a:rPr lang="en-GB" sz="1000" b="1" u="none" strike="noStrike">
                          <a:solidFill>
                            <a:schemeClr val="bg1"/>
                          </a:solidFill>
                          <a:effectLst/>
                          <a:latin typeface="+mn-lt"/>
                        </a:rPr>
                        <a:t>60.43</a:t>
                      </a:r>
                      <a:endParaRPr lang="en-GB" sz="1000" b="1" i="0" u="none" strike="noStrike">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74.58</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41.18</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26.80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19.74</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16.30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13.02</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10.11</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5.52</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a:solidFill>
                            <a:schemeClr val="bg1"/>
                          </a:solidFill>
                          <a:effectLst/>
                          <a:latin typeface="+mn-lt"/>
                        </a:rPr>
                        <a:t>6.80</a:t>
                      </a:r>
                      <a:endParaRPr lang="en-GB" sz="1000" b="1" i="0" u="none" strike="noStrike">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6.01</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4.90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4.68</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a:solidFill>
                            <a:schemeClr val="bg1"/>
                          </a:solidFill>
                          <a:effectLst/>
                          <a:latin typeface="+mn-lt"/>
                        </a:rPr>
                        <a:t>3.88</a:t>
                      </a:r>
                      <a:endParaRPr lang="en-GB" sz="1000" b="1" i="0" u="none" strike="noStrike">
                        <a:solidFill>
                          <a:schemeClr val="bg1"/>
                        </a:solidFill>
                        <a:effectLst/>
                        <a:latin typeface="+mn-lt"/>
                      </a:endParaRPr>
                    </a:p>
                  </a:txBody>
                  <a:tcPr marL="8526" marR="8526" marT="8526" marB="0" anchor="b"/>
                </a:tc>
              </a:tr>
              <a:tr h="179049">
                <a:tc>
                  <a:txBody>
                    <a:bodyPr/>
                    <a:lstStyle/>
                    <a:p>
                      <a:pPr algn="l" fontAlgn="b"/>
                      <a:r>
                        <a:rPr lang="en-GB" sz="1000" b="1" u="none" strike="noStrike" dirty="0" err="1">
                          <a:solidFill>
                            <a:schemeClr val="bg1"/>
                          </a:solidFill>
                          <a:effectLst/>
                          <a:latin typeface="+mn-lt"/>
                        </a:rPr>
                        <a:t>NginxDavixApplication</a:t>
                      </a:r>
                      <a:endParaRPr lang="en-GB" sz="1000" b="1" i="0" u="none" strike="noStrike" dirty="0">
                        <a:solidFill>
                          <a:schemeClr val="bg1"/>
                        </a:solidFill>
                        <a:effectLst/>
                        <a:latin typeface="+mn-lt"/>
                      </a:endParaRPr>
                    </a:p>
                  </a:txBody>
                  <a:tcPr marL="8526" marR="8526" marT="17052" marB="17052" anchor="b"/>
                </a:tc>
                <a:tc>
                  <a:txBody>
                    <a:bodyPr/>
                    <a:lstStyle/>
                    <a:p>
                      <a:pPr algn="ctr" fontAlgn="b"/>
                      <a:r>
                        <a:rPr lang="en-GB" sz="1000" b="1" u="none" strike="noStrike">
                          <a:solidFill>
                            <a:schemeClr val="bg1"/>
                          </a:solidFill>
                          <a:effectLst/>
                          <a:latin typeface="+mn-lt"/>
                        </a:rPr>
                        <a:t>515.68</a:t>
                      </a:r>
                      <a:endParaRPr lang="en-GB" sz="1000" b="1" i="0" u="none" strike="noStrike">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171.24</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239.83</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146.58</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97.47</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77.84</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22.40</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18.34</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28.54</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36.21</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30.03</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25.41</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24.27</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21.71</a:t>
                      </a:r>
                      <a:endParaRPr lang="en-GB" sz="1000" b="1" i="0" u="none" strike="noStrike" dirty="0">
                        <a:solidFill>
                          <a:schemeClr val="bg1"/>
                        </a:solidFill>
                        <a:effectLst/>
                        <a:latin typeface="+mn-lt"/>
                      </a:endParaRPr>
                    </a:p>
                  </a:txBody>
                  <a:tcPr marL="8526" marR="8526" marT="8526" marB="0" anchor="b"/>
                </a:tc>
                <a:tc>
                  <a:txBody>
                    <a:bodyPr/>
                    <a:lstStyle/>
                    <a:p>
                      <a:pPr algn="ctr" fontAlgn="b"/>
                      <a:r>
                        <a:rPr lang="en-GB" sz="1000" b="1" u="none" strike="noStrike" dirty="0">
                          <a:solidFill>
                            <a:schemeClr val="bg1"/>
                          </a:solidFill>
                          <a:effectLst/>
                          <a:latin typeface="+mn-lt"/>
                        </a:rPr>
                        <a:t>5.76</a:t>
                      </a:r>
                      <a:endParaRPr lang="en-GB" sz="1000" b="1" i="0" u="none" strike="noStrike" dirty="0">
                        <a:solidFill>
                          <a:schemeClr val="bg1"/>
                        </a:solidFill>
                        <a:effectLst/>
                        <a:latin typeface="+mn-lt"/>
                      </a:endParaRPr>
                    </a:p>
                  </a:txBody>
                  <a:tcPr marL="8526" marR="8526" marT="8526" marB="0" anchor="b"/>
                </a:tc>
              </a:tr>
              <a:tr h="179049">
                <a:tc gridSpan="16">
                  <a:txBody>
                    <a:bodyPr/>
                    <a:lstStyle/>
                    <a:p>
                      <a:pPr algn="ctr" fontAlgn="b"/>
                      <a:r>
                        <a:rPr lang="en-GB" sz="1000" b="1" i="0" u="none" strike="noStrike" dirty="0" smtClean="0">
                          <a:solidFill>
                            <a:schemeClr val="bg1"/>
                          </a:solidFill>
                          <a:effectLst/>
                          <a:latin typeface="+mn-lt"/>
                        </a:rPr>
                        <a:t>Only highest values are shown.</a:t>
                      </a:r>
                      <a:endParaRPr lang="en-GB" sz="1000" b="1" i="0" u="none" strike="noStrike" dirty="0">
                        <a:solidFill>
                          <a:schemeClr val="bg1"/>
                        </a:solidFill>
                        <a:effectLst/>
                        <a:latin typeface="+mn-lt"/>
                      </a:endParaRPr>
                    </a:p>
                  </a:txBody>
                  <a:tcPr marL="8526" marR="8526" marT="17052" marB="17052"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c hMerge="1">
                  <a:txBody>
                    <a:bodyPr/>
                    <a:lstStyle/>
                    <a:p>
                      <a:pPr algn="ctr" fontAlgn="b"/>
                      <a:endParaRPr lang="en-GB" sz="1000" b="1" i="0" u="none" strike="noStrike" dirty="0">
                        <a:solidFill>
                          <a:schemeClr val="bg1"/>
                        </a:solidFill>
                        <a:effectLst/>
                        <a:latin typeface="+mn-lt"/>
                      </a:endParaRPr>
                    </a:p>
                  </a:txBody>
                  <a:tcPr marL="8526" marR="8526" marT="8526" marB="0" anchor="b"/>
                </a:tc>
              </a:tr>
            </a:tbl>
          </a:graphicData>
        </a:graphic>
      </p:graphicFrame>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r>
              <a:rPr lang="en-US" smtClean="0"/>
              <a:t>13/10/2016</a:t>
            </a:r>
            <a:endParaRPr lang="en-GB"/>
          </a:p>
        </p:txBody>
      </p:sp>
      <p:sp>
        <p:nvSpPr>
          <p:cNvPr id="8" name="Footer Placeholder 7"/>
          <p:cNvSpPr>
            <a:spLocks noGrp="1"/>
          </p:cNvSpPr>
          <p:nvPr>
            <p:ph type="ftr" sz="quarter" idx="11"/>
          </p:nvPr>
        </p:nvSpPr>
        <p:spPr/>
        <p:txBody>
          <a:bodyPr/>
          <a:lstStyle/>
          <a:p>
            <a:r>
              <a:rPr lang="en-GB" smtClean="0"/>
              <a:t>Jean-Roch Vlimant &amp; Justas Balcas</a:t>
            </a:r>
            <a:endParaRPr lang="en-GB"/>
          </a:p>
        </p:txBody>
      </p:sp>
      <p:sp>
        <p:nvSpPr>
          <p:cNvPr id="9" name="Slide Number Placeholder 8"/>
          <p:cNvSpPr>
            <a:spLocks noGrp="1"/>
          </p:cNvSpPr>
          <p:nvPr>
            <p:ph type="sldNum" sz="quarter" idx="12"/>
          </p:nvPr>
        </p:nvSpPr>
        <p:spPr/>
        <p:txBody>
          <a:bodyPr/>
          <a:lstStyle/>
          <a:p>
            <a:fld id="{F16C04A8-3194-4548-96B6-07828A9153A5}" type="slidenum">
              <a:rPr lang="en-GB" smtClean="0"/>
              <a:t>11</a:t>
            </a:fld>
            <a:endParaRPr lang="en-GB"/>
          </a:p>
        </p:txBody>
      </p:sp>
      <p:sp>
        <p:nvSpPr>
          <p:cNvPr id="18" name="TextBox 17"/>
          <p:cNvSpPr txBox="1"/>
          <p:nvPr/>
        </p:nvSpPr>
        <p:spPr>
          <a:xfrm>
            <a:off x="1042821" y="5297445"/>
            <a:ext cx="6586034" cy="461665"/>
          </a:xfrm>
          <a:prstGeom prst="rect">
            <a:avLst/>
          </a:prstGeom>
          <a:solidFill>
            <a:schemeClr val="bg1">
              <a:alpha val="10000"/>
            </a:schemeClr>
          </a:solidFill>
        </p:spPr>
        <p:txBody>
          <a:bodyPr wrap="none" rtlCol="0">
            <a:spAutoFit/>
          </a:bodyPr>
          <a:lstStyle/>
          <a:p>
            <a:r>
              <a:rPr lang="en-GB" sz="2400" b="1" dirty="0" smtClean="0">
                <a:solidFill>
                  <a:srgbClr val="FF0000"/>
                </a:solidFill>
              </a:rPr>
              <a:t>Suspicious low performance of HTTP over </a:t>
            </a:r>
            <a:r>
              <a:rPr lang="en-GB" sz="2400" b="1" dirty="0" err="1" smtClean="0">
                <a:solidFill>
                  <a:srgbClr val="FF0000"/>
                </a:solidFill>
              </a:rPr>
              <a:t>XRootD</a:t>
            </a:r>
            <a:r>
              <a:rPr lang="en-GB" sz="2400" b="1" dirty="0" smtClean="0">
                <a:solidFill>
                  <a:srgbClr val="FF0000"/>
                </a:solidFill>
              </a:rPr>
              <a:t> </a:t>
            </a:r>
            <a:endParaRPr lang="en-GB" sz="2400" b="1" dirty="0">
              <a:solidFill>
                <a:srgbClr val="FF0000"/>
              </a:solidFill>
            </a:endParaRPr>
          </a:p>
        </p:txBody>
      </p:sp>
    </p:spTree>
    <p:extLst>
      <p:ext uri="{BB962C8B-B14F-4D97-AF65-F5344CB8AC3E}">
        <p14:creationId xmlns:p14="http://schemas.microsoft.com/office/powerpoint/2010/main" val="25978139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0" y="-9860"/>
            <a:ext cx="9735017" cy="862096"/>
          </a:xfrm>
        </p:spPr>
        <p:txBody>
          <a:bodyPr>
            <a:normAutofit/>
          </a:bodyPr>
          <a:lstStyle/>
          <a:p>
            <a:r>
              <a:rPr lang="en-GB" sz="3600" b="1" dirty="0" smtClean="0">
                <a:solidFill>
                  <a:schemeClr val="tx1">
                    <a:lumMod val="75000"/>
                    <a:lumOff val="25000"/>
                  </a:schemeClr>
                </a:solidFill>
              </a:rPr>
              <a:t>Lazy download caching (</a:t>
            </a:r>
            <a:r>
              <a:rPr lang="en-GB" sz="3600" b="1" dirty="0" smtClean="0">
                <a:solidFill>
                  <a:srgbClr val="FF6E1E"/>
                </a:solidFill>
              </a:rPr>
              <a:t>Mbytes/s</a:t>
            </a:r>
            <a:r>
              <a:rPr lang="en-GB" sz="3600" b="1" dirty="0" smtClean="0">
                <a:solidFill>
                  <a:schemeClr val="tx1">
                    <a:lumMod val="75000"/>
                    <a:lumOff val="25000"/>
                  </a:schemeClr>
                </a:solidFill>
              </a:rPr>
              <a:t>)</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aphicFrame>
        <p:nvGraphicFramePr>
          <p:cNvPr id="15" name="Chart 14"/>
          <p:cNvGraphicFramePr>
            <a:graphicFrameLocks/>
          </p:cNvGraphicFramePr>
          <p:nvPr>
            <p:extLst/>
          </p:nvPr>
        </p:nvGraphicFramePr>
        <p:xfrm>
          <a:off x="160419" y="872292"/>
          <a:ext cx="11935327" cy="556058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Table 4"/>
          <p:cNvGraphicFramePr>
            <a:graphicFrameLocks noGrp="1"/>
          </p:cNvGraphicFramePr>
          <p:nvPr>
            <p:extLst/>
          </p:nvPr>
        </p:nvGraphicFramePr>
        <p:xfrm>
          <a:off x="3213979" y="1162364"/>
          <a:ext cx="8683029" cy="1475027"/>
        </p:xfrm>
        <a:graphic>
          <a:graphicData uri="http://schemas.openxmlformats.org/drawingml/2006/table">
            <a:tbl>
              <a:tblPr>
                <a:tableStyleId>{5940675A-B579-460E-94D1-54222C63F5DA}</a:tableStyleId>
              </a:tblPr>
              <a:tblGrid>
                <a:gridCol w="1175410"/>
                <a:gridCol w="544303"/>
                <a:gridCol w="591225"/>
                <a:gridCol w="591225"/>
                <a:gridCol w="544303"/>
                <a:gridCol w="591225"/>
                <a:gridCol w="591225"/>
                <a:gridCol w="450457"/>
                <a:gridCol w="450457"/>
                <a:gridCol w="450457"/>
                <a:gridCol w="450457"/>
                <a:gridCol w="450457"/>
                <a:gridCol w="450457"/>
                <a:gridCol w="450457"/>
                <a:gridCol w="450457"/>
                <a:gridCol w="450457"/>
              </a:tblGrid>
              <a:tr h="179049">
                <a:tc>
                  <a:txBody>
                    <a:bodyPr/>
                    <a:lstStyle/>
                    <a:p>
                      <a:pPr algn="l" fontAlgn="b"/>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2</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5</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10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15</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20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25</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30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a:solidFill>
                            <a:schemeClr val="bg1"/>
                          </a:solidFill>
                          <a:effectLst/>
                          <a:latin typeface="+mn-lt"/>
                        </a:rPr>
                        <a:t>40</a:t>
                      </a:r>
                      <a:endParaRPr lang="en-GB" sz="1100" b="1" i="0" u="none" strike="noStrike">
                        <a:solidFill>
                          <a:schemeClr val="bg1"/>
                        </a:solidFill>
                        <a:effectLst/>
                        <a:latin typeface="+mn-lt"/>
                      </a:endParaRPr>
                    </a:p>
                  </a:txBody>
                  <a:tcPr marL="8526" marR="8526" marT="8526" marB="0" anchor="b"/>
                </a:tc>
                <a:tc>
                  <a:txBody>
                    <a:bodyPr/>
                    <a:lstStyle/>
                    <a:p>
                      <a:pPr algn="ctr" fontAlgn="b"/>
                      <a:r>
                        <a:rPr lang="en-GB" sz="1100" b="1" u="none" strike="noStrike">
                          <a:solidFill>
                            <a:schemeClr val="bg1"/>
                          </a:solidFill>
                          <a:effectLst/>
                          <a:latin typeface="+mn-lt"/>
                        </a:rPr>
                        <a:t>50</a:t>
                      </a:r>
                      <a:endParaRPr lang="en-GB" sz="1100" b="1" i="0" u="none" strike="noStrike">
                        <a:solidFill>
                          <a:schemeClr val="bg1"/>
                        </a:solidFill>
                        <a:effectLst/>
                        <a:latin typeface="+mn-lt"/>
                      </a:endParaRPr>
                    </a:p>
                  </a:txBody>
                  <a:tcPr marL="8526" marR="8526" marT="8526" marB="0" anchor="b"/>
                </a:tc>
                <a:tc>
                  <a:txBody>
                    <a:bodyPr/>
                    <a:lstStyle/>
                    <a:p>
                      <a:pPr algn="ctr" fontAlgn="b"/>
                      <a:r>
                        <a:rPr lang="en-GB" sz="1100" b="1" u="none" strike="noStrike">
                          <a:solidFill>
                            <a:schemeClr val="bg1"/>
                          </a:solidFill>
                          <a:effectLst/>
                          <a:latin typeface="+mn-lt"/>
                        </a:rPr>
                        <a:t>60</a:t>
                      </a:r>
                      <a:endParaRPr lang="en-GB" sz="1100" b="1" i="0" u="none" strike="noStrike">
                        <a:solidFill>
                          <a:schemeClr val="bg1"/>
                        </a:solidFill>
                        <a:effectLst/>
                        <a:latin typeface="+mn-lt"/>
                      </a:endParaRPr>
                    </a:p>
                  </a:txBody>
                  <a:tcPr marL="8526" marR="8526" marT="8526" marB="0" anchor="b"/>
                </a:tc>
                <a:tc>
                  <a:txBody>
                    <a:bodyPr/>
                    <a:lstStyle/>
                    <a:p>
                      <a:pPr algn="ctr" fontAlgn="b"/>
                      <a:r>
                        <a:rPr lang="en-GB" sz="1100" b="1" u="none" strike="noStrike">
                          <a:solidFill>
                            <a:schemeClr val="bg1"/>
                          </a:solidFill>
                          <a:effectLst/>
                          <a:latin typeface="+mn-lt"/>
                        </a:rPr>
                        <a:t>70</a:t>
                      </a:r>
                      <a:endParaRPr lang="en-GB" sz="1100" b="1" i="0" u="none" strike="noStrike">
                        <a:solidFill>
                          <a:schemeClr val="bg1"/>
                        </a:solidFill>
                        <a:effectLst/>
                        <a:latin typeface="+mn-lt"/>
                      </a:endParaRPr>
                    </a:p>
                  </a:txBody>
                  <a:tcPr marL="8526" marR="8526" marT="8526" marB="0" anchor="b"/>
                </a:tc>
                <a:tc>
                  <a:txBody>
                    <a:bodyPr/>
                    <a:lstStyle/>
                    <a:p>
                      <a:pPr algn="ctr" fontAlgn="b"/>
                      <a:r>
                        <a:rPr lang="en-GB" sz="1100" b="1" u="none" strike="noStrike">
                          <a:solidFill>
                            <a:schemeClr val="bg1"/>
                          </a:solidFill>
                          <a:effectLst/>
                          <a:latin typeface="+mn-lt"/>
                        </a:rPr>
                        <a:t>80</a:t>
                      </a:r>
                      <a:endParaRPr lang="en-GB" sz="1100" b="1" i="0" u="none" strike="noStrike">
                        <a:solidFill>
                          <a:schemeClr val="bg1"/>
                        </a:solidFill>
                        <a:effectLst/>
                        <a:latin typeface="+mn-lt"/>
                      </a:endParaRPr>
                    </a:p>
                  </a:txBody>
                  <a:tcPr marL="8526" marR="8526" marT="8526" marB="0" anchor="b"/>
                </a:tc>
                <a:tc>
                  <a:txBody>
                    <a:bodyPr/>
                    <a:lstStyle/>
                    <a:p>
                      <a:pPr algn="ctr" fontAlgn="b"/>
                      <a:r>
                        <a:rPr lang="en-GB" sz="1100" b="1" u="none" strike="noStrike">
                          <a:solidFill>
                            <a:schemeClr val="bg1"/>
                          </a:solidFill>
                          <a:effectLst/>
                          <a:latin typeface="+mn-lt"/>
                        </a:rPr>
                        <a:t>90</a:t>
                      </a:r>
                      <a:endParaRPr lang="en-GB" sz="1100" b="1" i="0" u="none" strike="noStrike">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100</a:t>
                      </a:r>
                      <a:endParaRPr lang="en-GB" sz="1100" b="1" i="0" u="none" strike="noStrike" dirty="0">
                        <a:solidFill>
                          <a:schemeClr val="bg1"/>
                        </a:solidFill>
                        <a:effectLst/>
                        <a:latin typeface="+mn-lt"/>
                      </a:endParaRPr>
                    </a:p>
                  </a:txBody>
                  <a:tcPr marL="8526" marR="8526" marT="8526" marB="0" anchor="b"/>
                </a:tc>
              </a:tr>
              <a:tr h="187576">
                <a:tc>
                  <a:txBody>
                    <a:bodyPr/>
                    <a:lstStyle/>
                    <a:p>
                      <a:pPr algn="l" fontAlgn="b"/>
                      <a:r>
                        <a:rPr lang="en-GB" sz="1100" b="1" u="none" strike="noStrike" dirty="0" err="1">
                          <a:solidFill>
                            <a:schemeClr val="bg1"/>
                          </a:solidFill>
                          <a:effectLst/>
                          <a:latin typeface="+mn-lt"/>
                        </a:rPr>
                        <a:t>ApacheDavixLazy</a:t>
                      </a:r>
                      <a:endParaRPr lang="en-GB" sz="1100" b="1" i="0" u="none" strike="noStrike" dirty="0">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728.07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481.99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300.67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174.24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114.28</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102.27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90.12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73.82</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57.31</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46.95</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39.20</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31.26</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28.29</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24.82</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13.45</a:t>
                      </a:r>
                      <a:endParaRPr lang="en-GB" sz="1100" b="0" i="0" u="none" strike="noStrike" dirty="0">
                        <a:solidFill>
                          <a:schemeClr val="bg1"/>
                        </a:solidFill>
                        <a:effectLst/>
                        <a:latin typeface="+mn-lt"/>
                      </a:endParaRPr>
                    </a:p>
                  </a:txBody>
                  <a:tcPr marL="8526" marR="8526" marT="8526" marB="0" anchor="b"/>
                </a:tc>
              </a:tr>
              <a:tr h="187576">
                <a:tc>
                  <a:txBody>
                    <a:bodyPr/>
                    <a:lstStyle/>
                    <a:p>
                      <a:pPr algn="l" fontAlgn="b"/>
                      <a:r>
                        <a:rPr lang="en-GB" sz="1100" b="1" u="none" strike="noStrike" dirty="0" err="1">
                          <a:solidFill>
                            <a:schemeClr val="bg1"/>
                          </a:solidFill>
                          <a:effectLst/>
                          <a:latin typeface="+mn-lt"/>
                        </a:rPr>
                        <a:t>XrootDXrootdLazy</a:t>
                      </a:r>
                      <a:endParaRPr lang="en-GB" sz="1100" b="1" i="0" u="none" strike="noStrike" dirty="0">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570.48</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495.74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339.24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202.74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149.33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123.12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63.36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85.14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65.48</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29.87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43.75</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38.48</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34.14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29.06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18.31</a:t>
                      </a:r>
                      <a:endParaRPr lang="en-GB" sz="1100" b="0" i="0" u="none" strike="noStrike">
                        <a:solidFill>
                          <a:schemeClr val="bg1"/>
                        </a:solidFill>
                        <a:effectLst/>
                        <a:latin typeface="+mn-lt"/>
                      </a:endParaRPr>
                    </a:p>
                  </a:txBody>
                  <a:tcPr marL="8526" marR="8526" marT="8526" marB="0" anchor="b"/>
                </a:tc>
              </a:tr>
              <a:tr h="187576">
                <a:tc>
                  <a:txBody>
                    <a:bodyPr/>
                    <a:lstStyle/>
                    <a:p>
                      <a:pPr algn="l" fontAlgn="b"/>
                      <a:r>
                        <a:rPr lang="en-GB" sz="1100" b="1" u="none" strike="noStrike" dirty="0" err="1">
                          <a:solidFill>
                            <a:schemeClr val="bg1"/>
                          </a:solidFill>
                          <a:effectLst/>
                          <a:latin typeface="+mn-lt"/>
                        </a:rPr>
                        <a:t>XrootDCurlLazy</a:t>
                      </a:r>
                      <a:endParaRPr lang="en-GB" sz="1100" b="1" i="0" u="none" strike="noStrike" dirty="0">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507.62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408.10</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445.43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269.26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200.13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149.63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125.69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99.72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62.54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45.21</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38.83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36.07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32.85</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29.86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27.61</a:t>
                      </a:r>
                      <a:endParaRPr lang="en-GB" sz="1100" b="1" i="0" u="none" strike="noStrike" dirty="0">
                        <a:solidFill>
                          <a:srgbClr val="FF0000"/>
                        </a:solidFill>
                        <a:effectLst/>
                        <a:latin typeface="+mn-lt"/>
                      </a:endParaRPr>
                    </a:p>
                  </a:txBody>
                  <a:tcPr marL="8526" marR="8526" marT="8526" marB="0" anchor="b"/>
                </a:tc>
              </a:tr>
              <a:tr h="187576">
                <a:tc>
                  <a:txBody>
                    <a:bodyPr/>
                    <a:lstStyle/>
                    <a:p>
                      <a:pPr algn="l" fontAlgn="b"/>
                      <a:r>
                        <a:rPr lang="en-GB" sz="1100" b="1" u="none" strike="noStrike" dirty="0" err="1">
                          <a:solidFill>
                            <a:schemeClr val="bg1"/>
                          </a:solidFill>
                          <a:effectLst/>
                          <a:latin typeface="+mn-lt"/>
                        </a:rPr>
                        <a:t>XrootDDavixLazy</a:t>
                      </a:r>
                      <a:endParaRPr lang="en-GB" sz="1100" b="1" i="0" u="none" strike="noStrike" dirty="0">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825.41</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509.48</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430.19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243.66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171.29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131.78</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103.44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83.80</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66.05</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34.39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45.64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40.07</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34.37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30.13</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18.31</a:t>
                      </a:r>
                      <a:endParaRPr lang="en-GB" sz="1100" b="0" i="0" u="none" strike="noStrike">
                        <a:solidFill>
                          <a:schemeClr val="bg1"/>
                        </a:solidFill>
                        <a:effectLst/>
                        <a:latin typeface="+mn-lt"/>
                      </a:endParaRPr>
                    </a:p>
                  </a:txBody>
                  <a:tcPr marL="8526" marR="8526" marT="8526" marB="0" anchor="b"/>
                </a:tc>
              </a:tr>
              <a:tr h="187576">
                <a:tc>
                  <a:txBody>
                    <a:bodyPr/>
                    <a:lstStyle/>
                    <a:p>
                      <a:pPr algn="l" fontAlgn="b"/>
                      <a:r>
                        <a:rPr lang="en-GB" sz="1100" b="1" u="none" strike="noStrike" dirty="0" err="1">
                          <a:solidFill>
                            <a:schemeClr val="bg1"/>
                          </a:solidFill>
                          <a:effectLst/>
                          <a:latin typeface="+mn-lt"/>
                        </a:rPr>
                        <a:t>ApacheCurlLazy</a:t>
                      </a:r>
                      <a:endParaRPr lang="en-GB" sz="1100" b="1" i="0" u="none" strike="noStrike" dirty="0">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471.46</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478.04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454.13</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284.73</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203.37</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147.80</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126.97</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88.60</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64.98</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52.96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40.54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38.59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34.46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29.93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27.44</a:t>
                      </a:r>
                      <a:endParaRPr lang="en-GB" sz="1100" b="0" i="0" u="none" strike="noStrike">
                        <a:solidFill>
                          <a:schemeClr val="bg1"/>
                        </a:solidFill>
                        <a:effectLst/>
                        <a:latin typeface="+mn-lt"/>
                      </a:endParaRPr>
                    </a:p>
                  </a:txBody>
                  <a:tcPr marL="8526" marR="8526" marT="8526" marB="0" anchor="b"/>
                </a:tc>
              </a:tr>
              <a:tr h="179049">
                <a:tc>
                  <a:txBody>
                    <a:bodyPr/>
                    <a:lstStyle/>
                    <a:p>
                      <a:pPr algn="l" fontAlgn="b"/>
                      <a:r>
                        <a:rPr lang="en-GB" sz="1100" b="1" u="none" strike="noStrike" dirty="0" err="1">
                          <a:solidFill>
                            <a:schemeClr val="bg1"/>
                          </a:solidFill>
                          <a:effectLst/>
                          <a:latin typeface="+mn-lt"/>
                        </a:rPr>
                        <a:t>NginxDavixLazy</a:t>
                      </a:r>
                      <a:endParaRPr lang="en-GB" sz="1100" b="1" i="0" u="none" strike="noStrike" dirty="0">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767.20</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641.15</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426.37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226.71</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158.89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123.77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87.59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85.97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65.65</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53.80</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45.88</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39.99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34.55</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28.83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24.86</a:t>
                      </a:r>
                      <a:endParaRPr lang="en-GB" sz="1100" b="0" i="0" u="none" strike="noStrike">
                        <a:solidFill>
                          <a:schemeClr val="bg1"/>
                        </a:solidFill>
                        <a:effectLst/>
                        <a:latin typeface="+mn-lt"/>
                      </a:endParaRPr>
                    </a:p>
                  </a:txBody>
                  <a:tcPr marL="8526" marR="8526" marT="8526" marB="0" anchor="b"/>
                </a:tc>
              </a:tr>
              <a:tr h="179049">
                <a:tc>
                  <a:txBody>
                    <a:bodyPr/>
                    <a:lstStyle/>
                    <a:p>
                      <a:pPr algn="l" fontAlgn="b"/>
                      <a:r>
                        <a:rPr lang="en-GB" sz="1100" b="1" u="none" strike="noStrike" dirty="0" err="1">
                          <a:solidFill>
                            <a:schemeClr val="bg1"/>
                          </a:solidFill>
                          <a:effectLst/>
                          <a:latin typeface="+mn-lt"/>
                        </a:rPr>
                        <a:t>NginxCurlLazy</a:t>
                      </a:r>
                      <a:endParaRPr lang="en-GB" sz="1100" b="1" i="0" u="none" strike="noStrike" dirty="0">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485.23</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470.43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441.40</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273.27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194.31</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151.05</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123.62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102.66</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64.25</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48.19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40.35</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36.27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33.28</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29.89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26.42</a:t>
                      </a:r>
                      <a:endParaRPr lang="en-GB" sz="1100" b="0" i="0" u="none" strike="noStrike" dirty="0">
                        <a:solidFill>
                          <a:schemeClr val="bg1"/>
                        </a:solidFill>
                        <a:effectLst/>
                        <a:latin typeface="+mn-lt"/>
                      </a:endParaRPr>
                    </a:p>
                  </a:txBody>
                  <a:tcPr marL="8526" marR="8526" marT="8526" marB="0" anchor="b"/>
                </a:tc>
              </a:tr>
            </a:tbl>
          </a:graphicData>
        </a:graphic>
      </p:graphicFrame>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r>
              <a:rPr lang="en-US" smtClean="0">
                <a:solidFill>
                  <a:prstClr val="black">
                    <a:tint val="75000"/>
                  </a:prstClr>
                </a:solidFill>
              </a:rPr>
              <a:t>13/10/2016</a:t>
            </a:r>
            <a:endParaRPr lang="en-GB">
              <a:solidFill>
                <a:prstClr val="black">
                  <a:tint val="75000"/>
                </a:prstClr>
              </a:solidFill>
            </a:endParaRPr>
          </a:p>
        </p:txBody>
      </p:sp>
      <p:sp>
        <p:nvSpPr>
          <p:cNvPr id="7" name="Footer Placeholder 6"/>
          <p:cNvSpPr>
            <a:spLocks noGrp="1"/>
          </p:cNvSpPr>
          <p:nvPr>
            <p:ph type="ftr" sz="quarter" idx="11"/>
          </p:nvPr>
        </p:nvSpPr>
        <p:spPr/>
        <p:txBody>
          <a:bodyPr/>
          <a:lstStyle/>
          <a:p>
            <a:r>
              <a:rPr lang="en-GB" smtClean="0">
                <a:solidFill>
                  <a:prstClr val="black">
                    <a:tint val="75000"/>
                  </a:prstClr>
                </a:solidFill>
              </a:rPr>
              <a:t>Jean-Roch Vlimant &amp; Justas Balcas</a:t>
            </a:r>
            <a:endParaRPr lang="en-GB">
              <a:solidFill>
                <a:prstClr val="black">
                  <a:tint val="75000"/>
                </a:prstClr>
              </a:solidFill>
            </a:endParaRPr>
          </a:p>
        </p:txBody>
      </p:sp>
      <p:sp>
        <p:nvSpPr>
          <p:cNvPr id="8" name="Slide Number Placeholder 7"/>
          <p:cNvSpPr>
            <a:spLocks noGrp="1"/>
          </p:cNvSpPr>
          <p:nvPr>
            <p:ph type="sldNum" sz="quarter" idx="12"/>
          </p:nvPr>
        </p:nvSpPr>
        <p:spPr/>
        <p:txBody>
          <a:bodyPr/>
          <a:lstStyle/>
          <a:p>
            <a:fld id="{F16C04A8-3194-4548-96B6-07828A9153A5}" type="slidenum">
              <a:rPr lang="en-GB" smtClean="0">
                <a:solidFill>
                  <a:prstClr val="black">
                    <a:tint val="75000"/>
                  </a:prstClr>
                </a:solidFill>
              </a:rPr>
              <a:pPr/>
              <a:t>12</a:t>
            </a:fld>
            <a:endParaRPr lang="en-GB">
              <a:solidFill>
                <a:prstClr val="black">
                  <a:tint val="75000"/>
                </a:prstClr>
              </a:solidFill>
            </a:endParaRPr>
          </a:p>
        </p:txBody>
      </p:sp>
      <p:sp>
        <p:nvSpPr>
          <p:cNvPr id="16" name="TextBox 15"/>
          <p:cNvSpPr txBox="1"/>
          <p:nvPr/>
        </p:nvSpPr>
        <p:spPr>
          <a:xfrm>
            <a:off x="1106766" y="5201529"/>
            <a:ext cx="4394344" cy="461665"/>
          </a:xfrm>
          <a:prstGeom prst="rect">
            <a:avLst/>
          </a:prstGeom>
          <a:solidFill>
            <a:schemeClr val="bg1">
              <a:alpha val="10000"/>
            </a:schemeClr>
          </a:solidFill>
        </p:spPr>
        <p:txBody>
          <a:bodyPr wrap="none" rtlCol="0">
            <a:spAutoFit/>
          </a:bodyPr>
          <a:lstStyle/>
          <a:p>
            <a:r>
              <a:rPr lang="en-GB" sz="2400" b="1" dirty="0" smtClean="0">
                <a:solidFill>
                  <a:srgbClr val="FF0000"/>
                </a:solidFill>
              </a:rPr>
              <a:t>Everything seems to be the same</a:t>
            </a:r>
            <a:endParaRPr lang="en-GB" sz="2400" b="1" dirty="0">
              <a:solidFill>
                <a:srgbClr val="FF0000"/>
              </a:solidFill>
            </a:endParaRPr>
          </a:p>
        </p:txBody>
      </p:sp>
    </p:spTree>
    <p:extLst>
      <p:ext uri="{BB962C8B-B14F-4D97-AF65-F5344CB8AC3E}">
        <p14:creationId xmlns:p14="http://schemas.microsoft.com/office/powerpoint/2010/main" val="37590680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9860"/>
            <a:ext cx="8592552" cy="862096"/>
          </a:xfrm>
        </p:spPr>
        <p:txBody>
          <a:bodyPr>
            <a:normAutofit/>
          </a:bodyPr>
          <a:lstStyle/>
          <a:p>
            <a:r>
              <a:rPr lang="en-GB" sz="3600" b="1" dirty="0" smtClean="0">
                <a:solidFill>
                  <a:schemeClr val="tx1">
                    <a:lumMod val="75000"/>
                    <a:lumOff val="25000"/>
                  </a:schemeClr>
                </a:solidFill>
              </a:rPr>
              <a:t>Summary</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160419" y="852235"/>
            <a:ext cx="11566359" cy="4016484"/>
          </a:xfrm>
          <a:prstGeom prst="rect">
            <a:avLst/>
          </a:prstGeom>
        </p:spPr>
        <p:txBody>
          <a:bodyPr wrap="square">
            <a:spAutoFit/>
          </a:bodyPr>
          <a:lstStyle/>
          <a:p>
            <a:pPr marL="342900" indent="-342900">
              <a:spcBef>
                <a:spcPts val="0"/>
              </a:spcBef>
              <a:spcAft>
                <a:spcPts val="600"/>
              </a:spcAft>
              <a:buFont typeface="Wingdings" panose="05000000000000000000" pitchFamily="2" charset="2"/>
              <a:buChar char="q"/>
              <a:tabLst>
                <a:tab pos="346075" algn="l"/>
              </a:tabLst>
            </a:pPr>
            <a:r>
              <a:rPr lang="en-US" sz="2000" b="1" dirty="0" smtClean="0">
                <a:cs typeface="Arial" panose="020B0604020202020204" pitchFamily="34" charset="0"/>
              </a:rPr>
              <a:t>Testbed setup at Caltech, installed and used for performance tests</a:t>
            </a:r>
          </a:p>
          <a:p>
            <a:pPr marL="342900" indent="-342900">
              <a:spcBef>
                <a:spcPts val="0"/>
              </a:spcBef>
              <a:spcAft>
                <a:spcPts val="600"/>
              </a:spcAft>
              <a:buFont typeface="Wingdings" panose="05000000000000000000" pitchFamily="2" charset="2"/>
              <a:buChar char="q"/>
              <a:tabLst>
                <a:tab pos="346075" algn="l"/>
              </a:tabLst>
            </a:pPr>
            <a:r>
              <a:rPr lang="en-US" sz="2000" b="1" dirty="0" smtClean="0">
                <a:cs typeface="Arial" panose="020B0604020202020204" pitchFamily="34" charset="0"/>
              </a:rPr>
              <a:t>Implemented </a:t>
            </a:r>
            <a:r>
              <a:rPr lang="en-US" sz="2000" b="1" dirty="0" err="1" smtClean="0">
                <a:cs typeface="Arial" panose="020B0604020202020204" pitchFamily="34" charset="0"/>
              </a:rPr>
              <a:t>Davix</a:t>
            </a:r>
            <a:r>
              <a:rPr lang="en-US" sz="2000" b="1" dirty="0" smtClean="0">
                <a:cs typeface="Arial" panose="020B0604020202020204" pitchFamily="34" charset="0"/>
              </a:rPr>
              <a:t> Storage Factory plugin in CMSSW</a:t>
            </a:r>
          </a:p>
          <a:p>
            <a:pPr marL="800100" lvl="1" indent="-342900">
              <a:spcAft>
                <a:spcPts val="600"/>
              </a:spcAft>
              <a:buFont typeface="Wingdings" panose="05000000000000000000" pitchFamily="2" charset="2"/>
              <a:buChar char="Ø"/>
              <a:tabLst>
                <a:tab pos="346075" algn="l"/>
              </a:tabLst>
            </a:pPr>
            <a:r>
              <a:rPr lang="en-US" sz="2000" b="1" dirty="0" smtClean="0">
                <a:cs typeface="Arial" panose="020B0604020202020204" pitchFamily="34" charset="0"/>
              </a:rPr>
              <a:t>Performed initial performance test with </a:t>
            </a:r>
            <a:r>
              <a:rPr lang="en-US" sz="2000" b="1" dirty="0" err="1" smtClean="0">
                <a:cs typeface="Arial" panose="020B0604020202020204" pitchFamily="34" charset="0"/>
              </a:rPr>
              <a:t>XRootD</a:t>
            </a:r>
            <a:r>
              <a:rPr lang="en-US" sz="2000" b="1" dirty="0" smtClean="0">
                <a:cs typeface="Arial" panose="020B0604020202020204" pitchFamily="34" charset="0"/>
              </a:rPr>
              <a:t>, </a:t>
            </a:r>
            <a:r>
              <a:rPr lang="en-US" sz="2000" b="1" dirty="0" err="1" smtClean="0">
                <a:cs typeface="Arial" panose="020B0604020202020204" pitchFamily="34" charset="0"/>
              </a:rPr>
              <a:t>Davix</a:t>
            </a:r>
            <a:r>
              <a:rPr lang="en-US" sz="2000" b="1" dirty="0" smtClean="0">
                <a:cs typeface="Arial" panose="020B0604020202020204" pitchFamily="34" charset="0"/>
              </a:rPr>
              <a:t>, Curl</a:t>
            </a:r>
          </a:p>
          <a:p>
            <a:pPr marL="342900" indent="-342900">
              <a:spcBef>
                <a:spcPts val="0"/>
              </a:spcBef>
              <a:spcAft>
                <a:spcPts val="600"/>
              </a:spcAft>
              <a:buFont typeface="Wingdings" panose="05000000000000000000" pitchFamily="2" charset="2"/>
              <a:buChar char="q"/>
              <a:tabLst>
                <a:tab pos="346075" algn="l"/>
              </a:tabLst>
            </a:pPr>
            <a:r>
              <a:rPr lang="en-US" sz="2000" b="1" dirty="0" smtClean="0">
                <a:cs typeface="Arial" panose="020B0604020202020204" pitchFamily="34" charset="0"/>
              </a:rPr>
              <a:t>CMSSW caching outcome:</a:t>
            </a:r>
            <a:endParaRPr lang="en-US" sz="2000" b="1" dirty="0" smtClean="0">
              <a:cs typeface="Arial" panose="020B0604020202020204" pitchFamily="34" charset="0"/>
            </a:endParaRPr>
          </a:p>
          <a:p>
            <a:pPr marL="800100" lvl="1" indent="-342900">
              <a:spcAft>
                <a:spcPts val="600"/>
              </a:spcAft>
              <a:buFont typeface="Wingdings" panose="05000000000000000000" pitchFamily="2" charset="2"/>
              <a:buChar char="Ø"/>
              <a:tabLst>
                <a:tab pos="346075" algn="l"/>
              </a:tabLst>
            </a:pPr>
            <a:r>
              <a:rPr lang="en-US" sz="2000" b="1" dirty="0" smtClean="0">
                <a:solidFill>
                  <a:srgbClr val="FF6E1E"/>
                </a:solidFill>
                <a:cs typeface="Arial" panose="020B0604020202020204" pitchFamily="34" charset="0"/>
              </a:rPr>
              <a:t>Storage </a:t>
            </a:r>
            <a:r>
              <a:rPr lang="en-US" sz="2000" b="1" dirty="0" smtClean="0">
                <a:solidFill>
                  <a:srgbClr val="FF6E1E"/>
                </a:solidFill>
                <a:cs typeface="Arial" panose="020B0604020202020204" pitchFamily="34" charset="0"/>
              </a:rPr>
              <a:t>caching is slowest.</a:t>
            </a:r>
            <a:r>
              <a:rPr lang="en-US" sz="2000" b="1" dirty="0" smtClean="0">
                <a:solidFill>
                  <a:schemeClr val="tx1">
                    <a:lumMod val="75000"/>
                    <a:lumOff val="25000"/>
                  </a:schemeClr>
                </a:solidFill>
                <a:cs typeface="Arial" panose="020B0604020202020204" pitchFamily="34" charset="0"/>
              </a:rPr>
              <a:t> Huge impact on total job efficiency through any access type starting from 2ms delay. </a:t>
            </a:r>
          </a:p>
          <a:p>
            <a:pPr marL="800100" lvl="1" indent="-342900">
              <a:spcAft>
                <a:spcPts val="600"/>
              </a:spcAft>
              <a:buFont typeface="Wingdings" panose="05000000000000000000" pitchFamily="2" charset="2"/>
              <a:buChar char="Ø"/>
              <a:tabLst>
                <a:tab pos="346075" algn="l"/>
              </a:tabLst>
            </a:pPr>
            <a:r>
              <a:rPr lang="en-US" sz="2000" b="1" dirty="0" smtClean="0">
                <a:solidFill>
                  <a:srgbClr val="FF6E1E"/>
                </a:solidFill>
                <a:cs typeface="Arial" panose="020B0604020202020204" pitchFamily="34" charset="0"/>
              </a:rPr>
              <a:t>HTTP </a:t>
            </a:r>
            <a:r>
              <a:rPr lang="en-US" sz="2000" b="1" dirty="0" smtClean="0">
                <a:solidFill>
                  <a:srgbClr val="FF6E1E"/>
                </a:solidFill>
                <a:cs typeface="Arial" panose="020B0604020202020204" pitchFamily="34" charset="0"/>
              </a:rPr>
              <a:t>Application </a:t>
            </a:r>
            <a:r>
              <a:rPr lang="en-US" sz="2000" b="1" dirty="0" smtClean="0">
                <a:solidFill>
                  <a:srgbClr val="FF6E1E"/>
                </a:solidFill>
                <a:cs typeface="Arial" panose="020B0604020202020204" pitchFamily="34" charset="0"/>
              </a:rPr>
              <a:t>caching  </a:t>
            </a:r>
            <a:r>
              <a:rPr lang="en-US" sz="2000" b="1" dirty="0" smtClean="0">
                <a:solidFill>
                  <a:schemeClr val="tx1">
                    <a:lumMod val="75000"/>
                    <a:lumOff val="25000"/>
                  </a:schemeClr>
                </a:solidFill>
                <a:cs typeface="Arial" panose="020B0604020202020204" pitchFamily="34" charset="0"/>
              </a:rPr>
              <a:t>shows much better performance through Apache or Nginx than through HTTP over </a:t>
            </a:r>
            <a:r>
              <a:rPr lang="en-US" sz="2000" b="1" dirty="0" err="1" smtClean="0">
                <a:solidFill>
                  <a:schemeClr val="tx1">
                    <a:lumMod val="75000"/>
                    <a:lumOff val="25000"/>
                  </a:schemeClr>
                </a:solidFill>
                <a:cs typeface="Arial" panose="020B0604020202020204" pitchFamily="34" charset="0"/>
              </a:rPr>
              <a:t>XrootD</a:t>
            </a:r>
            <a:endParaRPr lang="en-US" sz="2000" b="1" dirty="0">
              <a:solidFill>
                <a:schemeClr val="tx1">
                  <a:lumMod val="75000"/>
                  <a:lumOff val="25000"/>
                </a:schemeClr>
              </a:solidFill>
              <a:cs typeface="Arial" panose="020B0604020202020204" pitchFamily="34" charset="0"/>
            </a:endParaRPr>
          </a:p>
          <a:p>
            <a:pPr marL="800100" lvl="1" indent="-342900">
              <a:spcAft>
                <a:spcPts val="600"/>
              </a:spcAft>
              <a:buFont typeface="Wingdings" panose="05000000000000000000" pitchFamily="2" charset="2"/>
              <a:buChar char="Ø"/>
              <a:tabLst>
                <a:tab pos="346075" algn="l"/>
              </a:tabLst>
            </a:pPr>
            <a:r>
              <a:rPr lang="en-US" sz="2000" b="1" dirty="0" smtClean="0">
                <a:solidFill>
                  <a:srgbClr val="FF6E1E"/>
                </a:solidFill>
                <a:cs typeface="Arial" panose="020B0604020202020204" pitchFamily="34" charset="0"/>
              </a:rPr>
              <a:t>Lazy </a:t>
            </a:r>
            <a:r>
              <a:rPr lang="en-US" sz="2000" b="1" dirty="0" smtClean="0">
                <a:solidFill>
                  <a:srgbClr val="FF6E1E"/>
                </a:solidFill>
                <a:cs typeface="Arial" panose="020B0604020202020204" pitchFamily="34" charset="0"/>
              </a:rPr>
              <a:t>download </a:t>
            </a:r>
            <a:r>
              <a:rPr lang="en-US" sz="2000" b="1" dirty="0" smtClean="0">
                <a:solidFill>
                  <a:schemeClr val="tx1">
                    <a:lumMod val="75000"/>
                    <a:lumOff val="25000"/>
                  </a:schemeClr>
                </a:solidFill>
                <a:cs typeface="Arial" panose="020B0604020202020204" pitchFamily="34" charset="0"/>
              </a:rPr>
              <a:t>- All are near same bounds with average small difference.  </a:t>
            </a:r>
            <a:r>
              <a:rPr lang="en-US" sz="2000" b="1" dirty="0" err="1" smtClean="0">
                <a:solidFill>
                  <a:schemeClr val="tx1">
                    <a:lumMod val="75000"/>
                    <a:lumOff val="25000"/>
                  </a:schemeClr>
                </a:solidFill>
                <a:cs typeface="Arial" panose="020B0604020202020204" pitchFamily="34" charset="0"/>
              </a:rPr>
              <a:t>Davix</a:t>
            </a:r>
            <a:r>
              <a:rPr lang="en-US" sz="2000" b="1" dirty="0" smtClean="0">
                <a:solidFill>
                  <a:schemeClr val="tx1">
                    <a:lumMod val="75000"/>
                    <a:lumOff val="25000"/>
                  </a:schemeClr>
                </a:solidFill>
                <a:cs typeface="Arial" panose="020B0604020202020204" pitchFamily="34" charset="0"/>
              </a:rPr>
              <a:t> plugin through Nginx or HTTP over </a:t>
            </a:r>
            <a:r>
              <a:rPr lang="en-US" sz="2000" b="1" dirty="0" err="1" smtClean="0">
                <a:solidFill>
                  <a:schemeClr val="tx1">
                    <a:lumMod val="75000"/>
                    <a:lumOff val="25000"/>
                  </a:schemeClr>
                </a:solidFill>
                <a:cs typeface="Arial" panose="020B0604020202020204" pitchFamily="34" charset="0"/>
              </a:rPr>
              <a:t>XrootD</a:t>
            </a:r>
            <a:r>
              <a:rPr lang="en-US" sz="2000" b="1" dirty="0" smtClean="0">
                <a:solidFill>
                  <a:schemeClr val="tx1">
                    <a:lumMod val="75000"/>
                    <a:lumOff val="25000"/>
                  </a:schemeClr>
                </a:solidFill>
                <a:cs typeface="Arial" panose="020B0604020202020204" pitchFamily="34" charset="0"/>
              </a:rPr>
              <a:t>  always </a:t>
            </a:r>
            <a:r>
              <a:rPr lang="en-US" sz="2000" b="1" dirty="0" smtClean="0">
                <a:solidFill>
                  <a:schemeClr val="tx1">
                    <a:lumMod val="75000"/>
                    <a:lumOff val="25000"/>
                  </a:schemeClr>
                </a:solidFill>
                <a:cs typeface="Arial" panose="020B0604020202020204" pitchFamily="34" charset="0"/>
              </a:rPr>
              <a:t>shows a bit </a:t>
            </a:r>
            <a:r>
              <a:rPr lang="en-US" sz="2000" b="1" dirty="0" smtClean="0">
                <a:solidFill>
                  <a:schemeClr val="tx1">
                    <a:lumMod val="75000"/>
                    <a:lumOff val="25000"/>
                  </a:schemeClr>
                </a:solidFill>
                <a:cs typeface="Arial" panose="020B0604020202020204" pitchFamily="34" charset="0"/>
              </a:rPr>
              <a:t>better throughput than </a:t>
            </a:r>
            <a:r>
              <a:rPr lang="en-US" sz="2000" b="1" dirty="0" err="1" smtClean="0">
                <a:solidFill>
                  <a:schemeClr val="tx1">
                    <a:lumMod val="75000"/>
                    <a:lumOff val="25000"/>
                  </a:schemeClr>
                </a:solidFill>
                <a:cs typeface="Arial" panose="020B0604020202020204" pitchFamily="34" charset="0"/>
              </a:rPr>
              <a:t>XrootD</a:t>
            </a:r>
            <a:r>
              <a:rPr lang="en-US" sz="2000" b="1" dirty="0" smtClean="0">
                <a:solidFill>
                  <a:schemeClr val="tx1">
                    <a:lumMod val="75000"/>
                    <a:lumOff val="25000"/>
                  </a:schemeClr>
                </a:solidFill>
                <a:cs typeface="Arial" panose="020B0604020202020204" pitchFamily="34" charset="0"/>
              </a:rPr>
              <a:t> </a:t>
            </a:r>
            <a:r>
              <a:rPr lang="en-US" sz="2000" b="1" dirty="0" smtClean="0">
                <a:solidFill>
                  <a:schemeClr val="tx1">
                    <a:lumMod val="75000"/>
                    <a:lumOff val="25000"/>
                  </a:schemeClr>
                </a:solidFill>
                <a:cs typeface="Arial" panose="020B0604020202020204" pitchFamily="34" charset="0"/>
              </a:rPr>
              <a:t>plugin</a:t>
            </a:r>
          </a:p>
          <a:p>
            <a:pPr>
              <a:spcAft>
                <a:spcPts val="600"/>
              </a:spcAft>
              <a:tabLst>
                <a:tab pos="346075" algn="l"/>
              </a:tabLst>
            </a:pPr>
            <a:endParaRPr lang="en-US" sz="2000" b="1" dirty="0" smtClean="0">
              <a:solidFill>
                <a:schemeClr val="tx1">
                  <a:lumMod val="75000"/>
                  <a:lumOff val="25000"/>
                </a:schemeClr>
              </a:solidFill>
              <a:cs typeface="Arial" panose="020B0604020202020204" pitchFamily="34" charset="0"/>
            </a:endParaRPr>
          </a:p>
        </p:txBody>
      </p:sp>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r>
              <a:rPr lang="en-US" smtClean="0"/>
              <a:t>13/10/2016</a:t>
            </a:r>
            <a:endParaRPr lang="en-GB"/>
          </a:p>
        </p:txBody>
      </p:sp>
      <p:sp>
        <p:nvSpPr>
          <p:cNvPr id="7" name="Footer Placeholder 6"/>
          <p:cNvSpPr>
            <a:spLocks noGrp="1"/>
          </p:cNvSpPr>
          <p:nvPr>
            <p:ph type="ftr" sz="quarter" idx="11"/>
          </p:nvPr>
        </p:nvSpPr>
        <p:spPr/>
        <p:txBody>
          <a:bodyPr/>
          <a:lstStyle/>
          <a:p>
            <a:r>
              <a:rPr lang="en-GB" dirty="0" smtClean="0"/>
              <a:t>Jean-Roch Vlimant &amp; Justas Balcas</a:t>
            </a:r>
            <a:endParaRPr lang="en-GB" dirty="0"/>
          </a:p>
        </p:txBody>
      </p:sp>
      <p:sp>
        <p:nvSpPr>
          <p:cNvPr id="8" name="Slide Number Placeholder 7"/>
          <p:cNvSpPr>
            <a:spLocks noGrp="1"/>
          </p:cNvSpPr>
          <p:nvPr>
            <p:ph type="sldNum" sz="quarter" idx="12"/>
          </p:nvPr>
        </p:nvSpPr>
        <p:spPr/>
        <p:txBody>
          <a:bodyPr/>
          <a:lstStyle/>
          <a:p>
            <a:fld id="{F16C04A8-3194-4548-96B6-07828A9153A5}" type="slidenum">
              <a:rPr lang="en-GB" smtClean="0"/>
              <a:t>13</a:t>
            </a:fld>
            <a:endParaRPr lang="en-GB"/>
          </a:p>
        </p:txBody>
      </p:sp>
    </p:spTree>
    <p:extLst>
      <p:ext uri="{BB962C8B-B14F-4D97-AF65-F5344CB8AC3E}">
        <p14:creationId xmlns:p14="http://schemas.microsoft.com/office/powerpoint/2010/main" val="16084400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9860"/>
            <a:ext cx="8592552" cy="862096"/>
          </a:xfrm>
        </p:spPr>
        <p:txBody>
          <a:bodyPr>
            <a:normAutofit/>
          </a:bodyPr>
          <a:lstStyle/>
          <a:p>
            <a:r>
              <a:rPr lang="en-GB" sz="3600" b="1" dirty="0" smtClean="0">
                <a:solidFill>
                  <a:schemeClr val="tx1">
                    <a:lumMod val="75000"/>
                    <a:lumOff val="25000"/>
                  </a:schemeClr>
                </a:solidFill>
              </a:rPr>
              <a:t>Outlook</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160419" y="852235"/>
            <a:ext cx="11566359" cy="4739759"/>
          </a:xfrm>
          <a:prstGeom prst="rect">
            <a:avLst/>
          </a:prstGeom>
        </p:spPr>
        <p:txBody>
          <a:bodyPr wrap="square">
            <a:spAutoFit/>
          </a:bodyPr>
          <a:lstStyle/>
          <a:p>
            <a:pPr marL="342900" indent="-342900">
              <a:spcBef>
                <a:spcPts val="0"/>
              </a:spcBef>
              <a:spcAft>
                <a:spcPts val="600"/>
              </a:spcAft>
              <a:buFont typeface="Wingdings" panose="05000000000000000000" pitchFamily="2" charset="2"/>
              <a:buChar char="q"/>
              <a:tabLst>
                <a:tab pos="346075" algn="l"/>
              </a:tabLst>
            </a:pPr>
            <a:r>
              <a:rPr lang="en-US" sz="2200" b="1" dirty="0" smtClean="0">
                <a:solidFill>
                  <a:schemeClr val="tx1">
                    <a:lumMod val="75000"/>
                    <a:lumOff val="25000"/>
                  </a:schemeClr>
                </a:solidFill>
                <a:cs typeface="Arial" panose="020B0604020202020204" pitchFamily="34" charset="0"/>
              </a:rPr>
              <a:t>Implement </a:t>
            </a:r>
            <a:r>
              <a:rPr lang="en-US" sz="2200" b="1" dirty="0" smtClean="0">
                <a:solidFill>
                  <a:srgbClr val="FF6E1E"/>
                </a:solidFill>
                <a:cs typeface="Arial" panose="020B0604020202020204" pitchFamily="34" charset="0"/>
              </a:rPr>
              <a:t>S3</a:t>
            </a:r>
            <a:r>
              <a:rPr lang="en-US" sz="2200" b="1" dirty="0" smtClean="0">
                <a:solidFill>
                  <a:schemeClr val="tx1">
                    <a:lumMod val="75000"/>
                    <a:lumOff val="25000"/>
                  </a:schemeClr>
                </a:solidFill>
                <a:cs typeface="Arial" panose="020B0604020202020204" pitchFamily="34" charset="0"/>
              </a:rPr>
              <a:t> and </a:t>
            </a:r>
            <a:r>
              <a:rPr lang="en-US" sz="2200" b="1" dirty="0" err="1" smtClean="0">
                <a:solidFill>
                  <a:srgbClr val="FF6E1E"/>
                </a:solidFill>
                <a:cs typeface="Arial" panose="020B0604020202020204" pitchFamily="34" charset="0"/>
              </a:rPr>
              <a:t>WebDav</a:t>
            </a:r>
            <a:r>
              <a:rPr lang="en-US" sz="2200" b="1" dirty="0" smtClean="0">
                <a:solidFill>
                  <a:srgbClr val="FF6E1E"/>
                </a:solidFill>
                <a:cs typeface="Arial" panose="020B0604020202020204" pitchFamily="34" charset="0"/>
              </a:rPr>
              <a:t> in CMSSW</a:t>
            </a:r>
            <a:r>
              <a:rPr lang="en-US" sz="2200" b="1" dirty="0" smtClean="0">
                <a:solidFill>
                  <a:schemeClr val="tx1">
                    <a:lumMod val="75000"/>
                    <a:lumOff val="25000"/>
                  </a:schemeClr>
                </a:solidFill>
                <a:cs typeface="Arial" panose="020B0604020202020204" pitchFamily="34" charset="0"/>
              </a:rPr>
              <a:t> and have </a:t>
            </a:r>
            <a:r>
              <a:rPr lang="en-US" sz="2200" b="1" dirty="0" smtClean="0">
                <a:solidFill>
                  <a:schemeClr val="tx1">
                    <a:lumMod val="75000"/>
                    <a:lumOff val="25000"/>
                  </a:schemeClr>
                </a:solidFill>
                <a:cs typeface="Arial" panose="020B0604020202020204" pitchFamily="34" charset="0"/>
              </a:rPr>
              <a:t>it </a:t>
            </a:r>
            <a:r>
              <a:rPr lang="en-US" sz="2200" b="1" dirty="0" smtClean="0">
                <a:solidFill>
                  <a:srgbClr val="FF6E1E"/>
                </a:solidFill>
                <a:cs typeface="Arial" panose="020B0604020202020204" pitchFamily="34" charset="0"/>
              </a:rPr>
              <a:t>in next CMSSW release</a:t>
            </a:r>
          </a:p>
          <a:p>
            <a:pPr marL="342900" indent="-342900">
              <a:spcAft>
                <a:spcPts val="600"/>
              </a:spcAft>
              <a:buFont typeface="Wingdings" panose="05000000000000000000" pitchFamily="2" charset="2"/>
              <a:buChar char="q"/>
              <a:tabLst>
                <a:tab pos="346075" algn="l"/>
              </a:tabLst>
            </a:pPr>
            <a:r>
              <a:rPr lang="en-US" b="1" dirty="0">
                <a:solidFill>
                  <a:schemeClr val="tx1">
                    <a:lumMod val="75000"/>
                    <a:lumOff val="25000"/>
                  </a:schemeClr>
                </a:solidFill>
                <a:cs typeface="Arial" panose="020B0604020202020204" pitchFamily="34" charset="0"/>
              </a:rPr>
              <a:t>Average production job Runtime is </a:t>
            </a:r>
            <a:r>
              <a:rPr lang="en-US" b="1" dirty="0">
                <a:solidFill>
                  <a:srgbClr val="FF6E1E"/>
                </a:solidFill>
                <a:cs typeface="Arial" panose="020B0604020202020204" pitchFamily="34" charset="0"/>
              </a:rPr>
              <a:t>~5 hours </a:t>
            </a:r>
            <a:r>
              <a:rPr lang="en-US" b="1" dirty="0">
                <a:solidFill>
                  <a:schemeClr val="tx1">
                    <a:lumMod val="75000"/>
                    <a:lumOff val="25000"/>
                  </a:schemeClr>
                </a:solidFill>
                <a:cs typeface="Arial" panose="020B0604020202020204" pitchFamily="34" charset="0"/>
              </a:rPr>
              <a:t>and </a:t>
            </a:r>
            <a:r>
              <a:rPr lang="en-US" b="1" dirty="0">
                <a:solidFill>
                  <a:srgbClr val="FF6E1E"/>
                </a:solidFill>
                <a:cs typeface="Arial" panose="020B0604020202020204" pitchFamily="34" charset="0"/>
              </a:rPr>
              <a:t>LONG TCP connections </a:t>
            </a:r>
            <a:r>
              <a:rPr lang="en-US" b="1" dirty="0">
                <a:solidFill>
                  <a:schemeClr val="tx1">
                    <a:lumMod val="75000"/>
                    <a:lumOff val="25000"/>
                  </a:schemeClr>
                </a:solidFill>
                <a:cs typeface="Arial" panose="020B0604020202020204" pitchFamily="34" charset="0"/>
              </a:rPr>
              <a:t>lead to failures/inefficiency’s:</a:t>
            </a:r>
          </a:p>
          <a:p>
            <a:pPr marL="800100" lvl="1" indent="-342900">
              <a:spcAft>
                <a:spcPts val="600"/>
              </a:spcAft>
              <a:buFont typeface="Wingdings" panose="05000000000000000000" pitchFamily="2" charset="2"/>
              <a:buChar char="q"/>
              <a:tabLst>
                <a:tab pos="346075" algn="l"/>
              </a:tabLst>
            </a:pPr>
            <a:r>
              <a:rPr lang="en-US" b="1" dirty="0">
                <a:solidFill>
                  <a:schemeClr val="tx1">
                    <a:lumMod val="75000"/>
                    <a:lumOff val="25000"/>
                  </a:schemeClr>
                </a:solidFill>
                <a:cs typeface="Arial" panose="020B0604020202020204" pitchFamily="34" charset="0"/>
              </a:rPr>
              <a:t>Once TCP connection made, in case of failure, whole job is considered as failed, </a:t>
            </a:r>
            <a:r>
              <a:rPr lang="en-US" b="1" dirty="0">
                <a:solidFill>
                  <a:srgbClr val="FF6E1E"/>
                </a:solidFill>
                <a:cs typeface="Arial" panose="020B0604020202020204" pitchFamily="34" charset="0"/>
              </a:rPr>
              <a:t>no retries to re-open a file;</a:t>
            </a:r>
          </a:p>
          <a:p>
            <a:pPr marL="800100" lvl="1" indent="-342900">
              <a:spcAft>
                <a:spcPts val="600"/>
              </a:spcAft>
              <a:buFont typeface="Wingdings" panose="05000000000000000000" pitchFamily="2" charset="2"/>
              <a:buChar char="q"/>
              <a:tabLst>
                <a:tab pos="346075" algn="l"/>
              </a:tabLst>
            </a:pPr>
            <a:r>
              <a:rPr lang="en-US" b="1" dirty="0">
                <a:solidFill>
                  <a:schemeClr val="tx1">
                    <a:lumMod val="75000"/>
                    <a:lumOff val="25000"/>
                  </a:schemeClr>
                </a:solidFill>
                <a:cs typeface="Arial" panose="020B0604020202020204" pitchFamily="34" charset="0"/>
              </a:rPr>
              <a:t> </a:t>
            </a:r>
            <a:r>
              <a:rPr lang="en-US" b="1" dirty="0">
                <a:solidFill>
                  <a:srgbClr val="FF6E1E"/>
                </a:solidFill>
                <a:cs typeface="Arial" panose="020B0604020202020204" pitchFamily="34" charset="0"/>
              </a:rPr>
              <a:t>Network, IO, CPU usage changes over the time</a:t>
            </a:r>
            <a:r>
              <a:rPr lang="en-US" b="1" dirty="0" smtClean="0">
                <a:solidFill>
                  <a:srgbClr val="FF6E1E"/>
                </a:solidFill>
                <a:cs typeface="Arial" panose="020B0604020202020204" pitchFamily="34" charset="0"/>
              </a:rPr>
              <a:t>;</a:t>
            </a:r>
            <a:endParaRPr lang="en-US" sz="2200" b="1" dirty="0">
              <a:solidFill>
                <a:schemeClr val="tx1">
                  <a:lumMod val="75000"/>
                  <a:lumOff val="25000"/>
                </a:schemeClr>
              </a:solidFill>
              <a:cs typeface="Arial" panose="020B0604020202020204" pitchFamily="34" charset="0"/>
            </a:endParaRPr>
          </a:p>
          <a:p>
            <a:pPr marL="342900" indent="-342900">
              <a:spcBef>
                <a:spcPts val="0"/>
              </a:spcBef>
              <a:spcAft>
                <a:spcPts val="600"/>
              </a:spcAft>
              <a:buFont typeface="Wingdings" panose="05000000000000000000" pitchFamily="2" charset="2"/>
              <a:buChar char="q"/>
              <a:tabLst>
                <a:tab pos="346075" algn="l"/>
              </a:tabLst>
            </a:pPr>
            <a:r>
              <a:rPr lang="lt-LT" sz="2200" b="1" dirty="0" smtClean="0">
                <a:solidFill>
                  <a:schemeClr val="tx1">
                    <a:lumMod val="75000"/>
                    <a:lumOff val="25000"/>
                  </a:schemeClr>
                </a:solidFill>
                <a:cs typeface="Arial" panose="020B0604020202020204" pitchFamily="34" charset="0"/>
              </a:rPr>
              <a:t>Develop </a:t>
            </a:r>
            <a:r>
              <a:rPr lang="en-GB" sz="2200" b="1" dirty="0" smtClean="0">
                <a:solidFill>
                  <a:srgbClr val="FF6E1E"/>
                </a:solidFill>
                <a:cs typeface="Arial" panose="020B0604020202020204" pitchFamily="34" charset="0"/>
              </a:rPr>
              <a:t>r</a:t>
            </a:r>
            <a:r>
              <a:rPr lang="lt-LT" sz="2200" b="1" dirty="0" smtClean="0">
                <a:solidFill>
                  <a:srgbClr val="FF6E1E"/>
                </a:solidFill>
                <a:cs typeface="Arial" panose="020B0604020202020204" pitchFamily="34" charset="0"/>
              </a:rPr>
              <a:t>etry logic in CMSSW </a:t>
            </a:r>
            <a:r>
              <a:rPr lang="lt-LT" sz="2200" b="1" dirty="0" smtClean="0">
                <a:solidFill>
                  <a:schemeClr val="tx1">
                    <a:lumMod val="75000"/>
                    <a:lumOff val="25000"/>
                  </a:schemeClr>
                </a:solidFill>
                <a:cs typeface="Arial" panose="020B0604020202020204" pitchFamily="34" charset="0"/>
              </a:rPr>
              <a:t>and allow </a:t>
            </a:r>
            <a:r>
              <a:rPr lang="lt-LT" sz="2200" b="1" dirty="0" smtClean="0">
                <a:solidFill>
                  <a:schemeClr val="tx1">
                    <a:lumMod val="75000"/>
                    <a:lumOff val="25000"/>
                  </a:schemeClr>
                </a:solidFill>
                <a:cs typeface="Arial" panose="020B0604020202020204" pitchFamily="34" charset="0"/>
              </a:rPr>
              <a:t>sites </a:t>
            </a:r>
            <a:r>
              <a:rPr lang="lt-LT" sz="2200" b="1" dirty="0" smtClean="0">
                <a:solidFill>
                  <a:schemeClr val="tx1">
                    <a:lumMod val="75000"/>
                    <a:lumOff val="25000"/>
                  </a:schemeClr>
                </a:solidFill>
                <a:cs typeface="Arial" panose="020B0604020202020204" pitchFamily="34" charset="0"/>
              </a:rPr>
              <a:t>control it. Also jobs could overwrite it through configuration</a:t>
            </a:r>
            <a:r>
              <a:rPr lang="en-GB" sz="2200" b="1" dirty="0" smtClean="0">
                <a:solidFill>
                  <a:schemeClr val="tx1">
                    <a:lumMod val="75000"/>
                    <a:lumOff val="25000"/>
                  </a:schemeClr>
                </a:solidFill>
                <a:cs typeface="Arial" panose="020B0604020202020204" pitchFamily="34" charset="0"/>
              </a:rPr>
              <a:t> knobs:</a:t>
            </a:r>
          </a:p>
          <a:p>
            <a:pPr marL="800100" lvl="1" indent="-342900">
              <a:spcAft>
                <a:spcPts val="600"/>
              </a:spcAft>
              <a:buFont typeface="Wingdings" panose="05000000000000000000" pitchFamily="2" charset="2"/>
              <a:buChar char="q"/>
              <a:tabLst>
                <a:tab pos="346075" algn="l"/>
              </a:tabLst>
            </a:pPr>
            <a:r>
              <a:rPr lang="en-GB" sz="2200" b="1" dirty="0" smtClean="0">
                <a:solidFill>
                  <a:srgbClr val="FF6E1E"/>
                </a:solidFill>
                <a:cs typeface="Arial" panose="020B0604020202020204" pitchFamily="34" charset="0"/>
              </a:rPr>
              <a:t>How many times to retry</a:t>
            </a:r>
            <a:endParaRPr lang="en-GB" sz="2200" b="1" dirty="0">
              <a:solidFill>
                <a:srgbClr val="FF6E1E"/>
              </a:solidFill>
              <a:cs typeface="Arial" panose="020B0604020202020204" pitchFamily="34" charset="0"/>
            </a:endParaRPr>
          </a:p>
          <a:p>
            <a:pPr marL="800100" lvl="1" indent="-342900">
              <a:spcAft>
                <a:spcPts val="600"/>
              </a:spcAft>
              <a:buFont typeface="Wingdings" panose="05000000000000000000" pitchFamily="2" charset="2"/>
              <a:buChar char="q"/>
              <a:tabLst>
                <a:tab pos="346075" algn="l"/>
              </a:tabLst>
            </a:pPr>
            <a:r>
              <a:rPr lang="en-GB" sz="2200" b="1" dirty="0" smtClean="0">
                <a:solidFill>
                  <a:srgbClr val="FF6E1E"/>
                </a:solidFill>
                <a:cs typeface="Arial" panose="020B0604020202020204" pitchFamily="34" charset="0"/>
              </a:rPr>
              <a:t>Timeout between retries</a:t>
            </a:r>
            <a:endParaRPr lang="en-US" sz="2200" b="1" dirty="0" smtClean="0">
              <a:solidFill>
                <a:srgbClr val="FF6E1E"/>
              </a:solidFill>
              <a:cs typeface="Arial" panose="020B0604020202020204" pitchFamily="34" charset="0"/>
            </a:endParaRPr>
          </a:p>
          <a:p>
            <a:pPr marL="342900" indent="-342900">
              <a:spcBef>
                <a:spcPts val="0"/>
              </a:spcBef>
              <a:spcAft>
                <a:spcPts val="600"/>
              </a:spcAft>
              <a:buFont typeface="Wingdings" panose="05000000000000000000" pitchFamily="2" charset="2"/>
              <a:buChar char="q"/>
              <a:tabLst>
                <a:tab pos="346075" algn="l"/>
              </a:tabLst>
            </a:pPr>
            <a:r>
              <a:rPr lang="en-US" sz="2200" b="1" dirty="0" smtClean="0">
                <a:solidFill>
                  <a:schemeClr val="tx1">
                    <a:lumMod val="75000"/>
                    <a:lumOff val="25000"/>
                  </a:schemeClr>
                </a:solidFill>
                <a:cs typeface="Arial" panose="020B0604020202020204" pitchFamily="34" charset="0"/>
              </a:rPr>
              <a:t>Move all </a:t>
            </a:r>
            <a:r>
              <a:rPr lang="en-US" sz="2200" b="1" dirty="0" err="1" smtClean="0">
                <a:solidFill>
                  <a:srgbClr val="FF6E1E"/>
                </a:solidFill>
                <a:cs typeface="Arial" panose="020B0604020202020204" pitchFamily="34" charset="0"/>
              </a:rPr>
              <a:t>xrootd</a:t>
            </a:r>
            <a:r>
              <a:rPr lang="en-US" sz="2200" b="1" dirty="0" smtClean="0">
                <a:solidFill>
                  <a:srgbClr val="FF6E1E"/>
                </a:solidFill>
                <a:cs typeface="Arial" panose="020B0604020202020204" pitchFamily="34" charset="0"/>
              </a:rPr>
              <a:t> servers to </a:t>
            </a:r>
            <a:r>
              <a:rPr lang="en-US" sz="2200" b="1" dirty="0" smtClean="0">
                <a:solidFill>
                  <a:srgbClr val="FF6E1E"/>
                </a:solidFill>
                <a:cs typeface="Arial" panose="020B0604020202020204" pitchFamily="34" charset="0"/>
              </a:rPr>
              <a:t>CC7 (Issues with SLC6)</a:t>
            </a:r>
            <a:endParaRPr lang="en-US" sz="2200" b="1" dirty="0" smtClean="0">
              <a:solidFill>
                <a:srgbClr val="FF6E1E"/>
              </a:solidFill>
              <a:cs typeface="Arial" panose="020B0604020202020204" pitchFamily="34" charset="0"/>
            </a:endParaRPr>
          </a:p>
          <a:p>
            <a:pPr marL="342900" indent="-342900">
              <a:spcBef>
                <a:spcPts val="0"/>
              </a:spcBef>
              <a:spcAft>
                <a:spcPts val="600"/>
              </a:spcAft>
              <a:buFont typeface="Wingdings" panose="05000000000000000000" pitchFamily="2" charset="2"/>
              <a:buChar char="q"/>
              <a:tabLst>
                <a:tab pos="346075" algn="l"/>
              </a:tabLst>
            </a:pPr>
            <a:r>
              <a:rPr lang="en-US" sz="2200" b="1" dirty="0" smtClean="0">
                <a:solidFill>
                  <a:schemeClr val="tx1">
                    <a:lumMod val="75000"/>
                    <a:lumOff val="25000"/>
                  </a:schemeClr>
                </a:solidFill>
                <a:cs typeface="Arial" panose="020B0604020202020204" pitchFamily="34" charset="0"/>
              </a:rPr>
              <a:t>Improve</a:t>
            </a:r>
            <a:r>
              <a:rPr lang="en-US" sz="2200" b="1" dirty="0" smtClean="0">
                <a:solidFill>
                  <a:schemeClr val="tx1">
                    <a:lumMod val="75000"/>
                    <a:lumOff val="25000"/>
                  </a:schemeClr>
                </a:solidFill>
                <a:cs typeface="Arial" panose="020B0604020202020204" pitchFamily="34" charset="0"/>
              </a:rPr>
              <a:t> </a:t>
            </a:r>
            <a:r>
              <a:rPr lang="en-US" sz="2200" b="1" dirty="0" err="1" smtClean="0">
                <a:solidFill>
                  <a:schemeClr val="tx1">
                    <a:lumMod val="75000"/>
                    <a:lumOff val="25000"/>
                  </a:schemeClr>
                </a:solidFill>
                <a:cs typeface="Arial" panose="020B0604020202020204" pitchFamily="34" charset="0"/>
              </a:rPr>
              <a:t>XrootD</a:t>
            </a:r>
            <a:r>
              <a:rPr lang="en-US" sz="2200" b="1" dirty="0" smtClean="0">
                <a:solidFill>
                  <a:schemeClr val="tx1">
                    <a:lumMod val="75000"/>
                    <a:lumOff val="25000"/>
                  </a:schemeClr>
                </a:solidFill>
                <a:cs typeface="Arial" panose="020B0604020202020204" pitchFamily="34" charset="0"/>
              </a:rPr>
              <a:t> </a:t>
            </a:r>
            <a:r>
              <a:rPr lang="en-US" sz="2200" b="1" dirty="0" smtClean="0">
                <a:solidFill>
                  <a:schemeClr val="tx1">
                    <a:lumMod val="75000"/>
                    <a:lumOff val="25000"/>
                  </a:schemeClr>
                </a:solidFill>
                <a:cs typeface="Arial" panose="020B0604020202020204" pitchFamily="34" charset="0"/>
              </a:rPr>
              <a:t>monitoring to </a:t>
            </a:r>
            <a:r>
              <a:rPr lang="en-US" sz="2200" b="1" dirty="0" smtClean="0">
                <a:solidFill>
                  <a:schemeClr val="tx1">
                    <a:lumMod val="75000"/>
                    <a:lumOff val="25000"/>
                  </a:schemeClr>
                </a:solidFill>
                <a:cs typeface="Arial" panose="020B0604020202020204" pitchFamily="34" charset="0"/>
              </a:rPr>
              <a:t>see the </a:t>
            </a:r>
            <a:r>
              <a:rPr lang="en-US" sz="2200" b="1" dirty="0" smtClean="0">
                <a:solidFill>
                  <a:srgbClr val="FF6E1E"/>
                </a:solidFill>
                <a:cs typeface="Arial" panose="020B0604020202020204" pitchFamily="34" charset="0"/>
              </a:rPr>
              <a:t>correct throughput, num. of connections, failures</a:t>
            </a:r>
            <a:r>
              <a:rPr lang="en-US" sz="2200" b="1" dirty="0" smtClean="0">
                <a:solidFill>
                  <a:schemeClr val="tx1">
                    <a:lumMod val="75000"/>
                    <a:lumOff val="25000"/>
                  </a:schemeClr>
                </a:solidFill>
                <a:cs typeface="Arial" panose="020B0604020202020204" pitchFamily="34" charset="0"/>
              </a:rPr>
              <a:t>. </a:t>
            </a:r>
            <a:endParaRPr lang="en-US" sz="2200" b="1" dirty="0" smtClean="0">
              <a:solidFill>
                <a:schemeClr val="tx1">
                  <a:lumMod val="75000"/>
                  <a:lumOff val="25000"/>
                </a:schemeClr>
              </a:solidFill>
              <a:cs typeface="Arial" panose="020B0604020202020204" pitchFamily="34" charset="0"/>
            </a:endParaRPr>
          </a:p>
          <a:p>
            <a:pPr marL="342900" indent="-342900">
              <a:spcBef>
                <a:spcPts val="0"/>
              </a:spcBef>
              <a:spcAft>
                <a:spcPts val="600"/>
              </a:spcAft>
              <a:buFont typeface="Wingdings" panose="05000000000000000000" pitchFamily="2" charset="2"/>
              <a:buChar char="q"/>
              <a:tabLst>
                <a:tab pos="346075" algn="l"/>
              </a:tabLst>
            </a:pPr>
            <a:r>
              <a:rPr lang="en-US" sz="2200" b="1" dirty="0" smtClean="0">
                <a:solidFill>
                  <a:schemeClr val="tx1">
                    <a:lumMod val="75000"/>
                    <a:lumOff val="25000"/>
                  </a:schemeClr>
                </a:solidFill>
                <a:cs typeface="Arial" panose="020B0604020202020204" pitchFamily="34" charset="0"/>
              </a:rPr>
              <a:t>Make </a:t>
            </a:r>
            <a:r>
              <a:rPr lang="en-US" sz="2200" b="1" dirty="0" smtClean="0">
                <a:solidFill>
                  <a:schemeClr val="tx1">
                    <a:lumMod val="75000"/>
                    <a:lumOff val="25000"/>
                  </a:schemeClr>
                </a:solidFill>
                <a:cs typeface="Arial" panose="020B0604020202020204" pitchFamily="34" charset="0"/>
              </a:rPr>
              <a:t>sure failed sites are </a:t>
            </a:r>
            <a:r>
              <a:rPr lang="en-US" sz="2200" b="1" dirty="0" smtClean="0">
                <a:solidFill>
                  <a:schemeClr val="tx1">
                    <a:lumMod val="75000"/>
                    <a:lumOff val="25000"/>
                  </a:schemeClr>
                </a:solidFill>
                <a:cs typeface="Arial" panose="020B0604020202020204" pitchFamily="34" charset="0"/>
              </a:rPr>
              <a:t>reported</a:t>
            </a:r>
          </a:p>
          <a:p>
            <a:pPr marL="342900" indent="-342900">
              <a:spcBef>
                <a:spcPts val="0"/>
              </a:spcBef>
              <a:spcAft>
                <a:spcPts val="600"/>
              </a:spcAft>
              <a:buFont typeface="Wingdings" panose="05000000000000000000" pitchFamily="2" charset="2"/>
              <a:buChar char="q"/>
              <a:tabLst>
                <a:tab pos="346075" algn="l"/>
              </a:tabLst>
            </a:pPr>
            <a:r>
              <a:rPr lang="en-US" sz="2200" b="1" dirty="0" smtClean="0">
                <a:solidFill>
                  <a:schemeClr val="tx1">
                    <a:lumMod val="75000"/>
                    <a:lumOff val="25000"/>
                  </a:schemeClr>
                </a:solidFill>
                <a:cs typeface="Arial" panose="020B0604020202020204" pitchFamily="34" charset="0"/>
              </a:rPr>
              <a:t>Collect </a:t>
            </a:r>
            <a:r>
              <a:rPr lang="en-US" sz="2200" b="1" dirty="0" smtClean="0">
                <a:solidFill>
                  <a:schemeClr val="tx1">
                    <a:lumMod val="75000"/>
                    <a:lumOff val="25000"/>
                  </a:schemeClr>
                </a:solidFill>
                <a:cs typeface="Arial" panose="020B0604020202020204" pitchFamily="34" charset="0"/>
              </a:rPr>
              <a:t>and analyze </a:t>
            </a:r>
            <a:r>
              <a:rPr lang="en-US" sz="2200" b="1" dirty="0" smtClean="0">
                <a:solidFill>
                  <a:srgbClr val="FF6E1E"/>
                </a:solidFill>
                <a:cs typeface="Arial" panose="020B0604020202020204" pitchFamily="34" charset="0"/>
              </a:rPr>
              <a:t>production job efficiency metrics in real time and improve their </a:t>
            </a:r>
            <a:r>
              <a:rPr lang="en-US" sz="2200" b="1" dirty="0" smtClean="0">
                <a:solidFill>
                  <a:srgbClr val="FF6E1E"/>
                </a:solidFill>
                <a:cs typeface="Arial" panose="020B0604020202020204" pitchFamily="34" charset="0"/>
              </a:rPr>
              <a:t>efficiency</a:t>
            </a:r>
            <a:endParaRPr lang="en-US" sz="2200" b="1" dirty="0" smtClean="0">
              <a:solidFill>
                <a:schemeClr val="tx1">
                  <a:lumMod val="75000"/>
                  <a:lumOff val="25000"/>
                </a:schemeClr>
              </a:solidFill>
              <a:cs typeface="Arial" panose="020B0604020202020204" pitchFamily="34" charset="0"/>
            </a:endParaRPr>
          </a:p>
        </p:txBody>
      </p:sp>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r>
              <a:rPr lang="en-US" smtClean="0"/>
              <a:t>13/10/2016</a:t>
            </a:r>
            <a:endParaRPr lang="en-GB"/>
          </a:p>
        </p:txBody>
      </p:sp>
      <p:sp>
        <p:nvSpPr>
          <p:cNvPr id="7" name="Footer Placeholder 6"/>
          <p:cNvSpPr>
            <a:spLocks noGrp="1"/>
          </p:cNvSpPr>
          <p:nvPr>
            <p:ph type="ftr" sz="quarter" idx="11"/>
          </p:nvPr>
        </p:nvSpPr>
        <p:spPr/>
        <p:txBody>
          <a:bodyPr/>
          <a:lstStyle/>
          <a:p>
            <a:r>
              <a:rPr lang="en-GB" smtClean="0"/>
              <a:t>Jean-Roch Vlimant &amp; Justas Balcas</a:t>
            </a:r>
            <a:endParaRPr lang="en-GB"/>
          </a:p>
        </p:txBody>
      </p:sp>
      <p:sp>
        <p:nvSpPr>
          <p:cNvPr id="8" name="Slide Number Placeholder 7"/>
          <p:cNvSpPr>
            <a:spLocks noGrp="1"/>
          </p:cNvSpPr>
          <p:nvPr>
            <p:ph type="sldNum" sz="quarter" idx="12"/>
          </p:nvPr>
        </p:nvSpPr>
        <p:spPr/>
        <p:txBody>
          <a:bodyPr/>
          <a:lstStyle/>
          <a:p>
            <a:fld id="{F16C04A8-3194-4548-96B6-07828A9153A5}" type="slidenum">
              <a:rPr lang="en-GB" smtClean="0"/>
              <a:t>14</a:t>
            </a:fld>
            <a:endParaRPr lang="en-GB"/>
          </a:p>
        </p:txBody>
      </p:sp>
    </p:spTree>
    <p:extLst>
      <p:ext uri="{BB962C8B-B14F-4D97-AF65-F5344CB8AC3E}">
        <p14:creationId xmlns:p14="http://schemas.microsoft.com/office/powerpoint/2010/main" val="30677936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11"/>
          <p:cNvSpPr>
            <a:spLocks noGrp="1"/>
          </p:cNvSpPr>
          <p:nvPr>
            <p:ph type="dt" sz="half" idx="10"/>
          </p:nvPr>
        </p:nvSpPr>
        <p:spPr/>
        <p:txBody>
          <a:bodyPr/>
          <a:lstStyle/>
          <a:p>
            <a:r>
              <a:rPr lang="en-US" smtClean="0"/>
              <a:t>13/10/2016</a:t>
            </a:r>
            <a:endParaRPr lang="en-GB"/>
          </a:p>
        </p:txBody>
      </p:sp>
      <p:sp>
        <p:nvSpPr>
          <p:cNvPr id="13" name="Footer Placeholder 12"/>
          <p:cNvSpPr>
            <a:spLocks noGrp="1"/>
          </p:cNvSpPr>
          <p:nvPr>
            <p:ph type="ftr" sz="quarter" idx="11"/>
          </p:nvPr>
        </p:nvSpPr>
        <p:spPr/>
        <p:txBody>
          <a:bodyPr/>
          <a:lstStyle/>
          <a:p>
            <a:r>
              <a:rPr lang="en-GB" smtClean="0"/>
              <a:t>Jean-Roch Vlimant &amp; Justas Balcas</a:t>
            </a:r>
            <a:endParaRPr lang="en-GB"/>
          </a:p>
        </p:txBody>
      </p:sp>
      <p:sp>
        <p:nvSpPr>
          <p:cNvPr id="14" name="Slide Number Placeholder 13"/>
          <p:cNvSpPr>
            <a:spLocks noGrp="1"/>
          </p:cNvSpPr>
          <p:nvPr>
            <p:ph type="sldNum" sz="quarter" idx="12"/>
          </p:nvPr>
        </p:nvSpPr>
        <p:spPr/>
        <p:txBody>
          <a:bodyPr/>
          <a:lstStyle/>
          <a:p>
            <a:fld id="{F16C04A8-3194-4548-96B6-07828A9153A5}" type="slidenum">
              <a:rPr lang="en-GB" smtClean="0"/>
              <a:t>15</a:t>
            </a:fld>
            <a:endParaRPr lang="en-GB"/>
          </a:p>
        </p:txBody>
      </p:sp>
    </p:spTree>
    <p:extLst>
      <p:ext uri="{BB962C8B-B14F-4D97-AF65-F5344CB8AC3E}">
        <p14:creationId xmlns:p14="http://schemas.microsoft.com/office/powerpoint/2010/main" val="10435106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9" name="Title 2"/>
          <p:cNvSpPr txBox="1">
            <a:spLocks/>
          </p:cNvSpPr>
          <p:nvPr/>
        </p:nvSpPr>
        <p:spPr>
          <a:xfrm>
            <a:off x="2591435" y="2885739"/>
            <a:ext cx="7073298" cy="8620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8800" dirty="0" smtClean="0">
                <a:solidFill>
                  <a:schemeClr val="tx1">
                    <a:lumMod val="75000"/>
                    <a:lumOff val="25000"/>
                  </a:schemeClr>
                </a:solidFill>
              </a:rPr>
              <a:t>BACKUP SLIDES</a:t>
            </a:r>
            <a:endParaRPr lang="en-GB" sz="8800" dirty="0">
              <a:solidFill>
                <a:schemeClr val="tx1">
                  <a:lumMod val="75000"/>
                  <a:lumOff val="25000"/>
                </a:schemeClr>
              </a:solidFill>
            </a:endParaRPr>
          </a:p>
        </p:txBody>
      </p:sp>
      <p:pic>
        <p:nvPicPr>
          <p:cNvPr id="7"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8"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14" name="Date Placeholder 13"/>
          <p:cNvSpPr>
            <a:spLocks noGrp="1"/>
          </p:cNvSpPr>
          <p:nvPr>
            <p:ph type="dt" sz="half" idx="10"/>
          </p:nvPr>
        </p:nvSpPr>
        <p:spPr/>
        <p:txBody>
          <a:bodyPr/>
          <a:lstStyle/>
          <a:p>
            <a:r>
              <a:rPr lang="en-US" smtClean="0"/>
              <a:t>13/10/2016</a:t>
            </a:r>
            <a:endParaRPr lang="en-GB"/>
          </a:p>
        </p:txBody>
      </p:sp>
      <p:sp>
        <p:nvSpPr>
          <p:cNvPr id="15" name="Footer Placeholder 14"/>
          <p:cNvSpPr>
            <a:spLocks noGrp="1"/>
          </p:cNvSpPr>
          <p:nvPr>
            <p:ph type="ftr" sz="quarter" idx="11"/>
          </p:nvPr>
        </p:nvSpPr>
        <p:spPr/>
        <p:txBody>
          <a:bodyPr/>
          <a:lstStyle/>
          <a:p>
            <a:r>
              <a:rPr lang="en-GB" smtClean="0"/>
              <a:t>Jean-Roch Vlimant &amp; Justas Balcas</a:t>
            </a:r>
            <a:endParaRPr lang="en-GB"/>
          </a:p>
        </p:txBody>
      </p:sp>
      <p:sp>
        <p:nvSpPr>
          <p:cNvPr id="16" name="Slide Number Placeholder 15"/>
          <p:cNvSpPr>
            <a:spLocks noGrp="1"/>
          </p:cNvSpPr>
          <p:nvPr>
            <p:ph type="sldNum" sz="quarter" idx="12"/>
          </p:nvPr>
        </p:nvSpPr>
        <p:spPr/>
        <p:txBody>
          <a:bodyPr/>
          <a:lstStyle/>
          <a:p>
            <a:fld id="{F16C04A8-3194-4548-96B6-07828A9153A5}" type="slidenum">
              <a:rPr lang="en-GB" smtClean="0"/>
              <a:t>16</a:t>
            </a:fld>
            <a:endParaRPr lang="en-GB"/>
          </a:p>
        </p:txBody>
      </p:sp>
    </p:spTree>
    <p:extLst>
      <p:ext uri="{BB962C8B-B14F-4D97-AF65-F5344CB8AC3E}">
        <p14:creationId xmlns:p14="http://schemas.microsoft.com/office/powerpoint/2010/main" val="25633626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0"/>
            <a:ext cx="10151476" cy="862096"/>
          </a:xfrm>
        </p:spPr>
        <p:txBody>
          <a:bodyPr>
            <a:normAutofit/>
          </a:bodyPr>
          <a:lstStyle/>
          <a:p>
            <a:r>
              <a:rPr lang="en-GB" sz="3600" b="1" dirty="0" smtClean="0">
                <a:solidFill>
                  <a:schemeClr val="tx1">
                    <a:lumMod val="75000"/>
                    <a:lumOff val="25000"/>
                  </a:schemeClr>
                </a:solidFill>
              </a:rPr>
              <a:t>Comparing </a:t>
            </a:r>
            <a:r>
              <a:rPr lang="en-GB" sz="3600" b="1" dirty="0" err="1" smtClean="0">
                <a:solidFill>
                  <a:srgbClr val="FF6E1E"/>
                </a:solidFill>
              </a:rPr>
              <a:t>xrdcp</a:t>
            </a:r>
            <a:r>
              <a:rPr lang="en-GB" sz="3600" b="1" dirty="0" smtClean="0">
                <a:solidFill>
                  <a:schemeClr val="tx1">
                    <a:lumMod val="75000"/>
                    <a:lumOff val="25000"/>
                  </a:schemeClr>
                </a:solidFill>
              </a:rPr>
              <a:t> vs </a:t>
            </a:r>
            <a:r>
              <a:rPr lang="en-GB" sz="3600" b="1" dirty="0" smtClean="0">
                <a:solidFill>
                  <a:srgbClr val="FF6E1E"/>
                </a:solidFill>
              </a:rPr>
              <a:t>curl</a:t>
            </a:r>
            <a:r>
              <a:rPr lang="en-GB" sz="3600" b="1" dirty="0" smtClean="0">
                <a:solidFill>
                  <a:schemeClr val="tx1">
                    <a:lumMod val="75000"/>
                    <a:lumOff val="25000"/>
                  </a:schemeClr>
                </a:solidFill>
              </a:rPr>
              <a:t> vs </a:t>
            </a:r>
            <a:r>
              <a:rPr lang="en-GB" sz="3600" b="1" dirty="0" err="1" smtClean="0">
                <a:solidFill>
                  <a:srgbClr val="FF6E1E"/>
                </a:solidFill>
              </a:rPr>
              <a:t>fdt</a:t>
            </a:r>
            <a:r>
              <a:rPr lang="en-GB" sz="3600" b="1" dirty="0" smtClean="0">
                <a:solidFill>
                  <a:srgbClr val="FF6E1E"/>
                </a:solidFill>
              </a:rPr>
              <a:t> </a:t>
            </a:r>
            <a:r>
              <a:rPr lang="en-GB" sz="3600" b="1" dirty="0" smtClean="0"/>
              <a:t>(</a:t>
            </a:r>
            <a:r>
              <a:rPr lang="en-GB" sz="3600" b="1" dirty="0" smtClean="0">
                <a:solidFill>
                  <a:srgbClr val="FF6E1E"/>
                </a:solidFill>
              </a:rPr>
              <a:t>Mbytes/s</a:t>
            </a:r>
            <a:r>
              <a:rPr lang="en-GB" sz="3600" b="1" dirty="0" smtClean="0"/>
              <a:t>)</a:t>
            </a:r>
            <a:endParaRPr lang="en-GB" sz="3600" b="1" dirty="0"/>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9860"/>
            <a:ext cx="1984892" cy="852236"/>
          </a:xfrm>
        </p:spPr>
      </p:pic>
      <p:cxnSp>
        <p:nvCxnSpPr>
          <p:cNvPr id="6" name="Straight Connector 5"/>
          <p:cNvCxnSpPr/>
          <p:nvPr/>
        </p:nvCxnSpPr>
        <p:spPr>
          <a:xfrm>
            <a:off x="160421" y="86209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5276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7" name="Chart 16"/>
          <p:cNvGraphicFramePr>
            <a:graphicFrameLocks/>
          </p:cNvGraphicFramePr>
          <p:nvPr>
            <p:extLst>
              <p:ext uri="{D42A27DB-BD31-4B8C-83A1-F6EECF244321}">
                <p14:modId xmlns:p14="http://schemas.microsoft.com/office/powerpoint/2010/main" val="1475809114"/>
              </p:ext>
            </p:extLst>
          </p:nvPr>
        </p:nvGraphicFramePr>
        <p:xfrm>
          <a:off x="160421" y="888875"/>
          <a:ext cx="11935326" cy="5583782"/>
        </p:xfrm>
        <a:graphic>
          <a:graphicData uri="http://schemas.openxmlformats.org/drawingml/2006/chart">
            <c:chart xmlns:c="http://schemas.openxmlformats.org/drawingml/2006/chart" xmlns:r="http://schemas.openxmlformats.org/officeDocument/2006/relationships" r:id="rId5"/>
          </a:graphicData>
        </a:graphic>
      </p:graphicFrame>
      <p:sp>
        <p:nvSpPr>
          <p:cNvPr id="5" name="Date Placeholder 4"/>
          <p:cNvSpPr>
            <a:spLocks noGrp="1"/>
          </p:cNvSpPr>
          <p:nvPr>
            <p:ph type="dt" sz="half" idx="10"/>
          </p:nvPr>
        </p:nvSpPr>
        <p:spPr/>
        <p:txBody>
          <a:bodyPr/>
          <a:lstStyle/>
          <a:p>
            <a:r>
              <a:rPr lang="en-US" smtClean="0"/>
              <a:t>13/10/2016</a:t>
            </a:r>
            <a:endParaRPr lang="en-GB"/>
          </a:p>
        </p:txBody>
      </p:sp>
      <p:sp>
        <p:nvSpPr>
          <p:cNvPr id="7" name="Footer Placeholder 6"/>
          <p:cNvSpPr>
            <a:spLocks noGrp="1"/>
          </p:cNvSpPr>
          <p:nvPr>
            <p:ph type="ftr" sz="quarter" idx="11"/>
          </p:nvPr>
        </p:nvSpPr>
        <p:spPr/>
        <p:txBody>
          <a:bodyPr/>
          <a:lstStyle/>
          <a:p>
            <a:r>
              <a:rPr lang="en-GB" smtClean="0"/>
              <a:t>Jean-Roch Vlimant &amp; Justas Balcas</a:t>
            </a:r>
            <a:endParaRPr lang="en-GB"/>
          </a:p>
        </p:txBody>
      </p:sp>
      <p:sp>
        <p:nvSpPr>
          <p:cNvPr id="8" name="Slide Number Placeholder 7"/>
          <p:cNvSpPr>
            <a:spLocks noGrp="1"/>
          </p:cNvSpPr>
          <p:nvPr>
            <p:ph type="sldNum" sz="quarter" idx="12"/>
          </p:nvPr>
        </p:nvSpPr>
        <p:spPr/>
        <p:txBody>
          <a:bodyPr/>
          <a:lstStyle/>
          <a:p>
            <a:fld id="{F16C04A8-3194-4548-96B6-07828A9153A5}" type="slidenum">
              <a:rPr lang="en-GB" smtClean="0"/>
              <a:t>17</a:t>
            </a:fld>
            <a:endParaRPr lang="en-GB"/>
          </a:p>
        </p:txBody>
      </p:sp>
    </p:spTree>
    <p:extLst>
      <p:ext uri="{BB962C8B-B14F-4D97-AF65-F5344CB8AC3E}">
        <p14:creationId xmlns:p14="http://schemas.microsoft.com/office/powerpoint/2010/main" val="37056816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0" y="-9860"/>
            <a:ext cx="9735017" cy="862096"/>
          </a:xfrm>
        </p:spPr>
        <p:txBody>
          <a:bodyPr>
            <a:normAutofit/>
          </a:bodyPr>
          <a:lstStyle/>
          <a:p>
            <a:r>
              <a:rPr lang="en-GB" sz="3600" b="1" dirty="0" smtClean="0">
                <a:solidFill>
                  <a:schemeClr val="tx1">
                    <a:lumMod val="75000"/>
                    <a:lumOff val="25000"/>
                  </a:schemeClr>
                </a:solidFill>
              </a:rPr>
              <a:t>Storage caching (</a:t>
            </a:r>
            <a:r>
              <a:rPr lang="en-GB" sz="3600" b="1" dirty="0" smtClean="0">
                <a:solidFill>
                  <a:srgbClr val="FF6E1E"/>
                </a:solidFill>
              </a:rPr>
              <a:t>Mbytes/s</a:t>
            </a:r>
            <a:r>
              <a:rPr lang="en-GB" sz="3600" b="1" dirty="0" smtClean="0">
                <a:solidFill>
                  <a:schemeClr val="tx1">
                    <a:lumMod val="75000"/>
                    <a:lumOff val="25000"/>
                  </a:schemeClr>
                </a:solidFill>
              </a:rPr>
              <a:t>)</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aphicFrame>
        <p:nvGraphicFramePr>
          <p:cNvPr id="16" name="Chart 15"/>
          <p:cNvGraphicFramePr>
            <a:graphicFrameLocks/>
          </p:cNvGraphicFramePr>
          <p:nvPr>
            <p:extLst>
              <p:ext uri="{D42A27DB-BD31-4B8C-83A1-F6EECF244321}">
                <p14:modId xmlns:p14="http://schemas.microsoft.com/office/powerpoint/2010/main" val="3977022351"/>
              </p:ext>
            </p:extLst>
          </p:nvPr>
        </p:nvGraphicFramePr>
        <p:xfrm>
          <a:off x="160421" y="872292"/>
          <a:ext cx="11935326" cy="556058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743747515"/>
              </p:ext>
            </p:extLst>
          </p:nvPr>
        </p:nvGraphicFramePr>
        <p:xfrm>
          <a:off x="2372005" y="1176038"/>
          <a:ext cx="9497845" cy="920826"/>
        </p:xfrm>
        <a:graphic>
          <a:graphicData uri="http://schemas.openxmlformats.org/drawingml/2006/table">
            <a:tbl>
              <a:tblPr>
                <a:tableStyleId>{5940675A-B579-460E-94D1-54222C63F5DA}</a:tableStyleId>
              </a:tblPr>
              <a:tblGrid>
                <a:gridCol w="1285711"/>
                <a:gridCol w="595381"/>
                <a:gridCol w="646705"/>
                <a:gridCol w="646705"/>
                <a:gridCol w="595381"/>
                <a:gridCol w="646705"/>
                <a:gridCol w="646705"/>
                <a:gridCol w="492728"/>
                <a:gridCol w="492728"/>
                <a:gridCol w="492728"/>
                <a:gridCol w="492728"/>
                <a:gridCol w="492728"/>
                <a:gridCol w="492728"/>
                <a:gridCol w="492728"/>
                <a:gridCol w="492728"/>
                <a:gridCol w="492728"/>
              </a:tblGrid>
              <a:tr h="179049">
                <a:tc>
                  <a:txBody>
                    <a:bodyPr/>
                    <a:lstStyle/>
                    <a:p>
                      <a:pPr algn="ctr" fontAlgn="b"/>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2</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5</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10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15</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20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25</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30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40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50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60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70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80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90</a:t>
                      </a:r>
                      <a:endParaRPr lang="en-GB" sz="1100" b="1" i="0" u="none" strike="noStrike" dirty="0">
                        <a:solidFill>
                          <a:schemeClr val="bg1"/>
                        </a:solidFill>
                        <a:effectLst/>
                        <a:latin typeface="+mn-lt"/>
                      </a:endParaRPr>
                    </a:p>
                  </a:txBody>
                  <a:tcPr marL="8526" marR="8526" marT="8526" marB="0" anchor="b"/>
                </a:tc>
                <a:tc>
                  <a:txBody>
                    <a:bodyPr/>
                    <a:lstStyle/>
                    <a:p>
                      <a:pPr algn="ctr" fontAlgn="b"/>
                      <a:r>
                        <a:rPr lang="en-GB" sz="1100" b="1" u="none" strike="noStrike" dirty="0">
                          <a:solidFill>
                            <a:schemeClr val="bg1"/>
                          </a:solidFill>
                          <a:effectLst/>
                          <a:latin typeface="+mn-lt"/>
                        </a:rPr>
                        <a:t>100</a:t>
                      </a:r>
                      <a:endParaRPr lang="en-GB" sz="1100" b="1" i="0" u="none" strike="noStrike" dirty="0">
                        <a:solidFill>
                          <a:schemeClr val="bg1"/>
                        </a:solidFill>
                        <a:effectLst/>
                        <a:latin typeface="+mn-lt"/>
                      </a:endParaRPr>
                    </a:p>
                  </a:txBody>
                  <a:tcPr marL="8526" marR="8526" marT="8526" marB="0" anchor="b"/>
                </a:tc>
              </a:tr>
              <a:tr h="187576">
                <a:tc>
                  <a:txBody>
                    <a:bodyPr/>
                    <a:lstStyle/>
                    <a:p>
                      <a:pPr algn="l" fontAlgn="b"/>
                      <a:r>
                        <a:rPr lang="en-GB" sz="1100" b="1" u="none" strike="noStrike">
                          <a:solidFill>
                            <a:schemeClr val="bg1"/>
                          </a:solidFill>
                          <a:effectLst/>
                          <a:latin typeface="+mn-lt"/>
                        </a:rPr>
                        <a:t>ApacheDavixStorage</a:t>
                      </a:r>
                      <a:endParaRPr lang="en-GB" sz="1100" b="1" i="0" u="none" strike="noStrike">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89.43</a:t>
                      </a:r>
                      <a:endParaRPr lang="en-GB" sz="1100" b="0" i="0" u="none" strike="noStrike" dirty="0">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12.70</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5.76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3.02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2.06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1.56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1.26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0.99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0.84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0.66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0.50</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0.42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0.34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0.21</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0.13</a:t>
                      </a:r>
                      <a:endParaRPr lang="en-GB" sz="1100" b="0" i="0" u="none" strike="noStrike">
                        <a:solidFill>
                          <a:schemeClr val="bg1"/>
                        </a:solidFill>
                        <a:effectLst/>
                        <a:latin typeface="+mn-lt"/>
                      </a:endParaRPr>
                    </a:p>
                  </a:txBody>
                  <a:tcPr marL="8526" marR="8526" marT="8526" marB="0" anchor="b"/>
                </a:tc>
              </a:tr>
              <a:tr h="187576">
                <a:tc>
                  <a:txBody>
                    <a:bodyPr/>
                    <a:lstStyle/>
                    <a:p>
                      <a:pPr algn="l" fontAlgn="b"/>
                      <a:r>
                        <a:rPr lang="en-GB" sz="1100" b="1" u="none" strike="noStrike" dirty="0" err="1">
                          <a:solidFill>
                            <a:schemeClr val="bg1"/>
                          </a:solidFill>
                          <a:effectLst/>
                          <a:latin typeface="+mn-lt"/>
                        </a:rPr>
                        <a:t>XrootDXrootdStorage</a:t>
                      </a:r>
                      <a:endParaRPr lang="en-GB" sz="1100" b="1" i="0" u="none" strike="noStrike" dirty="0">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123.04</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15.31</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7.42</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3.72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2.47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1.87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1.50</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1.12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0.95</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0.76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0.57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0.43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0.34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0.24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0.13</a:t>
                      </a:r>
                      <a:endParaRPr lang="en-GB" sz="1100" b="0" i="0" u="none" strike="noStrike">
                        <a:solidFill>
                          <a:schemeClr val="bg1"/>
                        </a:solidFill>
                        <a:effectLst/>
                        <a:latin typeface="+mn-lt"/>
                      </a:endParaRPr>
                    </a:p>
                  </a:txBody>
                  <a:tcPr marL="8526" marR="8526" marT="8526" marB="0" anchor="b"/>
                </a:tc>
              </a:tr>
              <a:tr h="187576">
                <a:tc>
                  <a:txBody>
                    <a:bodyPr/>
                    <a:lstStyle/>
                    <a:p>
                      <a:pPr algn="l" fontAlgn="b"/>
                      <a:r>
                        <a:rPr lang="en-GB" sz="1100" b="1" u="none" strike="noStrike" dirty="0" err="1">
                          <a:solidFill>
                            <a:schemeClr val="bg1"/>
                          </a:solidFill>
                          <a:effectLst/>
                          <a:latin typeface="+mn-lt"/>
                        </a:rPr>
                        <a:t>XrootDDavixStorage</a:t>
                      </a:r>
                      <a:endParaRPr lang="en-GB" sz="1100" b="1" i="0" u="none" strike="noStrike" dirty="0">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95.14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14.17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7.29</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3.73</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2.52</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1.98</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1.58</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1.19</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1.01</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0.81</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0.61</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0.46</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0.35</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0.25</a:t>
                      </a:r>
                      <a:endParaRPr lang="en-GB" sz="1100" b="1" i="0" u="none" strike="noStrike" dirty="0">
                        <a:solidFill>
                          <a:srgbClr val="FF0000"/>
                        </a:solidFill>
                        <a:effectLst/>
                        <a:latin typeface="+mn-lt"/>
                      </a:endParaRPr>
                    </a:p>
                  </a:txBody>
                  <a:tcPr marL="8526" marR="8526" marT="8526" marB="0" anchor="b"/>
                </a:tc>
                <a:tc>
                  <a:txBody>
                    <a:bodyPr/>
                    <a:lstStyle/>
                    <a:p>
                      <a:pPr algn="r" fontAlgn="b"/>
                      <a:r>
                        <a:rPr lang="en-GB" sz="1100" b="1" u="none" strike="noStrike" dirty="0">
                          <a:solidFill>
                            <a:srgbClr val="FF0000"/>
                          </a:solidFill>
                          <a:effectLst/>
                          <a:latin typeface="+mn-lt"/>
                        </a:rPr>
                        <a:t>0.25</a:t>
                      </a:r>
                      <a:endParaRPr lang="en-GB" sz="1100" b="1" i="0" u="none" strike="noStrike" dirty="0">
                        <a:solidFill>
                          <a:srgbClr val="FF0000"/>
                        </a:solidFill>
                        <a:effectLst/>
                        <a:latin typeface="+mn-lt"/>
                      </a:endParaRPr>
                    </a:p>
                  </a:txBody>
                  <a:tcPr marL="8526" marR="8526" marT="8526" marB="0" anchor="b"/>
                </a:tc>
              </a:tr>
              <a:tr h="179049">
                <a:tc>
                  <a:txBody>
                    <a:bodyPr/>
                    <a:lstStyle/>
                    <a:p>
                      <a:pPr algn="l" fontAlgn="b"/>
                      <a:r>
                        <a:rPr lang="en-GB" sz="1100" b="1" u="none" strike="noStrike" dirty="0" err="1">
                          <a:solidFill>
                            <a:schemeClr val="bg1"/>
                          </a:solidFill>
                          <a:effectLst/>
                          <a:latin typeface="+mn-lt"/>
                        </a:rPr>
                        <a:t>NginxDavixStorage</a:t>
                      </a:r>
                      <a:endParaRPr lang="en-GB" sz="1100" b="1" i="0" u="none" strike="noStrike" dirty="0">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101.62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12.82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5.77</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3.03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2.05</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1.56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1.25</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0.98</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0.83</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0.66</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0.50</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0.42</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0.34</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a:solidFill>
                            <a:schemeClr val="bg1"/>
                          </a:solidFill>
                          <a:effectLst/>
                          <a:latin typeface="+mn-lt"/>
                        </a:rPr>
                        <a:t>0.21</a:t>
                      </a:r>
                      <a:endParaRPr lang="en-GB" sz="1100" b="0" i="0" u="none" strike="noStrike">
                        <a:solidFill>
                          <a:schemeClr val="bg1"/>
                        </a:solidFill>
                        <a:effectLst/>
                        <a:latin typeface="+mn-lt"/>
                      </a:endParaRPr>
                    </a:p>
                  </a:txBody>
                  <a:tcPr marL="8526" marR="8526" marT="8526" marB="0" anchor="b"/>
                </a:tc>
                <a:tc>
                  <a:txBody>
                    <a:bodyPr/>
                    <a:lstStyle/>
                    <a:p>
                      <a:pPr algn="r" fontAlgn="b"/>
                      <a:r>
                        <a:rPr lang="en-GB" sz="1100" u="none" strike="noStrike" dirty="0">
                          <a:solidFill>
                            <a:schemeClr val="bg1"/>
                          </a:solidFill>
                          <a:effectLst/>
                          <a:latin typeface="+mn-lt"/>
                        </a:rPr>
                        <a:t>0.12</a:t>
                      </a:r>
                      <a:endParaRPr lang="en-GB" sz="1100" b="0" i="0" u="none" strike="noStrike" dirty="0">
                        <a:solidFill>
                          <a:schemeClr val="bg1"/>
                        </a:solidFill>
                        <a:effectLst/>
                        <a:latin typeface="+mn-lt"/>
                      </a:endParaRPr>
                    </a:p>
                  </a:txBody>
                  <a:tcPr marL="8526" marR="8526" marT="8526" marB="0" anchor="b"/>
                </a:tc>
              </a:tr>
            </a:tbl>
          </a:graphicData>
        </a:graphic>
      </p:graphicFrame>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r>
              <a:rPr lang="en-US" smtClean="0"/>
              <a:t>13/10/2016</a:t>
            </a:r>
            <a:endParaRPr lang="en-GB"/>
          </a:p>
        </p:txBody>
      </p:sp>
      <p:sp>
        <p:nvSpPr>
          <p:cNvPr id="7" name="Footer Placeholder 6"/>
          <p:cNvSpPr>
            <a:spLocks noGrp="1"/>
          </p:cNvSpPr>
          <p:nvPr>
            <p:ph type="ftr" sz="quarter" idx="11"/>
          </p:nvPr>
        </p:nvSpPr>
        <p:spPr/>
        <p:txBody>
          <a:bodyPr/>
          <a:lstStyle/>
          <a:p>
            <a:r>
              <a:rPr lang="en-GB" smtClean="0"/>
              <a:t>Jean-Roch Vlimant &amp; Justas Balcas</a:t>
            </a:r>
            <a:endParaRPr lang="en-GB"/>
          </a:p>
        </p:txBody>
      </p:sp>
      <p:sp>
        <p:nvSpPr>
          <p:cNvPr id="8" name="Slide Number Placeholder 7"/>
          <p:cNvSpPr>
            <a:spLocks noGrp="1"/>
          </p:cNvSpPr>
          <p:nvPr>
            <p:ph type="sldNum" sz="quarter" idx="12"/>
          </p:nvPr>
        </p:nvSpPr>
        <p:spPr/>
        <p:txBody>
          <a:bodyPr/>
          <a:lstStyle/>
          <a:p>
            <a:fld id="{F16C04A8-3194-4548-96B6-07828A9153A5}" type="slidenum">
              <a:rPr lang="en-GB" smtClean="0"/>
              <a:t>18</a:t>
            </a:fld>
            <a:endParaRPr lang="en-GB"/>
          </a:p>
        </p:txBody>
      </p:sp>
    </p:spTree>
    <p:extLst>
      <p:ext uri="{BB962C8B-B14F-4D97-AF65-F5344CB8AC3E}">
        <p14:creationId xmlns:p14="http://schemas.microsoft.com/office/powerpoint/2010/main" val="24272075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0" y="-9860"/>
            <a:ext cx="9735017" cy="862096"/>
          </a:xfrm>
        </p:spPr>
        <p:txBody>
          <a:bodyPr>
            <a:normAutofit/>
          </a:bodyPr>
          <a:lstStyle/>
          <a:p>
            <a:r>
              <a:rPr lang="en-GB" sz="3600" b="1" dirty="0" smtClean="0">
                <a:solidFill>
                  <a:schemeClr val="tx1">
                    <a:lumMod val="75000"/>
                    <a:lumOff val="25000"/>
                  </a:schemeClr>
                </a:solidFill>
              </a:rPr>
              <a:t>Overall Results (Average read time in seconds)</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aphicFrame>
        <p:nvGraphicFramePr>
          <p:cNvPr id="19" name="Chart 18"/>
          <p:cNvGraphicFramePr>
            <a:graphicFrameLocks/>
          </p:cNvGraphicFramePr>
          <p:nvPr>
            <p:extLst>
              <p:ext uri="{D42A27DB-BD31-4B8C-83A1-F6EECF244321}">
                <p14:modId xmlns:p14="http://schemas.microsoft.com/office/powerpoint/2010/main" val="737599628"/>
              </p:ext>
            </p:extLst>
          </p:nvPr>
        </p:nvGraphicFramePr>
        <p:xfrm>
          <a:off x="160420" y="862264"/>
          <a:ext cx="11935327" cy="5570616"/>
        </p:xfrm>
        <a:graphic>
          <a:graphicData uri="http://schemas.openxmlformats.org/drawingml/2006/chart">
            <c:chart xmlns:c="http://schemas.openxmlformats.org/drawingml/2006/chart" xmlns:r="http://schemas.openxmlformats.org/officeDocument/2006/relationships" r:id="rId4"/>
          </a:graphicData>
        </a:graphic>
      </p:graphicFrame>
      <p:pic>
        <p:nvPicPr>
          <p:cNvPr id="13"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4" name="Picture 2" descr="Image result for cms 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r>
              <a:rPr lang="en-US" smtClean="0"/>
              <a:t>13/10/2016</a:t>
            </a:r>
            <a:endParaRPr lang="en-GB"/>
          </a:p>
        </p:txBody>
      </p:sp>
      <p:sp>
        <p:nvSpPr>
          <p:cNvPr id="5" name="Footer Placeholder 4"/>
          <p:cNvSpPr>
            <a:spLocks noGrp="1"/>
          </p:cNvSpPr>
          <p:nvPr>
            <p:ph type="ftr" sz="quarter" idx="11"/>
          </p:nvPr>
        </p:nvSpPr>
        <p:spPr/>
        <p:txBody>
          <a:bodyPr/>
          <a:lstStyle/>
          <a:p>
            <a:r>
              <a:rPr lang="en-GB" smtClean="0"/>
              <a:t>Jean-Roch Vlimant &amp; Justas Balcas</a:t>
            </a:r>
            <a:endParaRPr lang="en-GB"/>
          </a:p>
        </p:txBody>
      </p:sp>
      <p:sp>
        <p:nvSpPr>
          <p:cNvPr id="7" name="Slide Number Placeholder 6"/>
          <p:cNvSpPr>
            <a:spLocks noGrp="1"/>
          </p:cNvSpPr>
          <p:nvPr>
            <p:ph type="sldNum" sz="quarter" idx="12"/>
          </p:nvPr>
        </p:nvSpPr>
        <p:spPr/>
        <p:txBody>
          <a:bodyPr/>
          <a:lstStyle/>
          <a:p>
            <a:fld id="{F16C04A8-3194-4548-96B6-07828A9153A5}" type="slidenum">
              <a:rPr lang="en-GB" smtClean="0"/>
              <a:t>19</a:t>
            </a:fld>
            <a:endParaRPr lang="en-GB"/>
          </a:p>
        </p:txBody>
      </p:sp>
    </p:spTree>
    <p:extLst>
      <p:ext uri="{BB962C8B-B14F-4D97-AF65-F5344CB8AC3E}">
        <p14:creationId xmlns:p14="http://schemas.microsoft.com/office/powerpoint/2010/main" val="12469720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9860"/>
            <a:ext cx="8592552" cy="862096"/>
          </a:xfrm>
        </p:spPr>
        <p:txBody>
          <a:bodyPr>
            <a:normAutofit/>
          </a:bodyPr>
          <a:lstStyle/>
          <a:p>
            <a:r>
              <a:rPr lang="en-GB" sz="3600" b="1" dirty="0" smtClean="0">
                <a:solidFill>
                  <a:schemeClr val="tx1">
                    <a:lumMod val="75000"/>
                    <a:lumOff val="25000"/>
                  </a:schemeClr>
                </a:solidFill>
              </a:rPr>
              <a:t>CMSSW caching hints</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160419" y="852235"/>
            <a:ext cx="11566359" cy="4632037"/>
          </a:xfrm>
          <a:prstGeom prst="rect">
            <a:avLst/>
          </a:prstGeom>
        </p:spPr>
        <p:txBody>
          <a:bodyPr wrap="square">
            <a:spAutoFit/>
          </a:bodyPr>
          <a:lstStyle/>
          <a:p>
            <a:pPr>
              <a:spcBef>
                <a:spcPts val="0"/>
              </a:spcBef>
              <a:spcAft>
                <a:spcPts val="600"/>
              </a:spcAft>
              <a:tabLst>
                <a:tab pos="346075" algn="l"/>
              </a:tabLst>
            </a:pPr>
            <a:r>
              <a:rPr lang="en-GB" sz="2000" dirty="0" smtClean="0"/>
              <a:t>CMSSW </a:t>
            </a:r>
            <a:r>
              <a:rPr lang="en-GB" sz="2000" dirty="0"/>
              <a:t>normally reads data via a set of I/O adaptors. The interface between CMSSW and ROOT is called </a:t>
            </a:r>
            <a:r>
              <a:rPr lang="en-GB" sz="2000" dirty="0" err="1"/>
              <a:t>TFileAdaptor</a:t>
            </a:r>
            <a:r>
              <a:rPr lang="en-GB" sz="2000" dirty="0"/>
              <a:t>. The underlying C++ interface for POSIX-like storage objects is called </a:t>
            </a:r>
            <a:r>
              <a:rPr lang="en-GB" sz="2000" dirty="0" err="1"/>
              <a:t>StorageFactory</a:t>
            </a:r>
            <a:r>
              <a:rPr lang="en-GB" sz="2000" dirty="0" smtClean="0"/>
              <a:t>.</a:t>
            </a:r>
          </a:p>
          <a:p>
            <a:pPr marL="342900" indent="-342900">
              <a:spcBef>
                <a:spcPts val="0"/>
              </a:spcBef>
              <a:spcAft>
                <a:spcPts val="600"/>
              </a:spcAft>
              <a:buFont typeface="Wingdings" panose="05000000000000000000" pitchFamily="2" charset="2"/>
              <a:buChar char="q"/>
              <a:tabLst>
                <a:tab pos="346075" algn="l"/>
              </a:tabLst>
            </a:pPr>
            <a:r>
              <a:rPr lang="en-GB" sz="2000" dirty="0" smtClean="0"/>
              <a:t>Application:</a:t>
            </a:r>
          </a:p>
          <a:p>
            <a:pPr marL="800100" lvl="1" indent="-342900">
              <a:spcAft>
                <a:spcPts val="600"/>
              </a:spcAft>
              <a:buFont typeface="Wingdings" panose="05000000000000000000" pitchFamily="2" charset="2"/>
              <a:buChar char="q"/>
              <a:tabLst>
                <a:tab pos="346075" algn="l"/>
              </a:tabLst>
            </a:pPr>
            <a:r>
              <a:rPr lang="en-GB" sz="2000" dirty="0"/>
              <a:t>This is the default and means ROOT will do the caching. If </a:t>
            </a:r>
            <a:r>
              <a:rPr lang="en-GB" sz="2000" dirty="0" err="1"/>
              <a:t>PoolSource.cacheSize</a:t>
            </a:r>
            <a:r>
              <a:rPr lang="en-GB" sz="2000" dirty="0"/>
              <a:t> is non-zero, a </a:t>
            </a:r>
            <a:r>
              <a:rPr lang="en-GB" sz="2000" dirty="0" err="1"/>
              <a:t>TTreeCache</a:t>
            </a:r>
            <a:r>
              <a:rPr lang="en-GB" sz="2000" dirty="0"/>
              <a:t> of that size will be created per open file. Asynchronous read-ahead will be turned off and the cache will be filled with normal reads</a:t>
            </a:r>
            <a:r>
              <a:rPr lang="en-GB" sz="2000" dirty="0" smtClean="0"/>
              <a:t>.</a:t>
            </a:r>
          </a:p>
          <a:p>
            <a:pPr marL="342900" indent="-342900">
              <a:spcAft>
                <a:spcPts val="600"/>
              </a:spcAft>
              <a:buFont typeface="Wingdings" panose="05000000000000000000" pitchFamily="2" charset="2"/>
              <a:buChar char="q"/>
              <a:tabLst>
                <a:tab pos="346075" algn="l"/>
              </a:tabLst>
            </a:pPr>
            <a:r>
              <a:rPr lang="en-GB" sz="2000" dirty="0" smtClean="0"/>
              <a:t>Storage:</a:t>
            </a:r>
          </a:p>
          <a:p>
            <a:pPr marL="800100" lvl="1" indent="-342900">
              <a:spcAft>
                <a:spcPts val="600"/>
              </a:spcAft>
              <a:buFont typeface="Wingdings" panose="05000000000000000000" pitchFamily="2" charset="2"/>
              <a:buChar char="q"/>
              <a:tabLst>
                <a:tab pos="346075" algn="l"/>
              </a:tabLst>
            </a:pPr>
            <a:r>
              <a:rPr lang="en-GB" sz="2000" dirty="0" smtClean="0"/>
              <a:t>ROOT </a:t>
            </a:r>
            <a:r>
              <a:rPr lang="en-GB" sz="2000" dirty="0"/>
              <a:t>will drive the caching using a </a:t>
            </a:r>
            <a:r>
              <a:rPr lang="en-GB" sz="2000" dirty="0" err="1"/>
              <a:t>prefetch</a:t>
            </a:r>
            <a:r>
              <a:rPr lang="en-GB" sz="2000" dirty="0"/>
              <a:t> list, but will not allocate a cache of its own. </a:t>
            </a:r>
            <a:r>
              <a:rPr lang="en-GB" sz="2000" dirty="0" smtClean="0"/>
              <a:t>ROOT </a:t>
            </a:r>
            <a:r>
              <a:rPr lang="en-GB" sz="2000" dirty="0"/>
              <a:t>will hand over the </a:t>
            </a:r>
            <a:r>
              <a:rPr lang="en-GB" sz="2000" dirty="0" err="1"/>
              <a:t>prefetch</a:t>
            </a:r>
            <a:r>
              <a:rPr lang="en-GB" sz="2000" dirty="0"/>
              <a:t> list to the storage layer, which is expected to do its own caching</a:t>
            </a:r>
            <a:r>
              <a:rPr lang="en-GB" sz="2000" dirty="0" smtClean="0"/>
              <a:t>.</a:t>
            </a:r>
          </a:p>
          <a:p>
            <a:pPr marL="342900" indent="-342900">
              <a:spcAft>
                <a:spcPts val="600"/>
              </a:spcAft>
              <a:buFont typeface="Wingdings" panose="05000000000000000000" pitchFamily="2" charset="2"/>
              <a:buChar char="q"/>
              <a:tabLst>
                <a:tab pos="346075" algn="l"/>
              </a:tabLst>
            </a:pPr>
            <a:r>
              <a:rPr lang="en-GB" sz="2000" dirty="0" smtClean="0"/>
              <a:t>Lazy-download:</a:t>
            </a:r>
          </a:p>
          <a:p>
            <a:pPr marL="800100" lvl="1" indent="-342900">
              <a:spcAft>
                <a:spcPts val="600"/>
              </a:spcAft>
              <a:buFont typeface="Wingdings" panose="05000000000000000000" pitchFamily="2" charset="2"/>
              <a:buChar char="q"/>
              <a:tabLst>
                <a:tab pos="346075" algn="l"/>
              </a:tabLst>
            </a:pPr>
            <a:r>
              <a:rPr lang="en-GB" sz="2000" dirty="0"/>
              <a:t>R</a:t>
            </a:r>
            <a:r>
              <a:rPr lang="en-GB" sz="2000" dirty="0" smtClean="0"/>
              <a:t>emote </a:t>
            </a:r>
            <a:r>
              <a:rPr lang="en-GB" sz="2000" dirty="0"/>
              <a:t>files will be downloaded to a local shadow file on demand in 128MB segments. ROOT reads will be directed to this local file; ROOT will never read directly from the remote file.</a:t>
            </a:r>
            <a:endParaRPr lang="en-GB" sz="2000" dirty="0" smtClean="0"/>
          </a:p>
          <a:p>
            <a:pPr>
              <a:spcBef>
                <a:spcPts val="0"/>
              </a:spcBef>
              <a:spcAft>
                <a:spcPts val="600"/>
              </a:spcAft>
              <a:tabLst>
                <a:tab pos="346075" algn="l"/>
              </a:tabLst>
            </a:pPr>
            <a:endParaRPr lang="en-GB" sz="2000" dirty="0"/>
          </a:p>
        </p:txBody>
      </p:sp>
      <p:pic>
        <p:nvPicPr>
          <p:cNvPr id="12"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3"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r>
              <a:rPr lang="en-US" smtClean="0"/>
              <a:t>13/10/2016</a:t>
            </a:r>
            <a:endParaRPr lang="en-GB"/>
          </a:p>
        </p:txBody>
      </p:sp>
      <p:sp>
        <p:nvSpPr>
          <p:cNvPr id="7" name="Footer Placeholder 6"/>
          <p:cNvSpPr>
            <a:spLocks noGrp="1"/>
          </p:cNvSpPr>
          <p:nvPr>
            <p:ph type="ftr" sz="quarter" idx="11"/>
          </p:nvPr>
        </p:nvSpPr>
        <p:spPr/>
        <p:txBody>
          <a:bodyPr/>
          <a:lstStyle/>
          <a:p>
            <a:r>
              <a:rPr lang="en-GB" smtClean="0"/>
              <a:t>Jean-Roch Vlimant &amp; Justas Balcas</a:t>
            </a:r>
            <a:endParaRPr lang="en-GB"/>
          </a:p>
        </p:txBody>
      </p:sp>
      <p:sp>
        <p:nvSpPr>
          <p:cNvPr id="8" name="Slide Number Placeholder 7"/>
          <p:cNvSpPr>
            <a:spLocks noGrp="1"/>
          </p:cNvSpPr>
          <p:nvPr>
            <p:ph type="sldNum" sz="quarter" idx="12"/>
          </p:nvPr>
        </p:nvSpPr>
        <p:spPr/>
        <p:txBody>
          <a:bodyPr/>
          <a:lstStyle/>
          <a:p>
            <a:fld id="{F16C04A8-3194-4548-96B6-07828A9153A5}" type="slidenum">
              <a:rPr lang="en-GB" smtClean="0"/>
              <a:t>20</a:t>
            </a:fld>
            <a:endParaRPr lang="en-GB"/>
          </a:p>
        </p:txBody>
      </p:sp>
    </p:spTree>
    <p:extLst>
      <p:ext uri="{BB962C8B-B14F-4D97-AF65-F5344CB8AC3E}">
        <p14:creationId xmlns:p14="http://schemas.microsoft.com/office/powerpoint/2010/main" val="5269001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421" y="-9860"/>
            <a:ext cx="8592552" cy="862096"/>
          </a:xfrm>
        </p:spPr>
        <p:txBody>
          <a:bodyPr>
            <a:normAutofit/>
          </a:bodyPr>
          <a:lstStyle/>
          <a:p>
            <a:r>
              <a:rPr lang="en-GB" sz="3600" b="1" dirty="0" smtClean="0">
                <a:solidFill>
                  <a:schemeClr val="tx1">
                    <a:lumMod val="75000"/>
                    <a:lumOff val="25000"/>
                  </a:schemeClr>
                </a:solidFill>
              </a:rPr>
              <a:t>Software used in tests </a:t>
            </a:r>
            <a:endParaRPr lang="en-GB" sz="3600" b="1" dirty="0">
              <a:solidFill>
                <a:schemeClr val="tx1">
                  <a:lumMod val="75000"/>
                  <a:lumOff val="25000"/>
                </a:schemeClr>
              </a:solidFill>
            </a:endParaRPr>
          </a:p>
        </p:txBody>
      </p:sp>
      <p:pic>
        <p:nvPicPr>
          <p:cNvPr id="10" name="Content Placeholder 9"/>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p:spPr>
      </p:pic>
      <p:cxnSp>
        <p:nvCxnSpPr>
          <p:cNvPr id="6" name="Straight Connector 5"/>
          <p:cNvCxnSpPr/>
          <p:nvPr/>
        </p:nvCxnSpPr>
        <p:spPr>
          <a:xfrm>
            <a:off x="160421" y="852236"/>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160421" y="6442908"/>
            <a:ext cx="11935326" cy="10028"/>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Rectangle 1"/>
          <p:cNvSpPr/>
          <p:nvPr/>
        </p:nvSpPr>
        <p:spPr>
          <a:xfrm>
            <a:off x="160419" y="852235"/>
            <a:ext cx="11566359" cy="4016484"/>
          </a:xfrm>
          <a:prstGeom prst="rect">
            <a:avLst/>
          </a:prstGeom>
        </p:spPr>
        <p:txBody>
          <a:bodyPr wrap="square">
            <a:spAutoFit/>
          </a:bodyPr>
          <a:lstStyle/>
          <a:p>
            <a:pPr marL="342900" indent="-342900">
              <a:spcBef>
                <a:spcPts val="0"/>
              </a:spcBef>
              <a:spcAft>
                <a:spcPts val="600"/>
              </a:spcAft>
              <a:buFont typeface="Wingdings" panose="05000000000000000000" pitchFamily="2" charset="2"/>
              <a:buChar char="q"/>
              <a:tabLst>
                <a:tab pos="346075" algn="l"/>
              </a:tabLst>
            </a:pPr>
            <a:r>
              <a:rPr lang="en-GB" sz="2400" dirty="0"/>
              <a:t>Apache is the most widely used web server software. Developed and maintained by Apache Software Foundation, Apache is an open source software available for free</a:t>
            </a:r>
            <a:r>
              <a:rPr lang="en-GB" sz="2400" dirty="0" smtClean="0"/>
              <a:t>.</a:t>
            </a:r>
          </a:p>
          <a:p>
            <a:pPr marL="342900" indent="-342900">
              <a:spcBef>
                <a:spcPts val="0"/>
              </a:spcBef>
              <a:spcAft>
                <a:spcPts val="600"/>
              </a:spcAft>
              <a:buFont typeface="Wingdings" panose="05000000000000000000" pitchFamily="2" charset="2"/>
              <a:buChar char="q"/>
              <a:tabLst>
                <a:tab pos="346075" algn="l"/>
              </a:tabLst>
            </a:pPr>
            <a:r>
              <a:rPr lang="en-GB" sz="2400" dirty="0" smtClean="0">
                <a:solidFill>
                  <a:schemeClr val="tx1">
                    <a:lumMod val="75000"/>
                    <a:lumOff val="25000"/>
                  </a:schemeClr>
                </a:solidFill>
                <a:cs typeface="Arial" panose="020B0604020202020204" pitchFamily="34" charset="0"/>
              </a:rPr>
              <a:t>Nginx </a:t>
            </a:r>
            <a:r>
              <a:rPr lang="en-GB" sz="2400" dirty="0">
                <a:solidFill>
                  <a:schemeClr val="tx1">
                    <a:lumMod val="75000"/>
                    <a:lumOff val="25000"/>
                  </a:schemeClr>
                </a:solidFill>
                <a:cs typeface="Arial" panose="020B0604020202020204" pitchFamily="34" charset="0"/>
              </a:rPr>
              <a:t>is a web server. It can act as a reverse proxy server for TCP, UDP, HTTP, HTTPS, SMTP, POP3, and IMAP protocols, as well as a load balancer and an HTTP cache</a:t>
            </a:r>
            <a:r>
              <a:rPr lang="en-GB" sz="2400" dirty="0" smtClean="0">
                <a:solidFill>
                  <a:schemeClr val="tx1">
                    <a:lumMod val="75000"/>
                    <a:lumOff val="25000"/>
                  </a:schemeClr>
                </a:solidFill>
                <a:cs typeface="Arial" panose="020B0604020202020204" pitchFamily="34" charset="0"/>
              </a:rPr>
              <a:t>.</a:t>
            </a:r>
          </a:p>
          <a:p>
            <a:pPr marL="342900" indent="-342900">
              <a:spcBef>
                <a:spcPts val="0"/>
              </a:spcBef>
              <a:spcAft>
                <a:spcPts val="600"/>
              </a:spcAft>
              <a:buFont typeface="Wingdings" panose="05000000000000000000" pitchFamily="2" charset="2"/>
              <a:buChar char="q"/>
              <a:tabLst>
                <a:tab pos="346075" algn="l"/>
              </a:tabLst>
            </a:pPr>
            <a:r>
              <a:rPr lang="en-GB" sz="2400" dirty="0" err="1"/>
              <a:t>XRootD</a:t>
            </a:r>
            <a:r>
              <a:rPr lang="en-GB" sz="2400" dirty="0"/>
              <a:t> software framework is a fully generic suite for fast, low latency and scalable data access, which can serve natively any kind of data, organized as a hierarchical filesystem-like namespace, based on the concept of directory</a:t>
            </a:r>
            <a:r>
              <a:rPr lang="en-GB" sz="2400" dirty="0" smtClean="0"/>
              <a:t>.</a:t>
            </a:r>
          </a:p>
          <a:p>
            <a:pPr marL="342900" indent="-342900">
              <a:spcBef>
                <a:spcPts val="0"/>
              </a:spcBef>
              <a:spcAft>
                <a:spcPts val="600"/>
              </a:spcAft>
              <a:buFont typeface="Wingdings" panose="05000000000000000000" pitchFamily="2" charset="2"/>
              <a:buChar char="q"/>
              <a:tabLst>
                <a:tab pos="346075" algn="l"/>
              </a:tabLst>
            </a:pPr>
            <a:r>
              <a:rPr lang="en-GB" sz="2400" dirty="0" smtClean="0"/>
              <a:t>FDT </a:t>
            </a:r>
            <a:r>
              <a:rPr lang="en-GB" sz="2400" dirty="0"/>
              <a:t>is an Application for Efficient Data Transfers which is capable of reading and writing at disk speed over wide area networks (with standard TCP). It is written in Java, runs an all major platforms and it is easy to use.</a:t>
            </a:r>
            <a:endParaRPr lang="en-GB" sz="2400" dirty="0">
              <a:solidFill>
                <a:schemeClr val="tx1">
                  <a:lumMod val="75000"/>
                  <a:lumOff val="25000"/>
                </a:schemeClr>
              </a:solidFill>
              <a:cs typeface="Arial" panose="020B0604020202020204" pitchFamily="34" charset="0"/>
            </a:endParaRPr>
          </a:p>
        </p:txBody>
      </p:sp>
      <p:pic>
        <p:nvPicPr>
          <p:cNvPr id="12" name="Content Placeholder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0856" y="0"/>
            <a:ext cx="1984892" cy="852236"/>
          </a:xfrm>
          <a:prstGeom prst="rect">
            <a:avLst/>
          </a:prstGeom>
        </p:spPr>
      </p:pic>
      <p:pic>
        <p:nvPicPr>
          <p:cNvPr id="13" name="Picture 2" descr="Image result for cms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68864" y="16583"/>
            <a:ext cx="855709" cy="85570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r>
              <a:rPr lang="en-US" smtClean="0"/>
              <a:t>13/10/2016</a:t>
            </a:r>
            <a:endParaRPr lang="en-GB"/>
          </a:p>
        </p:txBody>
      </p:sp>
      <p:sp>
        <p:nvSpPr>
          <p:cNvPr id="7" name="Footer Placeholder 6"/>
          <p:cNvSpPr>
            <a:spLocks noGrp="1"/>
          </p:cNvSpPr>
          <p:nvPr>
            <p:ph type="ftr" sz="quarter" idx="11"/>
          </p:nvPr>
        </p:nvSpPr>
        <p:spPr/>
        <p:txBody>
          <a:bodyPr/>
          <a:lstStyle/>
          <a:p>
            <a:r>
              <a:rPr lang="en-GB" smtClean="0"/>
              <a:t>Jean-Roch Vlimant &amp; Justas Balcas</a:t>
            </a:r>
            <a:endParaRPr lang="en-GB"/>
          </a:p>
        </p:txBody>
      </p:sp>
      <p:sp>
        <p:nvSpPr>
          <p:cNvPr id="8" name="Slide Number Placeholder 7"/>
          <p:cNvSpPr>
            <a:spLocks noGrp="1"/>
          </p:cNvSpPr>
          <p:nvPr>
            <p:ph type="sldNum" sz="quarter" idx="12"/>
          </p:nvPr>
        </p:nvSpPr>
        <p:spPr/>
        <p:txBody>
          <a:bodyPr/>
          <a:lstStyle/>
          <a:p>
            <a:fld id="{F16C04A8-3194-4548-96B6-07828A9153A5}" type="slidenum">
              <a:rPr lang="en-GB" smtClean="0"/>
              <a:t>21</a:t>
            </a:fld>
            <a:endParaRPr lang="en-GB"/>
          </a:p>
        </p:txBody>
      </p:sp>
    </p:spTree>
    <p:extLst>
      <p:ext uri="{BB962C8B-B14F-4D97-AF65-F5344CB8AC3E}">
        <p14:creationId xmlns:p14="http://schemas.microsoft.com/office/powerpoint/2010/main" val="10850601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37233</TotalTime>
  <Words>2112</Words>
  <Application>Microsoft Office PowerPoint</Application>
  <PresentationFormat>Widescreen</PresentationFormat>
  <Paragraphs>732</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Wingdings</vt:lpstr>
      <vt:lpstr>Office Theme</vt:lpstr>
      <vt:lpstr>PowerPoint Presentation</vt:lpstr>
      <vt:lpstr>Motivations and Goals</vt:lpstr>
      <vt:lpstr>Any Data, Any Time, Anywhere</vt:lpstr>
      <vt:lpstr>HTTP Data Federation Project in CMS (Operational)</vt:lpstr>
      <vt:lpstr>HTTP Data Federation Project in CMS (Software)</vt:lpstr>
      <vt:lpstr>HTTP Data Federation Project in CMS (Knowledge)</vt:lpstr>
      <vt:lpstr>Testbed Setup (Based at Caltech)</vt:lpstr>
      <vt:lpstr>Tesbed environment performance</vt:lpstr>
      <vt:lpstr>Transfer test: xrdcp vs curl vs fdt (Mbytes/s)</vt:lpstr>
      <vt:lpstr>Compare CMSSW caching types (Mbytes/s)</vt:lpstr>
      <vt:lpstr>Application caching (Mbytes/s)</vt:lpstr>
      <vt:lpstr>Lazy download caching (Mbytes/s)</vt:lpstr>
      <vt:lpstr>Summary</vt:lpstr>
      <vt:lpstr>Outlook</vt:lpstr>
      <vt:lpstr>PowerPoint Presentation</vt:lpstr>
      <vt:lpstr>PowerPoint Presentation</vt:lpstr>
      <vt:lpstr>Comparing xrdcp vs curl vs fdt (Mbytes/s)</vt:lpstr>
      <vt:lpstr>Storage caching (Mbytes/s)</vt:lpstr>
      <vt:lpstr>Overall Results (Average read time in seconds)</vt:lpstr>
      <vt:lpstr>CMSSW caching hints</vt:lpstr>
      <vt:lpstr>Software used in tests </vt:lpstr>
    </vt:vector>
  </TitlesOfParts>
  <Company>Caltech</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Justas Balcas</dc:creator>
  <cp:lastModifiedBy>Justas Balcas</cp:lastModifiedBy>
  <cp:revision>138</cp:revision>
  <dcterms:created xsi:type="dcterms:W3CDTF">2016-06-03T07:22:16Z</dcterms:created>
  <dcterms:modified xsi:type="dcterms:W3CDTF">2016-10-12T17:13:34Z</dcterms:modified>
</cp:coreProperties>
</file>